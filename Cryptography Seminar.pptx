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7" r:id="rId2"/>
    <p:sldId id="256" r:id="rId3"/>
    <p:sldId id="278" r:id="rId4"/>
    <p:sldId id="279" r:id="rId5"/>
    <p:sldId id="258" r:id="rId6"/>
    <p:sldId id="259" r:id="rId7"/>
    <p:sldId id="261" r:id="rId8"/>
    <p:sldId id="262" r:id="rId9"/>
    <p:sldId id="263" r:id="rId10"/>
    <p:sldId id="264" r:id="rId11"/>
    <p:sldId id="265" r:id="rId12"/>
    <p:sldId id="266" r:id="rId13"/>
    <p:sldId id="267" r:id="rId14"/>
    <p:sldId id="268" r:id="rId15"/>
    <p:sldId id="275" r:id="rId16"/>
    <p:sldId id="276" r:id="rId17"/>
    <p:sldId id="277" r:id="rId18"/>
    <p:sldId id="281" r:id="rId19"/>
    <p:sldId id="273" r:id="rId20"/>
    <p:sldId id="282" r:id="rId21"/>
    <p:sldId id="283" r:id="rId22"/>
    <p:sldId id="284" r:id="rId23"/>
    <p:sldId id="285" r:id="rId24"/>
    <p:sldId id="286" r:id="rId25"/>
    <p:sldId id="288" r:id="rId26"/>
    <p:sldId id="290" r:id="rId27"/>
    <p:sldId id="292" r:id="rId28"/>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57" autoAdjust="0"/>
    <p:restoredTop sz="84277" autoAdjust="0"/>
  </p:normalViewPr>
  <p:slideViewPr>
    <p:cSldViewPr snapToGrid="0">
      <p:cViewPr>
        <p:scale>
          <a:sx n="100" d="100"/>
          <a:sy n="100" d="100"/>
        </p:scale>
        <p:origin x="140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082D7D-BBB2-4448-A08E-F31EEBACB327}" type="datetimeFigureOut">
              <a:rPr lang="en-US" smtClean="0"/>
              <a:t>11/15/2025</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1EE0A3-56F2-46C6-9190-1724CC0A6FEC}" type="slidenum">
              <a:rPr lang="en-US" smtClean="0"/>
              <a:t>‹#›</a:t>
            </a:fld>
            <a:endParaRPr lang="en-US"/>
          </a:p>
        </p:txBody>
      </p:sp>
    </p:spTree>
    <p:extLst>
      <p:ext uri="{BB962C8B-B14F-4D97-AF65-F5344CB8AC3E}">
        <p14:creationId xmlns:p14="http://schemas.microsoft.com/office/powerpoint/2010/main" val="2262586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I would like to introduce basic term of cryptography.</a:t>
            </a:r>
          </a:p>
          <a:p>
            <a:r>
              <a:rPr lang="en-US"/>
              <a:t>To begin with, we will explore about Plaintext and Ciphertext.</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251EE0A3-56F2-46C6-9190-1724CC0A6FEC}" type="slidenum">
              <a:rPr lang="en-US" smtClean="0"/>
              <a:t>2</a:t>
            </a:fld>
            <a:endParaRPr lang="en-US"/>
          </a:p>
        </p:txBody>
      </p:sp>
    </p:spTree>
    <p:extLst>
      <p:ext uri="{BB962C8B-B14F-4D97-AF65-F5344CB8AC3E}">
        <p14:creationId xmlns:p14="http://schemas.microsoft.com/office/powerpoint/2010/main" val="1972467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1EE0A3-56F2-46C6-9190-1724CC0A6FEC}" type="slidenum">
              <a:rPr lang="en-US" smtClean="0"/>
              <a:t>10</a:t>
            </a:fld>
            <a:endParaRPr lang="en-US"/>
          </a:p>
        </p:txBody>
      </p:sp>
    </p:spTree>
    <p:extLst>
      <p:ext uri="{BB962C8B-B14F-4D97-AF65-F5344CB8AC3E}">
        <p14:creationId xmlns:p14="http://schemas.microsoft.com/office/powerpoint/2010/main" val="1053358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Mac NÀY KHÁC GÌ  MAC của bluetooth</a:t>
            </a:r>
          </a:p>
        </p:txBody>
      </p:sp>
      <p:sp>
        <p:nvSpPr>
          <p:cNvPr id="4" name="Slide Number Placeholder 3"/>
          <p:cNvSpPr>
            <a:spLocks noGrp="1"/>
          </p:cNvSpPr>
          <p:nvPr>
            <p:ph type="sldNum" sz="quarter" idx="5"/>
          </p:nvPr>
        </p:nvSpPr>
        <p:spPr/>
        <p:txBody>
          <a:bodyPr/>
          <a:lstStyle/>
          <a:p>
            <a:fld id="{251EE0A3-56F2-46C6-9190-1724CC0A6FEC}" type="slidenum">
              <a:rPr lang="en-US" smtClean="0"/>
              <a:t>13</a:t>
            </a:fld>
            <a:endParaRPr lang="en-US"/>
          </a:p>
        </p:txBody>
      </p:sp>
    </p:spTree>
    <p:extLst>
      <p:ext uri="{BB962C8B-B14F-4D97-AF65-F5344CB8AC3E}">
        <p14:creationId xmlns:p14="http://schemas.microsoft.com/office/powerpoint/2010/main" val="403559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직사각형 5">
            <a:extLst>
              <a:ext uri="{FF2B5EF4-FFF2-40B4-BE49-F238E27FC236}">
                <a16:creationId xmlns:a16="http://schemas.microsoft.com/office/drawing/2014/main" id="{1A295AEE-EE06-46C4-B470-E0CFFA95941C}"/>
              </a:ext>
            </a:extLst>
          </p:cNvPr>
          <p:cNvSpPr/>
          <p:nvPr userDrawn="1"/>
        </p:nvSpPr>
        <p:spPr>
          <a:xfrm>
            <a:off x="126178" y="0"/>
            <a:ext cx="9779821" cy="5334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pPr>
            <a:endParaRPr kumimoji="1" lang="ko-KR" altLang="en-US" sz="900" b="1" dirty="0">
              <a:solidFill>
                <a:prstClr val="white"/>
              </a:solidFill>
              <a:latin typeface="Arial Narrow" panose="020B0606020202030204" pitchFamily="34" charset="0"/>
              <a:ea typeface="LG스마트체 Bold" panose="020B0600000101010101" pitchFamily="50" charset="-127"/>
            </a:endParaRPr>
          </a:p>
        </p:txBody>
      </p:sp>
      <p:sp>
        <p:nvSpPr>
          <p:cNvPr id="13" name="직사각형 11">
            <a:extLst>
              <a:ext uri="{FF2B5EF4-FFF2-40B4-BE49-F238E27FC236}">
                <a16:creationId xmlns:a16="http://schemas.microsoft.com/office/drawing/2014/main" id="{26AE3073-4653-4145-A220-B4279C614F13}"/>
              </a:ext>
            </a:extLst>
          </p:cNvPr>
          <p:cNvSpPr/>
          <p:nvPr userDrawn="1"/>
        </p:nvSpPr>
        <p:spPr>
          <a:xfrm>
            <a:off x="-8622" y="0"/>
            <a:ext cx="156575" cy="533400"/>
          </a:xfrm>
          <a:prstGeom prst="rect">
            <a:avLst/>
          </a:prstGeom>
          <a:solidFill>
            <a:srgbClr val="AD1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kumimoji="1" lang="ko-KR" altLang="en-US" sz="900" b="1" dirty="0">
              <a:solidFill>
                <a:prstClr val="white"/>
              </a:solidFill>
            </a:endParaRPr>
          </a:p>
        </p:txBody>
      </p:sp>
      <p:sp>
        <p:nvSpPr>
          <p:cNvPr id="14" name="직사각형 12">
            <a:extLst>
              <a:ext uri="{FF2B5EF4-FFF2-40B4-BE49-F238E27FC236}">
                <a16:creationId xmlns:a16="http://schemas.microsoft.com/office/drawing/2014/main" id="{1F1F31A4-212C-4DCC-8417-CB127E116EE2}"/>
              </a:ext>
            </a:extLst>
          </p:cNvPr>
          <p:cNvSpPr/>
          <p:nvPr userDrawn="1"/>
        </p:nvSpPr>
        <p:spPr>
          <a:xfrm flipV="1">
            <a:off x="147951" y="-3"/>
            <a:ext cx="2366649" cy="76202"/>
          </a:xfrm>
          <a:prstGeom prst="rect">
            <a:avLst/>
          </a:prstGeom>
          <a:solidFill>
            <a:srgbClr val="AD1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kumimoji="1" lang="ko-KR" altLang="en-US" sz="900" b="1" dirty="0">
              <a:solidFill>
                <a:prstClr val="white"/>
              </a:solidFill>
            </a:endParaRPr>
          </a:p>
        </p:txBody>
      </p:sp>
      <p:sp>
        <p:nvSpPr>
          <p:cNvPr id="15" name="제목 1">
            <a:extLst>
              <a:ext uri="{FF2B5EF4-FFF2-40B4-BE49-F238E27FC236}">
                <a16:creationId xmlns:a16="http://schemas.microsoft.com/office/drawing/2014/main" id="{B88E2A81-FFEE-400E-A0FB-80E544A755D2}"/>
              </a:ext>
            </a:extLst>
          </p:cNvPr>
          <p:cNvSpPr txBox="1">
            <a:spLocks/>
          </p:cNvSpPr>
          <p:nvPr userDrawn="1"/>
        </p:nvSpPr>
        <p:spPr>
          <a:xfrm>
            <a:off x="7327722" y="76199"/>
            <a:ext cx="2564671" cy="457201"/>
          </a:xfrm>
          <a:prstGeom prst="rect">
            <a:avLst/>
          </a:prstGeom>
        </p:spPr>
        <p:txBody>
          <a:bodyPr/>
          <a:lstStyle>
            <a:lvl1pPr algn="l" defTabSz="914400" rtl="0" eaLnBrk="1" latinLnBrk="1" hangingPunct="1">
              <a:spcBef>
                <a:spcPct val="0"/>
              </a:spcBef>
              <a:buNone/>
              <a:defRPr sz="2000" b="1" kern="1200">
                <a:solidFill>
                  <a:schemeClr val="tx1"/>
                </a:solidFill>
                <a:latin typeface="LG스마트체 SemiBold" panose="020B0600000101010101" pitchFamily="50" charset="-127"/>
                <a:ea typeface="LG스마트체 SemiBold" panose="020B0600000101010101" pitchFamily="50" charset="-127"/>
                <a:cs typeface="+mj-cs"/>
              </a:defRPr>
            </a:lvl1pPr>
          </a:lstStyle>
          <a:p>
            <a:pPr algn="r" fontAlgn="base">
              <a:spcAft>
                <a:spcPct val="0"/>
              </a:spcAft>
            </a:pPr>
            <a:endParaRPr kumimoji="1" lang="ko-KR" altLang="en-US" sz="1800" b="0" dirty="0">
              <a:solidFill>
                <a:prstClr val="white"/>
              </a:solidFill>
            </a:endParaRPr>
          </a:p>
        </p:txBody>
      </p:sp>
      <p:sp>
        <p:nvSpPr>
          <p:cNvPr id="16" name="제목 1">
            <a:extLst>
              <a:ext uri="{FF2B5EF4-FFF2-40B4-BE49-F238E27FC236}">
                <a16:creationId xmlns:a16="http://schemas.microsoft.com/office/drawing/2014/main" id="{178C9D9A-30F7-4B8F-8DC0-1799F04972CF}"/>
              </a:ext>
            </a:extLst>
          </p:cNvPr>
          <p:cNvSpPr txBox="1">
            <a:spLocks/>
          </p:cNvSpPr>
          <p:nvPr userDrawn="1"/>
        </p:nvSpPr>
        <p:spPr>
          <a:xfrm>
            <a:off x="5668734" y="59867"/>
            <a:ext cx="4119249" cy="457201"/>
          </a:xfrm>
          <a:prstGeom prst="rect">
            <a:avLst/>
          </a:prstGeom>
        </p:spPr>
        <p:txBody>
          <a:bodyPr/>
          <a:lstStyle>
            <a:lvl1pPr algn="l" defTabSz="914400" rtl="0" eaLnBrk="1" latinLnBrk="1" hangingPunct="1">
              <a:spcBef>
                <a:spcPct val="0"/>
              </a:spcBef>
              <a:buNone/>
              <a:defRPr sz="2000" b="0" kern="1200">
                <a:solidFill>
                  <a:schemeClr val="bg1"/>
                </a:solidFill>
                <a:latin typeface="LG스마트체 SemiBold" panose="020B0600000101010101" pitchFamily="50" charset="-127"/>
                <a:ea typeface="LG스마트체 SemiBold" panose="020B0600000101010101" pitchFamily="50" charset="-127"/>
                <a:cs typeface="+mj-cs"/>
              </a:defRPr>
            </a:lvl1pPr>
          </a:lstStyle>
          <a:p>
            <a:pPr algn="r" fontAlgn="base">
              <a:spcAft>
                <a:spcPct val="0"/>
              </a:spcAft>
            </a:pPr>
            <a:endParaRPr kumimoji="1" lang="ko-KR" altLang="en-US" dirty="0">
              <a:solidFill>
                <a:prstClr val="white"/>
              </a:solidFill>
            </a:endParaRPr>
          </a:p>
        </p:txBody>
      </p:sp>
      <p:sp>
        <p:nvSpPr>
          <p:cNvPr id="18" name="텍스트 개체 틀 24">
            <a:extLst>
              <a:ext uri="{FF2B5EF4-FFF2-40B4-BE49-F238E27FC236}">
                <a16:creationId xmlns:a16="http://schemas.microsoft.com/office/drawing/2014/main" id="{1E38A4C6-F622-4310-8811-7305979AFF82}"/>
              </a:ext>
            </a:extLst>
          </p:cNvPr>
          <p:cNvSpPr>
            <a:spLocks noGrp="1"/>
          </p:cNvSpPr>
          <p:nvPr>
            <p:ph type="body" sz="quarter" idx="11" hasCustomPrompt="1"/>
          </p:nvPr>
        </p:nvSpPr>
        <p:spPr>
          <a:xfrm>
            <a:off x="156978" y="97967"/>
            <a:ext cx="5503591" cy="381000"/>
          </a:xfrm>
          <a:prstGeom prst="rect">
            <a:avLst/>
          </a:prstGeom>
        </p:spPr>
        <p:txBody>
          <a:bodyPr/>
          <a:lstStyle>
            <a:lvl1pPr marL="0" indent="0">
              <a:buNone/>
              <a:defRPr sz="2400">
                <a:solidFill>
                  <a:schemeClr val="bg1"/>
                </a:solidFill>
                <a:latin typeface="Arial Narrow" panose="020B0606020202030204" pitchFamily="34" charset="0"/>
                <a:ea typeface="LG스마트체2.0 Bold" panose="020B0600000101010101" pitchFamily="50" charset="-127"/>
              </a:defRPr>
            </a:lvl1pPr>
          </a:lstStyle>
          <a:p>
            <a:pPr lvl="0"/>
            <a:r>
              <a:rPr lang="ko-KR" altLang="en-US" dirty="0"/>
              <a:t>Text</a:t>
            </a:r>
          </a:p>
        </p:txBody>
      </p:sp>
      <p:sp>
        <p:nvSpPr>
          <p:cNvPr id="19" name="텍스트 개체 틀 26">
            <a:extLst>
              <a:ext uri="{FF2B5EF4-FFF2-40B4-BE49-F238E27FC236}">
                <a16:creationId xmlns:a16="http://schemas.microsoft.com/office/drawing/2014/main" id="{A832F57E-A5DA-46BB-A5E7-128EA8C449F6}"/>
              </a:ext>
            </a:extLst>
          </p:cNvPr>
          <p:cNvSpPr>
            <a:spLocks noGrp="1"/>
          </p:cNvSpPr>
          <p:nvPr>
            <p:ph type="body" sz="quarter" idx="12"/>
          </p:nvPr>
        </p:nvSpPr>
        <p:spPr>
          <a:xfrm>
            <a:off x="156978" y="764704"/>
            <a:ext cx="9393879" cy="318177"/>
          </a:xfrm>
          <a:prstGeom prst="rect">
            <a:avLst/>
          </a:prstGeom>
        </p:spPr>
        <p:txBody>
          <a:bodyPr/>
          <a:lstStyle>
            <a:lvl1pPr marL="288000" indent="-288000">
              <a:buFont typeface="Wingdings" panose="05000000000000000000" pitchFamily="2" charset="2"/>
              <a:buChar char="Ø"/>
              <a:defRPr sz="1600">
                <a:latin typeface="Arial Narrow" panose="020B0606020202030204" pitchFamily="34" charset="0"/>
                <a:ea typeface="LG스마트체 SemiBold" panose="020B0600000101010101" pitchFamily="50" charset="-127"/>
              </a:defRPr>
            </a:lvl1pPr>
          </a:lstStyle>
          <a:p>
            <a:pPr lvl="0"/>
            <a:endParaRPr/>
          </a:p>
        </p:txBody>
      </p:sp>
    </p:spTree>
    <p:extLst>
      <p:ext uri="{BB962C8B-B14F-4D97-AF65-F5344CB8AC3E}">
        <p14:creationId xmlns:p14="http://schemas.microsoft.com/office/powerpoint/2010/main" val="9812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88BB8921-C5E3-4259-B004-D7BE34F10F52}" type="datetimeFigureOut">
              <a:rPr lang="en-US" smtClean="0"/>
              <a:t>11/15/2025</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8F0F3FB4-03CD-46E4-82B4-9BBA3CFA1191}" type="slidenum">
              <a:rPr lang="en-US" smtClean="0"/>
              <a:t>‹#›</a:t>
            </a:fld>
            <a:endParaRPr lang="en-US"/>
          </a:p>
        </p:txBody>
      </p:sp>
    </p:spTree>
    <p:extLst>
      <p:ext uri="{BB962C8B-B14F-4D97-AF65-F5344CB8AC3E}">
        <p14:creationId xmlns:p14="http://schemas.microsoft.com/office/powerpoint/2010/main" val="2410588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1926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81038" y="6356352"/>
            <a:ext cx="2228850" cy="365125"/>
          </a:xfrm>
          <a:prstGeom prst="rect">
            <a:avLst/>
          </a:prstGeom>
        </p:spPr>
        <p:txBody>
          <a:bodyPr/>
          <a:lstStyle/>
          <a:p>
            <a:fld id="{88BB8921-C5E3-4259-B004-D7BE34F10F52}" type="datetimeFigureOut">
              <a:rPr lang="en-US" smtClean="0"/>
              <a:t>11/15/2025</a:t>
            </a:fld>
            <a:endParaRPr lang="en-US"/>
          </a:p>
        </p:txBody>
      </p:sp>
      <p:sp>
        <p:nvSpPr>
          <p:cNvPr id="6" name="Footer Placeholder 5"/>
          <p:cNvSpPr>
            <a:spLocks noGrp="1"/>
          </p:cNvSpPr>
          <p:nvPr>
            <p:ph type="ftr" sz="quarter" idx="11"/>
          </p:nvPr>
        </p:nvSpPr>
        <p:spPr>
          <a:xfrm>
            <a:off x="3281363" y="6356352"/>
            <a:ext cx="3343275"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996113" y="6356352"/>
            <a:ext cx="2228850" cy="365125"/>
          </a:xfrm>
          <a:prstGeom prst="rect">
            <a:avLst/>
          </a:prstGeom>
        </p:spPr>
        <p:txBody>
          <a:bodyPr/>
          <a:lstStyle/>
          <a:p>
            <a:fld id="{8F0F3FB4-03CD-46E4-82B4-9BBA3CFA1191}" type="slidenum">
              <a:rPr lang="en-US" smtClean="0"/>
              <a:t>‹#›</a:t>
            </a:fld>
            <a:endParaRPr lang="en-US"/>
          </a:p>
        </p:txBody>
      </p:sp>
    </p:spTree>
    <p:extLst>
      <p:ext uri="{BB962C8B-B14F-4D97-AF65-F5344CB8AC3E}">
        <p14:creationId xmlns:p14="http://schemas.microsoft.com/office/powerpoint/2010/main" val="2182843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81038" y="6356352"/>
            <a:ext cx="2228850" cy="365125"/>
          </a:xfrm>
          <a:prstGeom prst="rect">
            <a:avLst/>
          </a:prstGeom>
        </p:spPr>
        <p:txBody>
          <a:bodyPr/>
          <a:lstStyle/>
          <a:p>
            <a:fld id="{88BB8921-C5E3-4259-B004-D7BE34F10F52}" type="datetimeFigureOut">
              <a:rPr lang="en-US" smtClean="0"/>
              <a:t>11/15/2025</a:t>
            </a:fld>
            <a:endParaRPr lang="en-US"/>
          </a:p>
        </p:txBody>
      </p:sp>
      <p:sp>
        <p:nvSpPr>
          <p:cNvPr id="8" name="Footer Placeholder 7"/>
          <p:cNvSpPr>
            <a:spLocks noGrp="1"/>
          </p:cNvSpPr>
          <p:nvPr>
            <p:ph type="ftr" sz="quarter" idx="11"/>
          </p:nvPr>
        </p:nvSpPr>
        <p:spPr>
          <a:xfrm>
            <a:off x="3281363" y="6356352"/>
            <a:ext cx="3343275"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996113" y="6356352"/>
            <a:ext cx="2228850" cy="365125"/>
          </a:xfrm>
          <a:prstGeom prst="rect">
            <a:avLst/>
          </a:prstGeom>
        </p:spPr>
        <p:txBody>
          <a:bodyPr/>
          <a:lstStyle/>
          <a:p>
            <a:fld id="{8F0F3FB4-03CD-46E4-82B4-9BBA3CFA1191}" type="slidenum">
              <a:rPr lang="en-US" smtClean="0"/>
              <a:t>‹#›</a:t>
            </a:fld>
            <a:endParaRPr lang="en-US"/>
          </a:p>
        </p:txBody>
      </p:sp>
    </p:spTree>
    <p:extLst>
      <p:ext uri="{BB962C8B-B14F-4D97-AF65-F5344CB8AC3E}">
        <p14:creationId xmlns:p14="http://schemas.microsoft.com/office/powerpoint/2010/main" val="1166373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81038" y="6356352"/>
            <a:ext cx="2228850" cy="365125"/>
          </a:xfrm>
          <a:prstGeom prst="rect">
            <a:avLst/>
          </a:prstGeom>
        </p:spPr>
        <p:txBody>
          <a:bodyPr/>
          <a:lstStyle/>
          <a:p>
            <a:fld id="{88BB8921-C5E3-4259-B004-D7BE34F10F52}" type="datetimeFigureOut">
              <a:rPr lang="en-US" smtClean="0"/>
              <a:t>11/15/2025</a:t>
            </a:fld>
            <a:endParaRPr lang="en-US"/>
          </a:p>
        </p:txBody>
      </p:sp>
      <p:sp>
        <p:nvSpPr>
          <p:cNvPr id="6" name="Footer Placeholder 5"/>
          <p:cNvSpPr>
            <a:spLocks noGrp="1"/>
          </p:cNvSpPr>
          <p:nvPr>
            <p:ph type="ftr" sz="quarter" idx="11"/>
          </p:nvPr>
        </p:nvSpPr>
        <p:spPr>
          <a:xfrm>
            <a:off x="3281363" y="6356352"/>
            <a:ext cx="3343275"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996113" y="6356352"/>
            <a:ext cx="2228850" cy="365125"/>
          </a:xfrm>
          <a:prstGeom prst="rect">
            <a:avLst/>
          </a:prstGeom>
        </p:spPr>
        <p:txBody>
          <a:bodyPr/>
          <a:lstStyle/>
          <a:p>
            <a:fld id="{8F0F3FB4-03CD-46E4-82B4-9BBA3CFA1191}" type="slidenum">
              <a:rPr lang="en-US" smtClean="0"/>
              <a:t>‹#›</a:t>
            </a:fld>
            <a:endParaRPr lang="en-US"/>
          </a:p>
        </p:txBody>
      </p:sp>
    </p:spTree>
    <p:extLst>
      <p:ext uri="{BB962C8B-B14F-4D97-AF65-F5344CB8AC3E}">
        <p14:creationId xmlns:p14="http://schemas.microsoft.com/office/powerpoint/2010/main" val="291326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81038" y="6356352"/>
            <a:ext cx="2228850" cy="365125"/>
          </a:xfrm>
          <a:prstGeom prst="rect">
            <a:avLst/>
          </a:prstGeom>
        </p:spPr>
        <p:txBody>
          <a:bodyPr/>
          <a:lstStyle/>
          <a:p>
            <a:fld id="{88BB8921-C5E3-4259-B004-D7BE34F10F52}" type="datetimeFigureOut">
              <a:rPr lang="en-US" smtClean="0"/>
              <a:t>11/15/2025</a:t>
            </a:fld>
            <a:endParaRPr lang="en-US"/>
          </a:p>
        </p:txBody>
      </p:sp>
      <p:sp>
        <p:nvSpPr>
          <p:cNvPr id="6" name="Footer Placeholder 5"/>
          <p:cNvSpPr>
            <a:spLocks noGrp="1"/>
          </p:cNvSpPr>
          <p:nvPr>
            <p:ph type="ftr" sz="quarter" idx="11"/>
          </p:nvPr>
        </p:nvSpPr>
        <p:spPr>
          <a:xfrm>
            <a:off x="3281363" y="6356352"/>
            <a:ext cx="3343275"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996113" y="6356352"/>
            <a:ext cx="2228850" cy="365125"/>
          </a:xfrm>
          <a:prstGeom prst="rect">
            <a:avLst/>
          </a:prstGeom>
        </p:spPr>
        <p:txBody>
          <a:bodyPr/>
          <a:lstStyle/>
          <a:p>
            <a:fld id="{8F0F3FB4-03CD-46E4-82B4-9BBA3CFA1191}" type="slidenum">
              <a:rPr lang="en-US" smtClean="0"/>
              <a:t>‹#›</a:t>
            </a:fld>
            <a:endParaRPr lang="en-US"/>
          </a:p>
        </p:txBody>
      </p:sp>
    </p:spTree>
    <p:extLst>
      <p:ext uri="{BB962C8B-B14F-4D97-AF65-F5344CB8AC3E}">
        <p14:creationId xmlns:p14="http://schemas.microsoft.com/office/powerpoint/2010/main" val="236018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1038" y="1825625"/>
            <a:ext cx="8543925"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88BB8921-C5E3-4259-B004-D7BE34F10F52}" type="datetimeFigureOut">
              <a:rPr lang="en-US" smtClean="0"/>
              <a:t>11/15/2025</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8F0F3FB4-03CD-46E4-82B4-9BBA3CFA1191}" type="slidenum">
              <a:rPr lang="en-US" smtClean="0"/>
              <a:t>‹#›</a:t>
            </a:fld>
            <a:endParaRPr lang="en-US"/>
          </a:p>
        </p:txBody>
      </p:sp>
    </p:spTree>
    <p:extLst>
      <p:ext uri="{BB962C8B-B14F-4D97-AF65-F5344CB8AC3E}">
        <p14:creationId xmlns:p14="http://schemas.microsoft.com/office/powerpoint/2010/main" val="331301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88BB8921-C5E3-4259-B004-D7BE34F10F52}" type="datetimeFigureOut">
              <a:rPr lang="en-US" smtClean="0"/>
              <a:t>11/15/2025</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8F0F3FB4-03CD-46E4-82B4-9BBA3CFA1191}" type="slidenum">
              <a:rPr lang="en-US" smtClean="0"/>
              <a:t>‹#›</a:t>
            </a:fld>
            <a:endParaRPr lang="en-US"/>
          </a:p>
        </p:txBody>
      </p:sp>
    </p:spTree>
    <p:extLst>
      <p:ext uri="{BB962C8B-B14F-4D97-AF65-F5344CB8AC3E}">
        <p14:creationId xmlns:p14="http://schemas.microsoft.com/office/powerpoint/2010/main" val="551781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892251"/>
            <a:ext cx="8543925" cy="1325563"/>
          </a:xfrm>
          <a:prstGeom prst="rect">
            <a:avLst/>
          </a:prstGeom>
        </p:spPr>
        <p:txBody>
          <a:bodyPr vert="horz" lIns="91440" tIns="45720" rIns="91440" bIns="45720" rtlCol="0" anchor="ctr">
            <a:normAutofit/>
          </a:bodyPr>
          <a:lstStyle/>
          <a:p>
            <a:r>
              <a:rPr lang="en-US" dirty="0"/>
              <a:t>Click to edit Master title style</a:t>
            </a:r>
          </a:p>
        </p:txBody>
      </p:sp>
      <p:pic>
        <p:nvPicPr>
          <p:cNvPr id="7" name="Picture 6"/>
          <p:cNvPicPr>
            <a:picLocks noChangeAspect="1"/>
          </p:cNvPicPr>
          <p:nvPr userDrawn="1"/>
        </p:nvPicPr>
        <p:blipFill>
          <a:blip r:embed="rId11"/>
          <a:stretch>
            <a:fillRect/>
          </a:stretch>
        </p:blipFill>
        <p:spPr>
          <a:xfrm>
            <a:off x="4215260" y="6478002"/>
            <a:ext cx="1475479" cy="283746"/>
          </a:xfrm>
          <a:prstGeom prst="rect">
            <a:avLst/>
          </a:prstGeom>
        </p:spPr>
      </p:pic>
      <p:pic>
        <p:nvPicPr>
          <p:cNvPr id="17" name="그림 1">
            <a:extLst>
              <a:ext uri="{FF2B5EF4-FFF2-40B4-BE49-F238E27FC236}">
                <a16:creationId xmlns:a16="http://schemas.microsoft.com/office/drawing/2014/main" id="{77585F4D-693F-4F98-A721-18CC5C17D75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272480" y="188640"/>
            <a:ext cx="9361040" cy="518205"/>
          </a:xfrm>
          <a:prstGeom prst="rect">
            <a:avLst/>
          </a:prstGeom>
        </p:spPr>
      </p:pic>
      <p:sp>
        <p:nvSpPr>
          <p:cNvPr id="18" name="제목 개체 틀 4">
            <a:extLst>
              <a:ext uri="{FF2B5EF4-FFF2-40B4-BE49-F238E27FC236}">
                <a16:creationId xmlns:a16="http://schemas.microsoft.com/office/drawing/2014/main" id="{A513589E-8DB6-497B-BB65-D52C7B02D13B}"/>
              </a:ext>
            </a:extLst>
          </p:cNvPr>
          <p:cNvSpPr txBox="1">
            <a:spLocks/>
          </p:cNvSpPr>
          <p:nvPr userDrawn="1"/>
        </p:nvSpPr>
        <p:spPr>
          <a:xfrm>
            <a:off x="344488" y="188640"/>
            <a:ext cx="6864250" cy="518204"/>
          </a:xfrm>
          <a:prstGeom prst="rect">
            <a:avLst/>
          </a:prstGeom>
        </p:spPr>
        <p:txBody>
          <a:bodyPr vert="horz" lIns="91440" tIns="45720" rIns="91440" bIns="45720" rtlCol="0" anchor="ctr">
            <a:normAutofit fontScale="85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ko-KR" altLang="en-US" dirty="0"/>
          </a:p>
        </p:txBody>
      </p:sp>
      <p:cxnSp>
        <p:nvCxnSpPr>
          <p:cNvPr id="19" name="직선 연결선 11">
            <a:extLst>
              <a:ext uri="{FF2B5EF4-FFF2-40B4-BE49-F238E27FC236}">
                <a16:creationId xmlns:a16="http://schemas.microsoft.com/office/drawing/2014/main" id="{F11BA24A-8326-4FE6-BF85-E32842A4F523}"/>
              </a:ext>
            </a:extLst>
          </p:cNvPr>
          <p:cNvCxnSpPr>
            <a:cxnSpLocks noChangeAspect="1"/>
          </p:cNvCxnSpPr>
          <p:nvPr userDrawn="1"/>
        </p:nvCxnSpPr>
        <p:spPr>
          <a:xfrm flipH="1">
            <a:off x="9485784" y="548244"/>
            <a:ext cx="93655" cy="108000"/>
          </a:xfrm>
          <a:prstGeom prst="line">
            <a:avLst/>
          </a:prstGeom>
          <a:ln>
            <a:solidFill>
              <a:srgbClr val="5B6872"/>
            </a:solidFill>
          </a:ln>
        </p:spPr>
        <p:style>
          <a:lnRef idx="1">
            <a:schemeClr val="accent1"/>
          </a:lnRef>
          <a:fillRef idx="0">
            <a:schemeClr val="accent1"/>
          </a:fillRef>
          <a:effectRef idx="0">
            <a:schemeClr val="accent1"/>
          </a:effectRef>
          <a:fontRef idx="minor">
            <a:schemeClr val="tx1"/>
          </a:fontRef>
        </p:style>
      </p:cxnSp>
      <p:cxnSp>
        <p:nvCxnSpPr>
          <p:cNvPr id="20" name="직선 연결선 17">
            <a:extLst>
              <a:ext uri="{FF2B5EF4-FFF2-40B4-BE49-F238E27FC236}">
                <a16:creationId xmlns:a16="http://schemas.microsoft.com/office/drawing/2014/main" id="{E649C40F-3214-4105-939A-5E7FD3C70004}"/>
              </a:ext>
            </a:extLst>
          </p:cNvPr>
          <p:cNvCxnSpPr>
            <a:cxnSpLocks noChangeAspect="1"/>
          </p:cNvCxnSpPr>
          <p:nvPr userDrawn="1"/>
        </p:nvCxnSpPr>
        <p:spPr>
          <a:xfrm flipH="1">
            <a:off x="9548748" y="510489"/>
            <a:ext cx="109264" cy="126000"/>
          </a:xfrm>
          <a:prstGeom prst="line">
            <a:avLst/>
          </a:prstGeom>
          <a:ln w="22225">
            <a:solidFill>
              <a:srgbClr val="BE044B"/>
            </a:solidFill>
          </a:ln>
        </p:spPr>
        <p:style>
          <a:lnRef idx="1">
            <a:schemeClr val="accent1"/>
          </a:lnRef>
          <a:fillRef idx="0">
            <a:schemeClr val="accent1"/>
          </a:fillRef>
          <a:effectRef idx="0">
            <a:schemeClr val="accent1"/>
          </a:effectRef>
          <a:fontRef idx="minor">
            <a:schemeClr val="tx1"/>
          </a:fontRef>
        </p:style>
      </p:cxnSp>
      <p:pic>
        <p:nvPicPr>
          <p:cNvPr id="9" name="Picture 1">
            <a:extLst>
              <a:ext uri="{FF2B5EF4-FFF2-40B4-BE49-F238E27FC236}">
                <a16:creationId xmlns:a16="http://schemas.microsoft.com/office/drawing/2014/main" id="{CC11A8B2-8223-4A2F-A09A-0365423D8E35}"/>
              </a:ext>
            </a:extLst>
          </p:cNvPr>
          <p:cNvPicPr>
            <a:picLocks noChangeAspect="1" noChangeArrowheads="1"/>
          </p:cNvPicPr>
          <p:nvPr userDrawn="1"/>
        </p:nvPicPr>
        <p:blipFill>
          <a:blip r:embed="rId13" cstate="print"/>
          <a:srcRect/>
          <a:stretch>
            <a:fillRect/>
          </a:stretch>
        </p:blipFill>
        <p:spPr bwMode="auto">
          <a:xfrm>
            <a:off x="9224962" y="6508004"/>
            <a:ext cx="681037" cy="349996"/>
          </a:xfrm>
          <a:prstGeom prst="rect">
            <a:avLst/>
          </a:prstGeom>
          <a:noFill/>
          <a:ln w="9525">
            <a:noFill/>
            <a:miter lim="800000"/>
            <a:headEnd/>
            <a:tailEnd/>
          </a:ln>
        </p:spPr>
      </p:pic>
    </p:spTree>
    <p:extLst>
      <p:ext uri="{BB962C8B-B14F-4D97-AF65-F5344CB8AC3E}">
        <p14:creationId xmlns:p14="http://schemas.microsoft.com/office/powerpoint/2010/main" val="1467892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8" r:id="rId6"/>
    <p:sldLayoutId id="2147483669" r:id="rId7"/>
    <p:sldLayoutId id="2147483670" r:id="rId8"/>
    <p:sldLayoutId id="2147483671" r:id="rId9"/>
  </p:sldLayoutIdLst>
  <p:txStyles>
    <p:titleStyle>
      <a:lvl1pPr algn="ctr" defTabSz="914400" rtl="0" eaLnBrk="1" latinLnBrk="0" hangingPunct="1">
        <a:lnSpc>
          <a:spcPct val="90000"/>
        </a:lnSpc>
        <a:spcBef>
          <a:spcPct val="0"/>
        </a:spcBef>
        <a:buNone/>
        <a:defRPr sz="4800" kern="1200">
          <a:solidFill>
            <a:schemeClr val="tx1"/>
          </a:solidFill>
          <a:latin typeface="Arial Narrow" panose="020B0606020202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2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2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2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2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2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 Target="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F51ED2-7194-4651-B407-1BCD65A94474}"/>
              </a:ext>
            </a:extLst>
          </p:cNvPr>
          <p:cNvSpPr txBox="1"/>
          <p:nvPr/>
        </p:nvSpPr>
        <p:spPr>
          <a:xfrm>
            <a:off x="1359702" y="2154985"/>
            <a:ext cx="7186583" cy="830997"/>
          </a:xfrm>
          <a:prstGeom prst="rect">
            <a:avLst/>
          </a:prstGeom>
          <a:noFill/>
        </p:spPr>
        <p:txBody>
          <a:bodyPr wrap="none" rtlCol="0">
            <a:spAutoFit/>
          </a:bodyPr>
          <a:lstStyle/>
          <a:p>
            <a:r>
              <a:rPr lang="en-US" sz="4800" b="1">
                <a:latin typeface="Arial Narrow" panose="020B0606020202030204" pitchFamily="34" charset="0"/>
              </a:rPr>
              <a:t>Cryptography Understanding</a:t>
            </a:r>
          </a:p>
        </p:txBody>
      </p:sp>
      <p:sp>
        <p:nvSpPr>
          <p:cNvPr id="3" name="TextBox 2">
            <a:extLst>
              <a:ext uri="{FF2B5EF4-FFF2-40B4-BE49-F238E27FC236}">
                <a16:creationId xmlns:a16="http://schemas.microsoft.com/office/drawing/2014/main" id="{58A2F284-4E9D-4D32-9F72-6709166870B4}"/>
              </a:ext>
            </a:extLst>
          </p:cNvPr>
          <p:cNvSpPr txBox="1"/>
          <p:nvPr/>
        </p:nvSpPr>
        <p:spPr>
          <a:xfrm>
            <a:off x="3666043" y="5557070"/>
            <a:ext cx="2573902" cy="725070"/>
          </a:xfrm>
          <a:prstGeom prst="rect">
            <a:avLst/>
          </a:prstGeom>
          <a:noFill/>
        </p:spPr>
        <p:txBody>
          <a:bodyPr wrap="square" rtlCol="0" anchor="t" anchorCtr="0">
            <a:spAutoFit/>
          </a:bodyPr>
          <a:lstStyle/>
          <a:p>
            <a:pPr algn="ctr" latinLnBrk="0">
              <a:lnSpc>
                <a:spcPct val="120000"/>
              </a:lnSpc>
              <a:buNone/>
              <a:tabLst>
                <a:tab pos="3767138" algn="l"/>
              </a:tabLst>
            </a:pPr>
            <a:r>
              <a:rPr lang="en-US" altLang="ko-KR" b="1">
                <a:latin typeface="Arial Narrow" pitchFamily="34" charset="0"/>
                <a:ea typeface="LG스마트체 Regular" pitchFamily="50" charset="-127"/>
              </a:rPr>
              <a:t>IVI LD1</a:t>
            </a:r>
            <a:br>
              <a:rPr lang="en-US" altLang="ko-KR" b="1">
                <a:latin typeface="Arial Narrow" pitchFamily="34" charset="0"/>
                <a:ea typeface="LG스마트체 Regular" pitchFamily="50" charset="-127"/>
              </a:rPr>
            </a:br>
            <a:r>
              <a:rPr lang="en-US" altLang="ko-KR" b="1">
                <a:latin typeface="Arial Narrow" pitchFamily="34" charset="0"/>
                <a:ea typeface="LG스마트체 Regular" pitchFamily="50" charset="-127"/>
              </a:rPr>
              <a:t>Cyber Security Part</a:t>
            </a:r>
            <a:endParaRPr lang="en-US" altLang="ko-KR" b="1" dirty="0">
              <a:latin typeface="Arial Narrow" pitchFamily="34" charset="0"/>
              <a:ea typeface="LG스마트체 Regular" pitchFamily="50" charset="-127"/>
            </a:endParaRPr>
          </a:p>
        </p:txBody>
      </p:sp>
      <p:sp>
        <p:nvSpPr>
          <p:cNvPr id="4" name="TextBox 3">
            <a:extLst>
              <a:ext uri="{FF2B5EF4-FFF2-40B4-BE49-F238E27FC236}">
                <a16:creationId xmlns:a16="http://schemas.microsoft.com/office/drawing/2014/main" id="{0474650F-14B4-4BDC-AC96-784BC480072A}"/>
              </a:ext>
            </a:extLst>
          </p:cNvPr>
          <p:cNvSpPr txBox="1"/>
          <p:nvPr/>
        </p:nvSpPr>
        <p:spPr>
          <a:xfrm>
            <a:off x="3241755" y="3671361"/>
            <a:ext cx="3422475" cy="1200329"/>
          </a:xfrm>
          <a:prstGeom prst="rect">
            <a:avLst/>
          </a:prstGeom>
          <a:noFill/>
        </p:spPr>
        <p:txBody>
          <a:bodyPr wrap="none" rtlCol="0">
            <a:spAutoFit/>
          </a:bodyPr>
          <a:lstStyle/>
          <a:p>
            <a:pPr marL="285750" indent="-285750">
              <a:buFont typeface="Wingdings" panose="05000000000000000000" pitchFamily="2" charset="2"/>
              <a:buChar char="v"/>
            </a:pPr>
            <a:r>
              <a:rPr lang="en-US" sz="2400">
                <a:latin typeface="Arial Narrow" panose="020B0606020202030204" pitchFamily="34" charset="0"/>
              </a:rPr>
              <a:t>Cryptography Terminology</a:t>
            </a:r>
          </a:p>
          <a:p>
            <a:pPr marL="285750" indent="-285750">
              <a:buFont typeface="Wingdings" panose="05000000000000000000" pitchFamily="2" charset="2"/>
              <a:buChar char="v"/>
            </a:pPr>
            <a:endParaRPr lang="en-US" sz="2400">
              <a:latin typeface="Arial Narrow" panose="020B0606020202030204" pitchFamily="34" charset="0"/>
            </a:endParaRPr>
          </a:p>
          <a:p>
            <a:pPr marL="285750" indent="-285750">
              <a:buFont typeface="Wingdings" panose="05000000000000000000" pitchFamily="2" charset="2"/>
              <a:buChar char="v"/>
            </a:pPr>
            <a:r>
              <a:rPr lang="en-US" sz="2400">
                <a:latin typeface="Arial Narrow" panose="020B0606020202030204" pitchFamily="34" charset="0"/>
              </a:rPr>
              <a:t>Application</a:t>
            </a:r>
          </a:p>
        </p:txBody>
      </p:sp>
    </p:spTree>
    <p:extLst>
      <p:ext uri="{BB962C8B-B14F-4D97-AF65-F5344CB8AC3E}">
        <p14:creationId xmlns:p14="http://schemas.microsoft.com/office/powerpoint/2010/main" val="3550357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77B727B1-698D-47C4-A8B8-EC5A15C1997B}"/>
              </a:ext>
            </a:extLst>
          </p:cNvPr>
          <p:cNvGraphicFramePr>
            <a:graphicFrameLocks noGrp="1"/>
          </p:cNvGraphicFramePr>
          <p:nvPr>
            <p:extLst>
              <p:ext uri="{D42A27DB-BD31-4B8C-83A1-F6EECF244321}">
                <p14:modId xmlns:p14="http://schemas.microsoft.com/office/powerpoint/2010/main" val="726496772"/>
              </p:ext>
            </p:extLst>
          </p:nvPr>
        </p:nvGraphicFramePr>
        <p:xfrm>
          <a:off x="156979" y="961822"/>
          <a:ext cx="9641070" cy="5231671"/>
        </p:xfrm>
        <a:graphic>
          <a:graphicData uri="http://schemas.openxmlformats.org/drawingml/2006/table">
            <a:tbl>
              <a:tblPr firstRow="1" bandRow="1">
                <a:tableStyleId>{5940675A-B579-460E-94D1-54222C63F5DA}</a:tableStyleId>
              </a:tblPr>
              <a:tblGrid>
                <a:gridCol w="1891873">
                  <a:extLst>
                    <a:ext uri="{9D8B030D-6E8A-4147-A177-3AD203B41FA5}">
                      <a16:colId xmlns:a16="http://schemas.microsoft.com/office/drawing/2014/main" val="1719412402"/>
                    </a:ext>
                  </a:extLst>
                </a:gridCol>
                <a:gridCol w="1891873">
                  <a:extLst>
                    <a:ext uri="{9D8B030D-6E8A-4147-A177-3AD203B41FA5}">
                      <a16:colId xmlns:a16="http://schemas.microsoft.com/office/drawing/2014/main" val="790174250"/>
                    </a:ext>
                  </a:extLst>
                </a:gridCol>
                <a:gridCol w="1891873">
                  <a:extLst>
                    <a:ext uri="{9D8B030D-6E8A-4147-A177-3AD203B41FA5}">
                      <a16:colId xmlns:a16="http://schemas.microsoft.com/office/drawing/2014/main" val="2884921092"/>
                    </a:ext>
                  </a:extLst>
                </a:gridCol>
                <a:gridCol w="3965451">
                  <a:extLst>
                    <a:ext uri="{9D8B030D-6E8A-4147-A177-3AD203B41FA5}">
                      <a16:colId xmlns:a16="http://schemas.microsoft.com/office/drawing/2014/main" val="1202427632"/>
                    </a:ext>
                  </a:extLst>
                </a:gridCol>
              </a:tblGrid>
              <a:tr h="358978">
                <a:tc>
                  <a:txBody>
                    <a:bodyPr/>
                    <a:lstStyle/>
                    <a:p>
                      <a:pPr algn="ctr"/>
                      <a:r>
                        <a:rPr lang="en-US" sz="1400" b="1">
                          <a:latin typeface="Arial Narrow" panose="020B0606020202030204" pitchFamily="34" charset="0"/>
                        </a:rPr>
                        <a:t>Definition</a:t>
                      </a:r>
                    </a:p>
                  </a:txBody>
                  <a:tcPr>
                    <a:solidFill>
                      <a:schemeClr val="bg1">
                        <a:lumMod val="85000"/>
                      </a:schemeClr>
                    </a:solidFill>
                  </a:tcPr>
                </a:tc>
                <a:tc>
                  <a:txBody>
                    <a:bodyPr/>
                    <a:lstStyle/>
                    <a:p>
                      <a:pPr algn="ctr"/>
                      <a:r>
                        <a:rPr lang="en-US" sz="1400" b="1">
                          <a:latin typeface="Arial Narrow" panose="020B0606020202030204" pitchFamily="34" charset="0"/>
                        </a:rPr>
                        <a:t>Advantages</a:t>
                      </a:r>
                    </a:p>
                  </a:txBody>
                  <a:tcPr>
                    <a:solidFill>
                      <a:schemeClr val="bg1">
                        <a:lumMod val="85000"/>
                      </a:schemeClr>
                    </a:solidFill>
                  </a:tcPr>
                </a:tc>
                <a:tc>
                  <a:txBody>
                    <a:bodyPr/>
                    <a:lstStyle/>
                    <a:p>
                      <a:pPr algn="ctr"/>
                      <a:r>
                        <a:rPr lang="en-US" sz="1400" b="1">
                          <a:latin typeface="Arial Narrow" panose="020B0606020202030204" pitchFamily="34" charset="0"/>
                        </a:rPr>
                        <a:t>Disadvantages</a:t>
                      </a:r>
                    </a:p>
                  </a:txBody>
                  <a:tcPr>
                    <a:solidFill>
                      <a:schemeClr val="bg1">
                        <a:lumMod val="85000"/>
                      </a:schemeClr>
                    </a:solidFill>
                  </a:tcPr>
                </a:tc>
                <a:tc>
                  <a:txBody>
                    <a:bodyPr/>
                    <a:lstStyle/>
                    <a:p>
                      <a:pPr algn="ctr"/>
                      <a:r>
                        <a:rPr lang="en-US" sz="1400" b="1">
                          <a:latin typeface="Arial Narrow" panose="020B0606020202030204" pitchFamily="34" charset="0"/>
                        </a:rPr>
                        <a:t>Example</a:t>
                      </a:r>
                    </a:p>
                  </a:txBody>
                  <a:tcPr>
                    <a:solidFill>
                      <a:schemeClr val="bg1">
                        <a:lumMod val="85000"/>
                      </a:schemeClr>
                    </a:solidFill>
                  </a:tcPr>
                </a:tc>
                <a:extLst>
                  <a:ext uri="{0D108BD9-81ED-4DB2-BD59-A6C34878D82A}">
                    <a16:rowId xmlns:a16="http://schemas.microsoft.com/office/drawing/2014/main" val="909986897"/>
                  </a:ext>
                </a:extLst>
              </a:tr>
              <a:tr h="48726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latin typeface="Arial Narrow" panose="020B0606020202030204" pitchFamily="34" charset="0"/>
                        </a:rPr>
                        <a:t>Plaintext</a:t>
                      </a:r>
                      <a:r>
                        <a:rPr lang="en-US" sz="1200">
                          <a:latin typeface="Arial Narrow" panose="020B0606020202030204" pitchFamily="34" charset="0"/>
                        </a:rPr>
                        <a:t> (or cleartext):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a:latin typeface="Arial Narrow" panose="020B0606020202030204" pitchFamily="34" charset="0"/>
                        </a:rPr>
                        <a:t>Is the message or data in its original.</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a:latin typeface="Arial Narrow" panose="020B0606020202030204" pitchFamily="34" charset="0"/>
                        </a:rPr>
                        <a:t>Can be read, understood directly by human, or processed by computers without decoding.</a:t>
                      </a:r>
                    </a:p>
                    <a:p>
                      <a:endParaRPr lang="en-US" sz="1200">
                        <a:latin typeface="Arial Narrow" panose="020B0606020202030204" pitchFamily="34" charset="0"/>
                      </a:endParaRP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Easy to read and understand.</a:t>
                      </a:r>
                    </a:p>
                    <a:p>
                      <a:pPr marL="171450" indent="-171450">
                        <a:buFont typeface="Wingdings" panose="05000000000000000000" pitchFamily="2" charset="2"/>
                        <a:buChar char="q"/>
                      </a:pPr>
                      <a:r>
                        <a:rPr lang="en-US" sz="1200">
                          <a:latin typeface="Arial Narrow" panose="020B0606020202030204" pitchFamily="34" charset="0"/>
                        </a:rPr>
                        <a:t>Simple to process and analyze.</a:t>
                      </a:r>
                    </a:p>
                    <a:p>
                      <a:pPr marL="171450" indent="-171450">
                        <a:buFont typeface="Wingdings" panose="05000000000000000000" pitchFamily="2" charset="2"/>
                        <a:buChar char="q"/>
                      </a:pPr>
                      <a:r>
                        <a:rPr lang="en-US" sz="1200">
                          <a:latin typeface="Arial Narrow" panose="020B0606020202030204" pitchFamily="34" charset="0"/>
                        </a:rPr>
                        <a:t>Fast transmission.</a:t>
                      </a:r>
                    </a:p>
                    <a:p>
                      <a:pPr marL="171450" indent="-171450">
                        <a:buFont typeface="Arial" panose="020B0604020202020204" pitchFamily="34" charset="0"/>
                        <a:buChar char="•"/>
                      </a:pPr>
                      <a:endParaRPr lang="en-US" sz="1200">
                        <a:latin typeface="Arial Narrow" panose="020B0606020202030204" pitchFamily="34" charset="0"/>
                      </a:endParaRP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Not secure:</a:t>
                      </a:r>
                    </a:p>
                    <a:p>
                      <a:pPr marL="171450" indent="-171450">
                        <a:buFont typeface="Arial" panose="020B0604020202020204" pitchFamily="34" charset="0"/>
                        <a:buChar char="•"/>
                      </a:pPr>
                      <a:r>
                        <a:rPr lang="en-US" sz="1200">
                          <a:latin typeface="Arial Narrow" panose="020B0606020202030204" pitchFamily="34" charset="0"/>
                        </a:rPr>
                        <a:t>Easily intercepted during transmission.</a:t>
                      </a:r>
                    </a:p>
                    <a:p>
                      <a:pPr marL="171450" indent="-171450">
                        <a:buFont typeface="Arial" panose="020B0604020202020204" pitchFamily="34" charset="0"/>
                        <a:buChar char="•"/>
                      </a:pPr>
                      <a:r>
                        <a:rPr lang="en-US" sz="1200">
                          <a:latin typeface="Arial Narrow" panose="020B0606020202030204" pitchFamily="34" charset="0"/>
                        </a:rPr>
                        <a:t>Easily to read and modify.</a:t>
                      </a:r>
                    </a:p>
                  </a:txBody>
                  <a:tcPr/>
                </a:tc>
                <a:tc>
                  <a:txBody>
                    <a:bodyPr/>
                    <a:lstStyle/>
                    <a:p>
                      <a:endParaRPr lang="en-US" sz="1200">
                        <a:latin typeface="Arial Narrow" panose="020B0606020202030204" pitchFamily="34" charset="0"/>
                      </a:endParaRPr>
                    </a:p>
                  </a:txBody>
                  <a:tcPr/>
                </a:tc>
                <a:extLst>
                  <a:ext uri="{0D108BD9-81ED-4DB2-BD59-A6C34878D82A}">
                    <a16:rowId xmlns:a16="http://schemas.microsoft.com/office/drawing/2014/main" val="2926055594"/>
                  </a:ext>
                </a:extLst>
              </a:tr>
            </a:tbl>
          </a:graphicData>
        </a:graphic>
      </p:graphicFrame>
      <p:pic>
        <p:nvPicPr>
          <p:cNvPr id="2" name="Picture 1">
            <a:hlinkClick r:id="rId3" action="ppaction://hlinksldjump"/>
          </p:cNvPr>
          <p:cNvPicPr>
            <a:picLocks noChangeAspect="1"/>
          </p:cNvPicPr>
          <p:nvPr/>
        </p:nvPicPr>
        <p:blipFill rotWithShape="1">
          <a:blip r:embed="rId4"/>
          <a:srcRect l="1474" t="4339" r="1252" b="3153"/>
          <a:stretch/>
        </p:blipFill>
        <p:spPr>
          <a:xfrm>
            <a:off x="6136085" y="1578566"/>
            <a:ext cx="3376795" cy="2042419"/>
          </a:xfrm>
          <a:prstGeom prst="rect">
            <a:avLst/>
          </a:prstGeom>
        </p:spPr>
      </p:pic>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I. Plaintext</a:t>
            </a:r>
          </a:p>
        </p:txBody>
      </p:sp>
      <p:sp>
        <p:nvSpPr>
          <p:cNvPr id="5" name="TextBox 4">
            <a:extLst>
              <a:ext uri="{FF2B5EF4-FFF2-40B4-BE49-F238E27FC236}">
                <a16:creationId xmlns:a16="http://schemas.microsoft.com/office/drawing/2014/main" id="{87F57618-D6F0-45B4-9936-CC53D431A559}"/>
              </a:ext>
            </a:extLst>
          </p:cNvPr>
          <p:cNvSpPr txBox="1"/>
          <p:nvPr/>
        </p:nvSpPr>
        <p:spPr>
          <a:xfrm>
            <a:off x="5908874" y="3620985"/>
            <a:ext cx="3831219" cy="1200329"/>
          </a:xfrm>
          <a:prstGeom prst="rect">
            <a:avLst/>
          </a:prstGeom>
          <a:noFill/>
        </p:spPr>
        <p:txBody>
          <a:bodyPr wrap="square" rtlCol="0">
            <a:spAutoFit/>
          </a:bodyPr>
          <a:lstStyle/>
          <a:p>
            <a:pPr marL="285750" indent="-285750">
              <a:buFont typeface="Arial" panose="020B0604020202020204" pitchFamily="34" charset="0"/>
              <a:buChar char="•"/>
            </a:pPr>
            <a:endParaRPr lang="en-US" sz="1200">
              <a:latin typeface="Arial Narrow" panose="020B0606020202030204" pitchFamily="34" charset="0"/>
            </a:endParaRPr>
          </a:p>
          <a:p>
            <a:pPr marL="285750" indent="-285750">
              <a:buFont typeface="Wingdings" panose="05000000000000000000" pitchFamily="2" charset="2"/>
              <a:buChar char="q"/>
            </a:pPr>
            <a:r>
              <a:rPr lang="en-US" sz="1200">
                <a:latin typeface="Arial Narrow" panose="020B0606020202030204" pitchFamily="34" charset="0"/>
              </a:rPr>
              <a:t>Alvin – Sender.</a:t>
            </a:r>
          </a:p>
          <a:p>
            <a:pPr marL="285750" indent="-285750">
              <a:buFont typeface="Wingdings" panose="05000000000000000000" pitchFamily="2" charset="2"/>
              <a:buChar char="q"/>
            </a:pPr>
            <a:r>
              <a:rPr lang="en-US" sz="1200">
                <a:latin typeface="Arial Narrow" panose="020B0606020202030204" pitchFamily="34" charset="0"/>
              </a:rPr>
              <a:t>Audrey – Receiver.</a:t>
            </a:r>
          </a:p>
          <a:p>
            <a:pPr marL="285750" indent="-285750">
              <a:buFont typeface="Wingdings" panose="05000000000000000000" pitchFamily="2" charset="2"/>
              <a:buChar char="q"/>
            </a:pPr>
            <a:r>
              <a:rPr lang="en-US" sz="1200">
                <a:latin typeface="Arial Narrow" panose="020B0606020202030204" pitchFamily="34" charset="0"/>
              </a:rPr>
              <a:t>Eve – Eavesdropper: She can intercept and read the plaintext message.</a:t>
            </a:r>
          </a:p>
          <a:p>
            <a:pPr marL="285750" indent="-285750">
              <a:buFont typeface="Arial" panose="020B0604020202020204" pitchFamily="34" charset="0"/>
              <a:buChar char="•"/>
            </a:pPr>
            <a:endParaRPr lang="en-US" sz="1200">
              <a:latin typeface="Arial Narrow" panose="020B0606020202030204" pitchFamily="34" charset="0"/>
            </a:endParaRPr>
          </a:p>
        </p:txBody>
      </p:sp>
    </p:spTree>
    <p:extLst>
      <p:ext uri="{BB962C8B-B14F-4D97-AF65-F5344CB8AC3E}">
        <p14:creationId xmlns:p14="http://schemas.microsoft.com/office/powerpoint/2010/main" val="3952465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II. Ciphertext</a:t>
            </a:r>
          </a:p>
        </p:txBody>
      </p:sp>
      <p:graphicFrame>
        <p:nvGraphicFramePr>
          <p:cNvPr id="6" name="Table 5">
            <a:extLst>
              <a:ext uri="{FF2B5EF4-FFF2-40B4-BE49-F238E27FC236}">
                <a16:creationId xmlns:a16="http://schemas.microsoft.com/office/drawing/2014/main" id="{4DB166B4-3BE3-49CF-9774-02AD1E90D632}"/>
              </a:ext>
            </a:extLst>
          </p:cNvPr>
          <p:cNvGraphicFramePr>
            <a:graphicFrameLocks noGrp="1"/>
          </p:cNvGraphicFramePr>
          <p:nvPr>
            <p:extLst>
              <p:ext uri="{D42A27DB-BD31-4B8C-83A1-F6EECF244321}">
                <p14:modId xmlns:p14="http://schemas.microsoft.com/office/powerpoint/2010/main" val="2296574264"/>
              </p:ext>
            </p:extLst>
          </p:nvPr>
        </p:nvGraphicFramePr>
        <p:xfrm>
          <a:off x="156979" y="961822"/>
          <a:ext cx="9641070" cy="5231671"/>
        </p:xfrm>
        <a:graphic>
          <a:graphicData uri="http://schemas.openxmlformats.org/drawingml/2006/table">
            <a:tbl>
              <a:tblPr firstRow="1" bandRow="1">
                <a:tableStyleId>{5940675A-B579-460E-94D1-54222C63F5DA}</a:tableStyleId>
              </a:tblPr>
              <a:tblGrid>
                <a:gridCol w="1891873">
                  <a:extLst>
                    <a:ext uri="{9D8B030D-6E8A-4147-A177-3AD203B41FA5}">
                      <a16:colId xmlns:a16="http://schemas.microsoft.com/office/drawing/2014/main" val="1719412402"/>
                    </a:ext>
                  </a:extLst>
                </a:gridCol>
                <a:gridCol w="1891873">
                  <a:extLst>
                    <a:ext uri="{9D8B030D-6E8A-4147-A177-3AD203B41FA5}">
                      <a16:colId xmlns:a16="http://schemas.microsoft.com/office/drawing/2014/main" val="790174250"/>
                    </a:ext>
                  </a:extLst>
                </a:gridCol>
                <a:gridCol w="1891873">
                  <a:extLst>
                    <a:ext uri="{9D8B030D-6E8A-4147-A177-3AD203B41FA5}">
                      <a16:colId xmlns:a16="http://schemas.microsoft.com/office/drawing/2014/main" val="2884921092"/>
                    </a:ext>
                  </a:extLst>
                </a:gridCol>
                <a:gridCol w="3965451">
                  <a:extLst>
                    <a:ext uri="{9D8B030D-6E8A-4147-A177-3AD203B41FA5}">
                      <a16:colId xmlns:a16="http://schemas.microsoft.com/office/drawing/2014/main" val="1202427632"/>
                    </a:ext>
                  </a:extLst>
                </a:gridCol>
              </a:tblGrid>
              <a:tr h="358978">
                <a:tc>
                  <a:txBody>
                    <a:bodyPr/>
                    <a:lstStyle/>
                    <a:p>
                      <a:pPr algn="ctr"/>
                      <a:r>
                        <a:rPr lang="en-US" sz="1400" b="1">
                          <a:latin typeface="Arial Narrow" panose="020B0606020202030204" pitchFamily="34" charset="0"/>
                        </a:rPr>
                        <a:t>Definition</a:t>
                      </a:r>
                    </a:p>
                  </a:txBody>
                  <a:tcPr>
                    <a:solidFill>
                      <a:schemeClr val="bg1">
                        <a:lumMod val="85000"/>
                      </a:schemeClr>
                    </a:solidFill>
                  </a:tcPr>
                </a:tc>
                <a:tc>
                  <a:txBody>
                    <a:bodyPr/>
                    <a:lstStyle/>
                    <a:p>
                      <a:pPr algn="ctr"/>
                      <a:r>
                        <a:rPr lang="en-US" sz="1400" b="1">
                          <a:latin typeface="Arial Narrow" panose="020B0606020202030204" pitchFamily="34" charset="0"/>
                        </a:rPr>
                        <a:t>Advantages</a:t>
                      </a:r>
                    </a:p>
                  </a:txBody>
                  <a:tcPr>
                    <a:solidFill>
                      <a:schemeClr val="bg1">
                        <a:lumMod val="85000"/>
                      </a:schemeClr>
                    </a:solidFill>
                  </a:tcPr>
                </a:tc>
                <a:tc>
                  <a:txBody>
                    <a:bodyPr/>
                    <a:lstStyle/>
                    <a:p>
                      <a:pPr algn="ctr"/>
                      <a:r>
                        <a:rPr lang="en-US" sz="1400" b="1">
                          <a:latin typeface="Arial Narrow" panose="020B0606020202030204" pitchFamily="34" charset="0"/>
                        </a:rPr>
                        <a:t>Disadvantages</a:t>
                      </a:r>
                    </a:p>
                  </a:txBody>
                  <a:tcPr>
                    <a:solidFill>
                      <a:schemeClr val="bg1">
                        <a:lumMod val="85000"/>
                      </a:schemeClr>
                    </a:solidFill>
                  </a:tcPr>
                </a:tc>
                <a:tc>
                  <a:txBody>
                    <a:bodyPr/>
                    <a:lstStyle/>
                    <a:p>
                      <a:pPr algn="ctr"/>
                      <a:r>
                        <a:rPr lang="en-US" sz="1400" b="1">
                          <a:latin typeface="Arial Narrow" panose="020B0606020202030204" pitchFamily="34" charset="0"/>
                        </a:rPr>
                        <a:t>Example</a:t>
                      </a:r>
                    </a:p>
                  </a:txBody>
                  <a:tcPr>
                    <a:solidFill>
                      <a:schemeClr val="bg1">
                        <a:lumMod val="85000"/>
                      </a:schemeClr>
                    </a:solidFill>
                  </a:tcPr>
                </a:tc>
                <a:extLst>
                  <a:ext uri="{0D108BD9-81ED-4DB2-BD59-A6C34878D82A}">
                    <a16:rowId xmlns:a16="http://schemas.microsoft.com/office/drawing/2014/main" val="909986897"/>
                  </a:ext>
                </a:extLst>
              </a:tr>
              <a:tr h="48726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latin typeface="Arial Narrow" panose="020B0606020202030204" pitchFamily="34" charset="0"/>
                        </a:rPr>
                        <a:t>Ciphertext</a:t>
                      </a:r>
                      <a:r>
                        <a:rPr lang="en-US" sz="1200" b="0">
                          <a:latin typeface="Arial Narrow" panose="020B060602020203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0">
                          <a:latin typeface="Arial Narrow" panose="020B0606020202030204" pitchFamily="34" charset="0"/>
                        </a:rPr>
                        <a:t>Is the encrypted form of plaintext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0">
                          <a:latin typeface="Arial Narrow" panose="020B0606020202030204" pitchFamily="34" charset="0"/>
                        </a:rPr>
                        <a:t>Unreadable without the correct decryption key.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a:latin typeface="Arial Narrow" panose="020B06060202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a:latin typeface="Arial Narrow" panose="020B0606020202030204" pitchFamily="34" charset="0"/>
                      </a:endParaRP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Secure:</a:t>
                      </a:r>
                    </a:p>
                    <a:p>
                      <a:pPr marL="171450" indent="-171450">
                        <a:buFont typeface="Arial" panose="020B0604020202020204" pitchFamily="34" charset="0"/>
                        <a:buChar char="•"/>
                      </a:pPr>
                      <a:r>
                        <a:rPr lang="en-US" sz="1200">
                          <a:latin typeface="Arial Narrow" panose="020B0606020202030204" pitchFamily="34" charset="0"/>
                        </a:rPr>
                        <a:t>Protect the message from unauthorized reading.</a:t>
                      </a:r>
                    </a:p>
                    <a:p>
                      <a:pPr marL="171450" indent="-171450">
                        <a:buFont typeface="Arial" panose="020B0604020202020204" pitchFamily="34" charset="0"/>
                        <a:buChar char="•"/>
                      </a:pPr>
                      <a:r>
                        <a:rPr lang="en-US" sz="1200">
                          <a:latin typeface="Arial Narrow" panose="020B0606020202030204" pitchFamily="34" charset="0"/>
                        </a:rPr>
                        <a:t>Ensure the message is received without modification.</a:t>
                      </a:r>
                    </a:p>
                    <a:p>
                      <a:pPr marL="171450" indent="-171450">
                        <a:buFont typeface="Arial" panose="020B0604020202020204" pitchFamily="34" charset="0"/>
                        <a:buChar char="•"/>
                      </a:pPr>
                      <a:endParaRPr lang="en-US" sz="1200">
                        <a:latin typeface="Arial Narrow" panose="020B0606020202030204" pitchFamily="34" charset="0"/>
                      </a:endParaRP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Require decryption key.</a:t>
                      </a:r>
                    </a:p>
                    <a:p>
                      <a:pPr marL="171450" indent="-171450">
                        <a:buFont typeface="Wingdings" panose="05000000000000000000" pitchFamily="2" charset="2"/>
                        <a:buChar char="q"/>
                      </a:pPr>
                      <a:r>
                        <a:rPr lang="en-US" sz="1200">
                          <a:latin typeface="Arial Narrow" panose="020B0606020202030204" pitchFamily="34" charset="0"/>
                        </a:rPr>
                        <a:t>Consumes a lot of processing resources.</a:t>
                      </a:r>
                    </a:p>
                    <a:p>
                      <a:pPr marL="171450" indent="-171450">
                        <a:buFont typeface="Wingdings" panose="05000000000000000000" pitchFamily="2" charset="2"/>
                        <a:buChar char="q"/>
                      </a:pPr>
                      <a:r>
                        <a:rPr lang="en-US" sz="1200">
                          <a:latin typeface="Arial Narrow" panose="020B0606020202030204" pitchFamily="34" charset="0"/>
                        </a:rPr>
                        <a:t>Complexity.</a:t>
                      </a:r>
                    </a:p>
                    <a:p>
                      <a:pPr marL="171450" indent="-171450">
                        <a:buFont typeface="Wingdings" panose="05000000000000000000" pitchFamily="2" charset="2"/>
                        <a:buChar char="q"/>
                      </a:pPr>
                      <a:r>
                        <a:rPr lang="en-US" sz="1200">
                          <a:latin typeface="Arial Narrow" panose="020B0606020202030204" pitchFamily="34" charset="0"/>
                        </a:rPr>
                        <a:t>Potential delays.</a:t>
                      </a:r>
                    </a:p>
                    <a:p>
                      <a:pPr marL="171450" indent="-171450">
                        <a:buFont typeface="Arial" panose="020B0604020202020204" pitchFamily="34" charset="0"/>
                        <a:buChar char="•"/>
                      </a:pPr>
                      <a:endParaRPr lang="en-US" sz="1200">
                        <a:latin typeface="Arial Narrow" panose="020B0606020202030204" pitchFamily="34" charset="0"/>
                      </a:endParaRPr>
                    </a:p>
                  </a:txBody>
                  <a:tcPr/>
                </a:tc>
                <a:tc>
                  <a:txBody>
                    <a:bodyPr/>
                    <a:lstStyle/>
                    <a:p>
                      <a:endParaRPr lang="en-US" sz="1200">
                        <a:latin typeface="Arial Narrow" panose="020B0606020202030204" pitchFamily="34" charset="0"/>
                      </a:endParaRPr>
                    </a:p>
                  </a:txBody>
                  <a:tcPr/>
                </a:tc>
                <a:extLst>
                  <a:ext uri="{0D108BD9-81ED-4DB2-BD59-A6C34878D82A}">
                    <a16:rowId xmlns:a16="http://schemas.microsoft.com/office/drawing/2014/main" val="2926055594"/>
                  </a:ext>
                </a:extLst>
              </a:tr>
            </a:tbl>
          </a:graphicData>
        </a:graphic>
      </p:graphicFrame>
      <p:pic>
        <p:nvPicPr>
          <p:cNvPr id="8" name="Picture 7">
            <a:hlinkClick r:id="rId2" action="ppaction://hlinksldjump"/>
            <a:extLst>
              <a:ext uri="{FF2B5EF4-FFF2-40B4-BE49-F238E27FC236}">
                <a16:creationId xmlns:a16="http://schemas.microsoft.com/office/drawing/2014/main" id="{03B41045-B30B-4CD1-8F63-99A1FFCD94A6}"/>
              </a:ext>
            </a:extLst>
          </p:cNvPr>
          <p:cNvPicPr>
            <a:picLocks noChangeAspect="1"/>
          </p:cNvPicPr>
          <p:nvPr/>
        </p:nvPicPr>
        <p:blipFill>
          <a:blip r:embed="rId3"/>
          <a:stretch>
            <a:fillRect/>
          </a:stretch>
        </p:blipFill>
        <p:spPr>
          <a:xfrm>
            <a:off x="6316129" y="1439097"/>
            <a:ext cx="3033434" cy="2133404"/>
          </a:xfrm>
          <a:prstGeom prst="rect">
            <a:avLst/>
          </a:prstGeom>
        </p:spPr>
      </p:pic>
      <p:sp>
        <p:nvSpPr>
          <p:cNvPr id="10" name="TextBox 9">
            <a:extLst>
              <a:ext uri="{FF2B5EF4-FFF2-40B4-BE49-F238E27FC236}">
                <a16:creationId xmlns:a16="http://schemas.microsoft.com/office/drawing/2014/main" id="{095089D6-DE89-4988-96DF-E850EE192428}"/>
              </a:ext>
            </a:extLst>
          </p:cNvPr>
          <p:cNvSpPr txBox="1"/>
          <p:nvPr/>
        </p:nvSpPr>
        <p:spPr>
          <a:xfrm>
            <a:off x="5908874" y="3620985"/>
            <a:ext cx="3831219" cy="1938992"/>
          </a:xfrm>
          <a:prstGeom prst="rect">
            <a:avLst/>
          </a:prstGeom>
          <a:noFill/>
        </p:spPr>
        <p:txBody>
          <a:bodyPr wrap="square" rtlCol="0">
            <a:spAutoFit/>
          </a:bodyPr>
          <a:lstStyle/>
          <a:p>
            <a:pPr marL="285750" indent="-285750">
              <a:buFont typeface="Arial" panose="020B0604020202020204" pitchFamily="34" charset="0"/>
              <a:buChar char="•"/>
            </a:pPr>
            <a:endParaRPr lang="en-US" sz="1200">
              <a:latin typeface="Arial Narrow" panose="020B0606020202030204" pitchFamily="34" charset="0"/>
            </a:endParaRPr>
          </a:p>
          <a:p>
            <a:pPr marL="285750" indent="-285750">
              <a:buFont typeface="Wingdings" panose="05000000000000000000" pitchFamily="2" charset="2"/>
              <a:buChar char="q"/>
            </a:pPr>
            <a:r>
              <a:rPr lang="en-US" sz="1200">
                <a:latin typeface="Arial Narrow" panose="020B0606020202030204" pitchFamily="34" charset="0"/>
              </a:rPr>
              <a:t>Alvin: </a:t>
            </a:r>
          </a:p>
          <a:p>
            <a:r>
              <a:rPr lang="en-US" sz="1200">
                <a:latin typeface="Arial Narrow" panose="020B0606020202030204" pitchFamily="34" charset="0"/>
              </a:rPr>
              <a:t>Create Plaintext </a:t>
            </a:r>
            <a:r>
              <a:rPr lang="en-US" sz="1200">
                <a:latin typeface="Arial Narrow" panose="020B0606020202030204" pitchFamily="34" charset="0"/>
                <a:sym typeface="Wingdings" panose="05000000000000000000" pitchFamily="2" charset="2"/>
              </a:rPr>
              <a:t> Encryption Plaintext to Ciphertext  Sent Ciphertext to Audrey.</a:t>
            </a:r>
            <a:endParaRPr lang="en-US" sz="1200">
              <a:latin typeface="Arial Narrow" panose="020B0606020202030204" pitchFamily="34" charset="0"/>
            </a:endParaRPr>
          </a:p>
          <a:p>
            <a:pPr marL="285750" indent="-285750">
              <a:buFont typeface="Wingdings" panose="05000000000000000000" pitchFamily="2" charset="2"/>
              <a:buChar char="q"/>
            </a:pPr>
            <a:r>
              <a:rPr lang="en-US" sz="1200">
                <a:latin typeface="Arial Narrow" panose="020B0606020202030204" pitchFamily="34" charset="0"/>
              </a:rPr>
              <a:t>Audrey:</a:t>
            </a:r>
          </a:p>
          <a:p>
            <a:r>
              <a:rPr lang="en-US" sz="1200">
                <a:latin typeface="Arial Narrow" panose="020B0606020202030204" pitchFamily="34" charset="0"/>
              </a:rPr>
              <a:t>Receive Ciphertext from Alvin </a:t>
            </a:r>
            <a:r>
              <a:rPr lang="en-US" sz="1200">
                <a:latin typeface="Arial Narrow" panose="020B0606020202030204" pitchFamily="34" charset="0"/>
                <a:sym typeface="Wingdings" panose="05000000000000000000" pitchFamily="2" charset="2"/>
              </a:rPr>
              <a:t> Decryption Ciphertext to Plaintext  Read Plaintext.</a:t>
            </a:r>
            <a:endParaRPr lang="en-US" sz="1200">
              <a:latin typeface="Arial Narrow" panose="020B0606020202030204" pitchFamily="34" charset="0"/>
            </a:endParaRPr>
          </a:p>
          <a:p>
            <a:pPr marL="285750" indent="-285750">
              <a:buFont typeface="Wingdings" panose="05000000000000000000" pitchFamily="2" charset="2"/>
              <a:buChar char="q"/>
            </a:pPr>
            <a:r>
              <a:rPr lang="en-US" sz="1200">
                <a:latin typeface="Arial Narrow" panose="020B0606020202030204" pitchFamily="34" charset="0"/>
              </a:rPr>
              <a:t>Eve: Can steal the message but she can’t understand message in Ciphertext form.</a:t>
            </a:r>
          </a:p>
          <a:p>
            <a:pPr marL="285750" indent="-285750">
              <a:buFont typeface="Arial" panose="020B0604020202020204" pitchFamily="34" charset="0"/>
              <a:buChar char="•"/>
            </a:pPr>
            <a:endParaRPr lang="en-US" sz="1200">
              <a:latin typeface="Arial Narrow" panose="020B0606020202030204" pitchFamily="34" charset="0"/>
            </a:endParaRPr>
          </a:p>
        </p:txBody>
      </p:sp>
    </p:spTree>
    <p:extLst>
      <p:ext uri="{BB962C8B-B14F-4D97-AF65-F5344CB8AC3E}">
        <p14:creationId xmlns:p14="http://schemas.microsoft.com/office/powerpoint/2010/main" val="37456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58BFF300-C27E-42DD-9E55-34B17186FF16}"/>
              </a:ext>
            </a:extLst>
          </p:cNvPr>
          <p:cNvGraphicFramePr>
            <a:graphicFrameLocks noGrp="1"/>
          </p:cNvGraphicFramePr>
          <p:nvPr>
            <p:extLst>
              <p:ext uri="{D42A27DB-BD31-4B8C-83A1-F6EECF244321}">
                <p14:modId xmlns:p14="http://schemas.microsoft.com/office/powerpoint/2010/main" val="1369368066"/>
              </p:ext>
            </p:extLst>
          </p:nvPr>
        </p:nvGraphicFramePr>
        <p:xfrm>
          <a:off x="156979" y="961822"/>
          <a:ext cx="9641070" cy="5231672"/>
        </p:xfrm>
        <a:graphic>
          <a:graphicData uri="http://schemas.openxmlformats.org/drawingml/2006/table">
            <a:tbl>
              <a:tblPr firstRow="1" bandRow="1">
                <a:tableStyleId>{5940675A-B579-460E-94D1-54222C63F5DA}</a:tableStyleId>
              </a:tblPr>
              <a:tblGrid>
                <a:gridCol w="973321">
                  <a:extLst>
                    <a:ext uri="{9D8B030D-6E8A-4147-A177-3AD203B41FA5}">
                      <a16:colId xmlns:a16="http://schemas.microsoft.com/office/drawing/2014/main" val="1719412402"/>
                    </a:ext>
                  </a:extLst>
                </a:gridCol>
                <a:gridCol w="2810425">
                  <a:extLst>
                    <a:ext uri="{9D8B030D-6E8A-4147-A177-3AD203B41FA5}">
                      <a16:colId xmlns:a16="http://schemas.microsoft.com/office/drawing/2014/main" val="790174250"/>
                    </a:ext>
                  </a:extLst>
                </a:gridCol>
                <a:gridCol w="1891873">
                  <a:extLst>
                    <a:ext uri="{9D8B030D-6E8A-4147-A177-3AD203B41FA5}">
                      <a16:colId xmlns:a16="http://schemas.microsoft.com/office/drawing/2014/main" val="2884921092"/>
                    </a:ext>
                  </a:extLst>
                </a:gridCol>
                <a:gridCol w="3965451">
                  <a:extLst>
                    <a:ext uri="{9D8B030D-6E8A-4147-A177-3AD203B41FA5}">
                      <a16:colId xmlns:a16="http://schemas.microsoft.com/office/drawing/2014/main" val="1202427632"/>
                    </a:ext>
                  </a:extLst>
                </a:gridCol>
              </a:tblGrid>
              <a:tr h="358978">
                <a:tc>
                  <a:txBody>
                    <a:bodyPr/>
                    <a:lstStyle/>
                    <a:p>
                      <a:pPr algn="ctr"/>
                      <a:endParaRPr lang="en-US" sz="1400" b="1">
                        <a:latin typeface="Arial Narrow" panose="020B0606020202030204" pitchFamily="34" charset="0"/>
                      </a:endParaRPr>
                    </a:p>
                  </a:txBody>
                  <a:tcPr>
                    <a:solidFill>
                      <a:schemeClr val="bg1"/>
                    </a:solidFill>
                  </a:tcPr>
                </a:tc>
                <a:tc>
                  <a:txBody>
                    <a:bodyPr/>
                    <a:lstStyle/>
                    <a:p>
                      <a:pPr algn="ctr"/>
                      <a:r>
                        <a:rPr lang="en-US" sz="1400" b="1">
                          <a:latin typeface="Arial Narrow" panose="020B0606020202030204" pitchFamily="34" charset="0"/>
                        </a:rPr>
                        <a:t>Definition</a:t>
                      </a:r>
                    </a:p>
                  </a:txBody>
                  <a:tcPr>
                    <a:solidFill>
                      <a:schemeClr val="bg1">
                        <a:lumMod val="85000"/>
                      </a:schemeClr>
                    </a:solidFill>
                  </a:tcPr>
                </a:tc>
                <a:tc>
                  <a:txBody>
                    <a:bodyPr/>
                    <a:lstStyle/>
                    <a:p>
                      <a:pPr algn="ctr"/>
                      <a:r>
                        <a:rPr lang="en-US" sz="1400" b="1">
                          <a:latin typeface="Arial Narrow" panose="020B0606020202030204" pitchFamily="34" charset="0"/>
                        </a:rPr>
                        <a:t>Function</a:t>
                      </a:r>
                    </a:p>
                  </a:txBody>
                  <a:tcPr>
                    <a:solidFill>
                      <a:schemeClr val="bg1">
                        <a:lumMod val="85000"/>
                      </a:schemeClr>
                    </a:solidFill>
                  </a:tcPr>
                </a:tc>
                <a:tc>
                  <a:txBody>
                    <a:bodyPr/>
                    <a:lstStyle/>
                    <a:p>
                      <a:pPr algn="ctr"/>
                      <a:r>
                        <a:rPr lang="en-US" sz="1400" b="1">
                          <a:latin typeface="Arial Narrow" panose="020B0606020202030204" pitchFamily="34" charset="0"/>
                        </a:rPr>
                        <a:t>Process</a:t>
                      </a:r>
                    </a:p>
                  </a:txBody>
                  <a:tcPr>
                    <a:solidFill>
                      <a:schemeClr val="bg1">
                        <a:lumMod val="85000"/>
                      </a:schemeClr>
                    </a:solidFill>
                  </a:tcPr>
                </a:tc>
                <a:extLst>
                  <a:ext uri="{0D108BD9-81ED-4DB2-BD59-A6C34878D82A}">
                    <a16:rowId xmlns:a16="http://schemas.microsoft.com/office/drawing/2014/main" val="909986897"/>
                  </a:ext>
                </a:extLst>
              </a:tr>
              <a:tr h="243634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latin typeface="Arial Narrow" panose="020B0606020202030204" pitchFamily="34" charset="0"/>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Encryption</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1">
                          <a:latin typeface="Arial Narrow" panose="020B0606020202030204" pitchFamily="34" charset="0"/>
                        </a:rPr>
                        <a:t>Encryption</a:t>
                      </a:r>
                      <a:r>
                        <a:rPr lang="en-US" sz="1200">
                          <a:latin typeface="Arial Narrow" panose="020B0606020202030204" pitchFamily="34" charset="0"/>
                        </a:rPr>
                        <a:t> is the process of converting plaintext into ciphertext using an </a:t>
                      </a:r>
                      <a:r>
                        <a:rPr lang="en-US" sz="1200" b="0" i="0" u="sng">
                          <a:latin typeface="Arial Narrow" panose="020B0606020202030204" pitchFamily="34" charset="0"/>
                        </a:rPr>
                        <a:t>encryption algorithm </a:t>
                      </a:r>
                      <a:r>
                        <a:rPr lang="en-US" sz="1200">
                          <a:latin typeface="Arial Narrow" panose="020B0606020202030204" pitchFamily="34" charset="0"/>
                        </a:rPr>
                        <a:t>and a </a:t>
                      </a:r>
                      <a:r>
                        <a:rPr lang="en-US" sz="1200" b="0" i="0" u="sng">
                          <a:latin typeface="Arial Narrow" panose="020B0606020202030204" pitchFamily="34" charset="0"/>
                        </a:rPr>
                        <a:t>key</a:t>
                      </a:r>
                      <a:r>
                        <a:rPr lang="en-US" sz="1200" b="1" i="0" u="none">
                          <a:latin typeface="Arial Narrow" panose="020B0606020202030204" pitchFamily="34" charset="0"/>
                        </a:rPr>
                        <a:t>.</a:t>
                      </a: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Protect the information from unauthorized access.</a:t>
                      </a:r>
                    </a:p>
                  </a:txBody>
                  <a:tcPr/>
                </a:tc>
                <a:tc>
                  <a:txBody>
                    <a:bodyPr/>
                    <a:lstStyle/>
                    <a:p>
                      <a:endParaRPr lang="en-US" sz="1200">
                        <a:latin typeface="Arial Narrow" panose="020B0606020202030204" pitchFamily="34" charset="0"/>
                      </a:endParaRPr>
                    </a:p>
                  </a:txBody>
                  <a:tcPr/>
                </a:tc>
                <a:extLst>
                  <a:ext uri="{0D108BD9-81ED-4DB2-BD59-A6C34878D82A}">
                    <a16:rowId xmlns:a16="http://schemas.microsoft.com/office/drawing/2014/main" val="2926055594"/>
                  </a:ext>
                </a:extLst>
              </a:tr>
              <a:tr h="2436347">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Decryption</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1">
                          <a:latin typeface="Arial Narrow" panose="020B0606020202030204" pitchFamily="34" charset="0"/>
                        </a:rPr>
                        <a:t>Decryption</a:t>
                      </a:r>
                      <a:r>
                        <a:rPr lang="en-US" sz="1200">
                          <a:latin typeface="Arial Narrow" panose="020B0606020202030204" pitchFamily="34" charset="0"/>
                        </a:rPr>
                        <a:t> is the reverse process of encryption — converting ciphertext back into readable plaintext using a </a:t>
                      </a:r>
                      <a:r>
                        <a:rPr lang="en-US" sz="1200" b="0" u="sng">
                          <a:latin typeface="Arial Narrow" panose="020B0606020202030204" pitchFamily="34" charset="0"/>
                        </a:rPr>
                        <a:t>decryption algorithm</a:t>
                      </a:r>
                      <a:r>
                        <a:rPr lang="en-US" sz="1200">
                          <a:latin typeface="Arial Narrow" panose="020B0606020202030204" pitchFamily="34" charset="0"/>
                        </a:rPr>
                        <a:t> and a </a:t>
                      </a:r>
                      <a:r>
                        <a:rPr lang="en-US" sz="1200" u="sng">
                          <a:latin typeface="Arial Narrow" panose="020B0606020202030204" pitchFamily="34" charset="0"/>
                        </a:rPr>
                        <a:t>key</a:t>
                      </a:r>
                      <a:r>
                        <a:rPr lang="en-US" sz="1200" u="none">
                          <a:latin typeface="Arial Narrow" panose="020B0606020202030204" pitchFamily="34" charset="0"/>
                        </a:rPr>
                        <a:t>.</a:t>
                      </a: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Convert information to understandable form (plaintext).</a:t>
                      </a:r>
                    </a:p>
                  </a:txBody>
                  <a:tcPr/>
                </a:tc>
                <a:tc>
                  <a:txBody>
                    <a:bodyPr/>
                    <a:lstStyle/>
                    <a:p>
                      <a:endParaRPr lang="en-US" sz="1200">
                        <a:latin typeface="Arial Narrow" panose="020B0606020202030204" pitchFamily="34" charset="0"/>
                      </a:endParaRPr>
                    </a:p>
                  </a:txBody>
                  <a:tcPr/>
                </a:tc>
                <a:extLst>
                  <a:ext uri="{0D108BD9-81ED-4DB2-BD59-A6C34878D82A}">
                    <a16:rowId xmlns:a16="http://schemas.microsoft.com/office/drawing/2014/main" val="1693276845"/>
                  </a:ext>
                </a:extLst>
              </a:tr>
            </a:tbl>
          </a:graphicData>
        </a:graphic>
      </p:graphicFrame>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III. Encryption &amp; Decryption</a:t>
            </a:r>
          </a:p>
        </p:txBody>
      </p:sp>
      <p:pic>
        <p:nvPicPr>
          <p:cNvPr id="6" name="Picture 5">
            <a:extLst>
              <a:ext uri="{FF2B5EF4-FFF2-40B4-BE49-F238E27FC236}">
                <a16:creationId xmlns:a16="http://schemas.microsoft.com/office/drawing/2014/main" id="{D1A1AFDB-5AB5-447D-A868-CB379DAA8EBB}"/>
              </a:ext>
            </a:extLst>
          </p:cNvPr>
          <p:cNvPicPr>
            <a:picLocks noChangeAspect="1"/>
          </p:cNvPicPr>
          <p:nvPr/>
        </p:nvPicPr>
        <p:blipFill>
          <a:blip r:embed="rId2"/>
          <a:stretch>
            <a:fillRect/>
          </a:stretch>
        </p:blipFill>
        <p:spPr>
          <a:xfrm>
            <a:off x="6963049" y="1596004"/>
            <a:ext cx="1639706" cy="1743434"/>
          </a:xfrm>
          <a:prstGeom prst="rect">
            <a:avLst/>
          </a:prstGeom>
        </p:spPr>
      </p:pic>
      <p:pic>
        <p:nvPicPr>
          <p:cNvPr id="7" name="Picture 6">
            <a:extLst>
              <a:ext uri="{FF2B5EF4-FFF2-40B4-BE49-F238E27FC236}">
                <a16:creationId xmlns:a16="http://schemas.microsoft.com/office/drawing/2014/main" id="{FF1E4D0C-C145-4B69-895B-9BF78AECAD0E}"/>
              </a:ext>
            </a:extLst>
          </p:cNvPr>
          <p:cNvPicPr>
            <a:picLocks noChangeAspect="1"/>
          </p:cNvPicPr>
          <p:nvPr/>
        </p:nvPicPr>
        <p:blipFill>
          <a:blip r:embed="rId3"/>
          <a:stretch>
            <a:fillRect/>
          </a:stretch>
        </p:blipFill>
        <p:spPr>
          <a:xfrm>
            <a:off x="6963047" y="3929169"/>
            <a:ext cx="1639707" cy="1743434"/>
          </a:xfrm>
          <a:prstGeom prst="rect">
            <a:avLst/>
          </a:prstGeom>
        </p:spPr>
      </p:pic>
    </p:spTree>
    <p:extLst>
      <p:ext uri="{BB962C8B-B14F-4D97-AF65-F5344CB8AC3E}">
        <p14:creationId xmlns:p14="http://schemas.microsoft.com/office/powerpoint/2010/main" val="805593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F6CB4DE6-D311-401B-B066-2D9BB1B34488}"/>
              </a:ext>
            </a:extLst>
          </p:cNvPr>
          <p:cNvGraphicFramePr>
            <a:graphicFrameLocks noGrp="1"/>
          </p:cNvGraphicFramePr>
          <p:nvPr>
            <p:extLst>
              <p:ext uri="{D42A27DB-BD31-4B8C-83A1-F6EECF244321}">
                <p14:modId xmlns:p14="http://schemas.microsoft.com/office/powerpoint/2010/main" val="2576707662"/>
              </p:ext>
            </p:extLst>
          </p:nvPr>
        </p:nvGraphicFramePr>
        <p:xfrm>
          <a:off x="176914" y="974522"/>
          <a:ext cx="9552171" cy="5248694"/>
        </p:xfrm>
        <a:graphic>
          <a:graphicData uri="http://schemas.openxmlformats.org/drawingml/2006/table">
            <a:tbl>
              <a:tblPr firstRow="1" bandRow="1">
                <a:tableStyleId>{5940675A-B579-460E-94D1-54222C63F5DA}</a:tableStyleId>
              </a:tblPr>
              <a:tblGrid>
                <a:gridCol w="889886">
                  <a:extLst>
                    <a:ext uri="{9D8B030D-6E8A-4147-A177-3AD203B41FA5}">
                      <a16:colId xmlns:a16="http://schemas.microsoft.com/office/drawing/2014/main" val="743303377"/>
                    </a:ext>
                  </a:extLst>
                </a:gridCol>
                <a:gridCol w="8662285">
                  <a:extLst>
                    <a:ext uri="{9D8B030D-6E8A-4147-A177-3AD203B41FA5}">
                      <a16:colId xmlns:a16="http://schemas.microsoft.com/office/drawing/2014/main" val="790174250"/>
                    </a:ext>
                  </a:extLst>
                </a:gridCol>
              </a:tblGrid>
              <a:tr h="60176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Definition</a:t>
                      </a: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Symmetric</a:t>
                      </a:r>
                      <a:r>
                        <a:rPr lang="en-US" sz="1200">
                          <a:latin typeface="Arial Narrow" panose="020B0606020202030204" pitchFamily="34" charset="0"/>
                        </a:rPr>
                        <a:t> : Sender &amp; Receiver use the same secret key.</a:t>
                      </a:r>
                      <a:endParaRPr lang="en-US" sz="1200" b="1">
                        <a:latin typeface="Arial Narrow" panose="020B06060202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Symmetric key</a:t>
                      </a:r>
                      <a:r>
                        <a:rPr lang="en-US" sz="1200">
                          <a:latin typeface="Arial Narrow" panose="020B0606020202030204" pitchFamily="34" charset="0"/>
                        </a:rPr>
                        <a:t> is a type of encryption where the </a:t>
                      </a:r>
                      <a:r>
                        <a:rPr lang="en-US" sz="1200" b="1">
                          <a:latin typeface="Arial Narrow" panose="020B0606020202030204" pitchFamily="34" charset="0"/>
                        </a:rPr>
                        <a:t>same key</a:t>
                      </a:r>
                      <a:r>
                        <a:rPr lang="en-US" sz="1200">
                          <a:latin typeface="Arial Narrow" panose="020B0606020202030204" pitchFamily="34" charset="0"/>
                        </a:rPr>
                        <a:t> is used for both </a:t>
                      </a:r>
                      <a:r>
                        <a:rPr lang="en-US" sz="1200" b="1">
                          <a:latin typeface="Arial Narrow" panose="020B0606020202030204" pitchFamily="34" charset="0"/>
                        </a:rPr>
                        <a:t>encryption and decryption</a:t>
                      </a:r>
                      <a:r>
                        <a:rPr lang="en-US" sz="1200">
                          <a:latin typeface="Arial Narrow" panose="020B0606020202030204" pitchFamily="34" charset="0"/>
                        </a:rPr>
                        <a:t> of data.</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Key </a:t>
                      </a:r>
                      <a:r>
                        <a:rPr lang="en-US" sz="1200" b="0">
                          <a:latin typeface="Arial Narrow" panose="020B0606020202030204" pitchFamily="34" charset="0"/>
                        </a:rPr>
                        <a:t>can be created by the sender or receiver and given to the other.</a:t>
                      </a:r>
                    </a:p>
                  </a:txBody>
                  <a:tcPr/>
                </a:tc>
                <a:extLst>
                  <a:ext uri="{0D108BD9-81ED-4DB2-BD59-A6C34878D82A}">
                    <a16:rowId xmlns:a16="http://schemas.microsoft.com/office/drawing/2014/main" val="2926055594"/>
                  </a:ext>
                </a:extLst>
              </a:tr>
              <a:tr h="460861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Process</a:t>
                      </a:r>
                      <a:endParaRPr lang="en-US" sz="1200" b="1">
                        <a:latin typeface="Arial Narrow" panose="020B0606020202030204" pitchFamily="34" charset="0"/>
                      </a:endParaRP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0" indent="0">
                        <a:buFont typeface="Arial" panose="020B0604020202020204" pitchFamily="34" charset="0"/>
                        <a:buNone/>
                      </a:pPr>
                      <a:endParaRPr lang="en-US" sz="1200">
                        <a:latin typeface="Arial Narrow" panose="020B0606020202030204" pitchFamily="34" charset="0"/>
                      </a:endParaRPr>
                    </a:p>
                  </a:txBody>
                  <a:tcPr/>
                </a:tc>
                <a:extLst>
                  <a:ext uri="{0D108BD9-81ED-4DB2-BD59-A6C34878D82A}">
                    <a16:rowId xmlns:a16="http://schemas.microsoft.com/office/drawing/2014/main" val="3000010585"/>
                  </a:ext>
                </a:extLst>
              </a:tr>
            </a:tbl>
          </a:graphicData>
        </a:graphic>
      </p:graphicFrame>
      <p:sp>
        <p:nvSpPr>
          <p:cNvPr id="3" name="Text Placeholder 2">
            <a:extLst>
              <a:ext uri="{FF2B5EF4-FFF2-40B4-BE49-F238E27FC236}">
                <a16:creationId xmlns:a16="http://schemas.microsoft.com/office/drawing/2014/main" id="{C14A1ACD-E76F-472C-B3EB-911DA0189404}"/>
              </a:ext>
            </a:extLst>
          </p:cNvPr>
          <p:cNvSpPr>
            <a:spLocks noGrp="1"/>
          </p:cNvSpPr>
          <p:nvPr>
            <p:ph type="body" sz="quarter" idx="11"/>
          </p:nvPr>
        </p:nvSpPr>
        <p:spPr/>
        <p:txBody>
          <a:bodyPr/>
          <a:lstStyle/>
          <a:p>
            <a:r>
              <a:rPr lang="en-US"/>
              <a:t>IV. Symmetric Key</a:t>
            </a:r>
          </a:p>
        </p:txBody>
      </p:sp>
      <p:pic>
        <p:nvPicPr>
          <p:cNvPr id="6" name="Picture 5">
            <a:hlinkClick r:id="rId2" action="ppaction://hlinksldjump"/>
            <a:extLst>
              <a:ext uri="{FF2B5EF4-FFF2-40B4-BE49-F238E27FC236}">
                <a16:creationId xmlns:a16="http://schemas.microsoft.com/office/drawing/2014/main" id="{7AB37E2C-6945-41AD-B992-582553A26DAD}"/>
              </a:ext>
            </a:extLst>
          </p:cNvPr>
          <p:cNvPicPr>
            <a:picLocks noChangeAspect="1"/>
          </p:cNvPicPr>
          <p:nvPr/>
        </p:nvPicPr>
        <p:blipFill>
          <a:blip r:embed="rId3"/>
          <a:stretch>
            <a:fillRect/>
          </a:stretch>
        </p:blipFill>
        <p:spPr>
          <a:xfrm>
            <a:off x="1126469" y="2615760"/>
            <a:ext cx="2821954" cy="1966217"/>
          </a:xfrm>
          <a:prstGeom prst="rect">
            <a:avLst/>
          </a:prstGeom>
        </p:spPr>
      </p:pic>
      <p:sp>
        <p:nvSpPr>
          <p:cNvPr id="10" name="TextBox 9">
            <a:extLst>
              <a:ext uri="{FF2B5EF4-FFF2-40B4-BE49-F238E27FC236}">
                <a16:creationId xmlns:a16="http://schemas.microsoft.com/office/drawing/2014/main" id="{0F214F63-03BA-467B-AC6B-2BC862D5FBDA}"/>
              </a:ext>
            </a:extLst>
          </p:cNvPr>
          <p:cNvSpPr txBox="1"/>
          <p:nvPr/>
        </p:nvSpPr>
        <p:spPr>
          <a:xfrm>
            <a:off x="4018273" y="2721706"/>
            <a:ext cx="5710812" cy="1754326"/>
          </a:xfrm>
          <a:prstGeom prst="rect">
            <a:avLst/>
          </a:prstGeom>
          <a:noFill/>
        </p:spPr>
        <p:txBody>
          <a:bodyPr wrap="square" rtlCol="0">
            <a:spAutoFit/>
          </a:bodyPr>
          <a:lstStyle/>
          <a:p>
            <a:r>
              <a:rPr lang="en-US" sz="1200">
                <a:latin typeface="Arial Narrow" panose="020B0606020202030204" pitchFamily="34" charset="0"/>
              </a:rPr>
              <a:t>1. Alvin has Plaintext, he use </a:t>
            </a:r>
            <a:r>
              <a:rPr lang="en-US" sz="1200" b="1">
                <a:latin typeface="Arial Narrow" panose="020B0606020202030204" pitchFamily="34" charset="0"/>
              </a:rPr>
              <a:t>Encryption Algorithm</a:t>
            </a:r>
            <a:r>
              <a:rPr lang="en-US" sz="1200">
                <a:latin typeface="Arial Narrow" panose="020B0606020202030204" pitchFamily="34" charset="0"/>
              </a:rPr>
              <a:t> + </a:t>
            </a:r>
            <a:r>
              <a:rPr lang="en-US" sz="1200" b="1">
                <a:latin typeface="Arial Narrow" panose="020B0606020202030204" pitchFamily="34" charset="0"/>
              </a:rPr>
              <a:t>Key</a:t>
            </a:r>
            <a:r>
              <a:rPr lang="en-US" sz="1200">
                <a:latin typeface="Arial Narrow" panose="020B0606020202030204" pitchFamily="34" charset="0"/>
              </a:rPr>
              <a:t> convert Plaintext </a:t>
            </a:r>
            <a:r>
              <a:rPr lang="en-US" sz="1200">
                <a:latin typeface="Arial Narrow" panose="020B0606020202030204" pitchFamily="34" charset="0"/>
                <a:sym typeface="Wingdings" panose="05000000000000000000" pitchFamily="2" charset="2"/>
              </a:rPr>
              <a:t> Ciphertext.</a:t>
            </a:r>
          </a:p>
          <a:p>
            <a:pPr marL="400050" indent="-400050">
              <a:buFont typeface="+mj-lt"/>
              <a:buAutoNum type="romanLcPeriod"/>
            </a:pPr>
            <a:endParaRPr lang="en-US" sz="1200">
              <a:latin typeface="Arial Narrow" panose="020B0606020202030204" pitchFamily="34" charset="0"/>
            </a:endParaRPr>
          </a:p>
          <a:p>
            <a:r>
              <a:rPr lang="en-US" sz="1200">
                <a:latin typeface="Arial Narrow" panose="020B0606020202030204" pitchFamily="34" charset="0"/>
              </a:rPr>
              <a:t>2. Alvin send Ciphertext over the communication chanel to Audrey.</a:t>
            </a:r>
          </a:p>
          <a:p>
            <a:pPr marL="400050" indent="-400050">
              <a:buFont typeface="+mj-lt"/>
              <a:buAutoNum type="romanLcPeriod"/>
            </a:pPr>
            <a:endParaRPr lang="en-US" sz="1200">
              <a:latin typeface="Arial Narrow" panose="020B0606020202030204" pitchFamily="34" charset="0"/>
            </a:endParaRPr>
          </a:p>
          <a:p>
            <a:r>
              <a:rPr lang="en-US" sz="1200">
                <a:latin typeface="Arial Narrow" panose="020B0606020202030204" pitchFamily="34" charset="0"/>
              </a:rPr>
              <a:t>3. Audrey receive Ciphertext, she use </a:t>
            </a:r>
            <a:r>
              <a:rPr lang="en-US" sz="1200" b="1">
                <a:latin typeface="Arial Narrow" panose="020B0606020202030204" pitchFamily="34" charset="0"/>
              </a:rPr>
              <a:t>Decryption Algorithm </a:t>
            </a:r>
            <a:r>
              <a:rPr lang="en-US" sz="1200">
                <a:latin typeface="Arial Narrow" panose="020B0606020202030204" pitchFamily="34" charset="0"/>
              </a:rPr>
              <a:t>+ </a:t>
            </a:r>
            <a:r>
              <a:rPr lang="en-US" sz="1200" b="1">
                <a:latin typeface="Arial Narrow" panose="020B0606020202030204" pitchFamily="34" charset="0"/>
              </a:rPr>
              <a:t>Key </a:t>
            </a:r>
            <a:r>
              <a:rPr lang="en-US" sz="1200">
                <a:latin typeface="Arial Narrow" panose="020B0606020202030204" pitchFamily="34" charset="0"/>
              </a:rPr>
              <a:t>convert Ciphertext </a:t>
            </a:r>
            <a:r>
              <a:rPr lang="en-US" sz="1200">
                <a:latin typeface="Arial Narrow" panose="020B0606020202030204" pitchFamily="34" charset="0"/>
                <a:sym typeface="Wingdings" panose="05000000000000000000" pitchFamily="2" charset="2"/>
              </a:rPr>
              <a:t> Plaintext.</a:t>
            </a:r>
          </a:p>
          <a:p>
            <a:pPr marL="400050" indent="-400050">
              <a:buFont typeface="+mj-lt"/>
              <a:buAutoNum type="romanLcPeriod"/>
            </a:pPr>
            <a:endParaRPr lang="en-US" sz="1200">
              <a:latin typeface="Arial Narrow" panose="020B0606020202030204" pitchFamily="34" charset="0"/>
              <a:sym typeface="Wingdings" panose="05000000000000000000" pitchFamily="2" charset="2"/>
            </a:endParaRPr>
          </a:p>
          <a:p>
            <a:r>
              <a:rPr lang="en-US" sz="1200">
                <a:latin typeface="Arial Narrow" panose="020B0606020202030204" pitchFamily="34" charset="0"/>
                <a:sym typeface="Wingdings" panose="05000000000000000000" pitchFamily="2" charset="2"/>
              </a:rPr>
              <a:t>4. Eve can steal data on the communication channel but doesn’t have the </a:t>
            </a:r>
            <a:r>
              <a:rPr lang="en-US" sz="1200" b="1">
                <a:latin typeface="Arial Narrow" panose="020B0606020202030204" pitchFamily="34" charset="0"/>
                <a:sym typeface="Wingdings" panose="05000000000000000000" pitchFamily="2" charset="2"/>
              </a:rPr>
              <a:t>Key</a:t>
            </a:r>
            <a:r>
              <a:rPr lang="en-US" sz="1200">
                <a:latin typeface="Arial Narrow" panose="020B0606020202030204" pitchFamily="34" charset="0"/>
                <a:sym typeface="Wingdings" panose="05000000000000000000" pitchFamily="2" charset="2"/>
              </a:rPr>
              <a:t> to convert ciphertext -&gt; plaintext  she cannot understand the message Alvin sent to Audrey.</a:t>
            </a:r>
            <a:endParaRPr lang="en-US" sz="1200">
              <a:latin typeface="Arial Narrow" panose="020B0606020202030204" pitchFamily="34" charset="0"/>
            </a:endParaRPr>
          </a:p>
        </p:txBody>
      </p:sp>
    </p:spTree>
    <p:extLst>
      <p:ext uri="{BB962C8B-B14F-4D97-AF65-F5344CB8AC3E}">
        <p14:creationId xmlns:p14="http://schemas.microsoft.com/office/powerpoint/2010/main" val="404615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C9A33B22-10BD-4748-88FC-61CEA85A2054}"/>
              </a:ext>
            </a:extLst>
          </p:cNvPr>
          <p:cNvGraphicFramePr>
            <a:graphicFrameLocks noGrp="1"/>
          </p:cNvGraphicFramePr>
          <p:nvPr>
            <p:extLst>
              <p:ext uri="{D42A27DB-BD31-4B8C-83A1-F6EECF244321}">
                <p14:modId xmlns:p14="http://schemas.microsoft.com/office/powerpoint/2010/main" val="3554617044"/>
              </p:ext>
            </p:extLst>
          </p:nvPr>
        </p:nvGraphicFramePr>
        <p:xfrm>
          <a:off x="176915" y="805396"/>
          <a:ext cx="9552171" cy="5596458"/>
        </p:xfrm>
        <a:graphic>
          <a:graphicData uri="http://schemas.openxmlformats.org/drawingml/2006/table">
            <a:tbl>
              <a:tblPr firstRow="1" bandRow="1">
                <a:tableStyleId>{5940675A-B579-460E-94D1-54222C63F5DA}</a:tableStyleId>
              </a:tblPr>
              <a:tblGrid>
                <a:gridCol w="889886">
                  <a:extLst>
                    <a:ext uri="{9D8B030D-6E8A-4147-A177-3AD203B41FA5}">
                      <a16:colId xmlns:a16="http://schemas.microsoft.com/office/drawing/2014/main" val="743303377"/>
                    </a:ext>
                  </a:extLst>
                </a:gridCol>
                <a:gridCol w="8662285">
                  <a:extLst>
                    <a:ext uri="{9D8B030D-6E8A-4147-A177-3AD203B41FA5}">
                      <a16:colId xmlns:a16="http://schemas.microsoft.com/office/drawing/2014/main" val="790174250"/>
                    </a:ext>
                  </a:extLst>
                </a:gridCol>
              </a:tblGrid>
              <a:tr h="788886">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Definition</a:t>
                      </a: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MAC </a:t>
                      </a:r>
                      <a:r>
                        <a:rPr lang="en-US" sz="1200" b="0">
                          <a:latin typeface="Arial Narrow" panose="020B0606020202030204" pitchFamily="34" charset="0"/>
                        </a:rPr>
                        <a:t>(Message Authentication Code) is a short information used to verify the </a:t>
                      </a:r>
                      <a:r>
                        <a:rPr lang="en-US" sz="1200" b="1">
                          <a:latin typeface="Arial Narrow" panose="020B0606020202030204" pitchFamily="34" charset="0"/>
                        </a:rPr>
                        <a:t>integrity</a:t>
                      </a:r>
                      <a:r>
                        <a:rPr lang="en-US" sz="1200" b="0">
                          <a:latin typeface="Arial Narrow" panose="020B0606020202030204" pitchFamily="34" charset="0"/>
                        </a:rPr>
                        <a:t> and </a:t>
                      </a:r>
                      <a:r>
                        <a:rPr lang="en-US" sz="1200" b="1">
                          <a:latin typeface="Arial Narrow" panose="020B0606020202030204" pitchFamily="34" charset="0"/>
                        </a:rPr>
                        <a:t>authenticity</a:t>
                      </a:r>
                      <a:r>
                        <a:rPr lang="en-US" sz="1200" b="0">
                          <a:latin typeface="Arial Narrow" panose="020B0606020202030204" pitchFamily="34" charset="0"/>
                        </a:rPr>
                        <a:t> of a message.</a:t>
                      </a:r>
                      <a:endParaRPr lang="en-US" sz="1200" b="1">
                        <a:latin typeface="Arial Narrow" panose="020B06060202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0">
                          <a:latin typeface="Arial Narrow" panose="020B0606020202030204" pitchFamily="34" charset="0"/>
                        </a:rPr>
                        <a:t>It is generated by applying a secret key &amp; message: </a:t>
                      </a:r>
                      <a:r>
                        <a:rPr lang="en-US" sz="1200" b="1">
                          <a:latin typeface="Arial Narrow" panose="020B0606020202030204" pitchFamily="34" charset="0"/>
                        </a:rPr>
                        <a:t>MAC</a:t>
                      </a:r>
                      <a:r>
                        <a:rPr lang="en-US" sz="1200" b="0">
                          <a:latin typeface="Arial Narrow" panose="020B0606020202030204" pitchFamily="34" charset="0"/>
                        </a:rPr>
                        <a:t> = Algorithm(</a:t>
                      </a:r>
                      <a:r>
                        <a:rPr lang="en-US" sz="1200" b="1">
                          <a:latin typeface="Arial Narrow" panose="020B0606020202030204" pitchFamily="34" charset="0"/>
                        </a:rPr>
                        <a:t>Key</a:t>
                      </a:r>
                      <a:r>
                        <a:rPr lang="en-US" sz="1200" b="0">
                          <a:latin typeface="Arial Narrow" panose="020B0606020202030204" pitchFamily="34" charset="0"/>
                        </a:rPr>
                        <a:t>,</a:t>
                      </a:r>
                      <a:r>
                        <a:rPr lang="en-US" sz="1200" b="1">
                          <a:latin typeface="Arial Narrow" panose="020B0606020202030204" pitchFamily="34" charset="0"/>
                        </a:rPr>
                        <a:t> Message</a:t>
                      </a:r>
                      <a:r>
                        <a:rPr lang="en-US" sz="1200" b="0">
                          <a:latin typeface="Arial Narrow" panose="020B060602020203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0">
                          <a:latin typeface="Arial Narrow" panose="020B0606020202030204" pitchFamily="34" charset="0"/>
                        </a:rPr>
                        <a:t>If even a single bit of the message changes, the MAC will also change </a:t>
                      </a:r>
                      <a:r>
                        <a:rPr lang="en-US" sz="1200" b="0">
                          <a:latin typeface="Arial Narrow" panose="020B0606020202030204" pitchFamily="34" charset="0"/>
                          <a:sym typeface="Wingdings" panose="05000000000000000000" pitchFamily="2" charset="2"/>
                        </a:rPr>
                        <a:t> Detection of forgery, alteration, or content discrepancy</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0">
                          <a:latin typeface="Arial Narrow" panose="020B0606020202030204" pitchFamily="34" charset="0"/>
                        </a:rPr>
                        <a:t>MAC doesn’t encrypt or hide message.</a:t>
                      </a:r>
                    </a:p>
                  </a:txBody>
                  <a:tcPr/>
                </a:tc>
                <a:extLst>
                  <a:ext uri="{0D108BD9-81ED-4DB2-BD59-A6C34878D82A}">
                    <a16:rowId xmlns:a16="http://schemas.microsoft.com/office/drawing/2014/main" val="2926055594"/>
                  </a:ext>
                </a:extLst>
              </a:tr>
              <a:tr h="1509598">
                <a:tc rowSpan="2">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Example</a:t>
                      </a:r>
                      <a:endParaRPr lang="en-US" sz="1200" b="1">
                        <a:latin typeface="Arial Narrow" panose="020B0606020202030204" pitchFamily="34" charset="0"/>
                      </a:endParaRP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0" indent="0">
                        <a:buFont typeface="Arial" panose="020B0604020202020204" pitchFamily="34" charset="0"/>
                        <a:buNone/>
                      </a:pPr>
                      <a:endParaRPr lang="en-US" sz="1200">
                        <a:latin typeface="Arial Narrow" panose="020B0606020202030204" pitchFamily="34" charset="0"/>
                      </a:endParaRPr>
                    </a:p>
                  </a:txBody>
                  <a:tcPr/>
                </a:tc>
                <a:extLst>
                  <a:ext uri="{0D108BD9-81ED-4DB2-BD59-A6C34878D82A}">
                    <a16:rowId xmlns:a16="http://schemas.microsoft.com/office/drawing/2014/main" val="3000010585"/>
                  </a:ext>
                </a:extLst>
              </a:tr>
              <a:tr h="3263900">
                <a:tc vMerge="1">
                  <a:txBody>
                    <a:bodyPr/>
                    <a:lstStyle/>
                    <a:p>
                      <a:endParaRPr lang="en-US"/>
                    </a:p>
                  </a:txBody>
                  <a:tcPr/>
                </a:tc>
                <a:tc>
                  <a:txBody>
                    <a:bodyPr/>
                    <a:lstStyle/>
                    <a:p>
                      <a:pPr marL="0" indent="0">
                        <a:buFont typeface="Arial" panose="020B0604020202020204" pitchFamily="34" charset="0"/>
                        <a:buNone/>
                      </a:pPr>
                      <a:endParaRPr lang="en-US" sz="1200">
                        <a:latin typeface="Arial Narrow" panose="020B0606020202030204" pitchFamily="34" charset="0"/>
                      </a:endParaRPr>
                    </a:p>
                  </a:txBody>
                  <a:tcPr/>
                </a:tc>
                <a:extLst>
                  <a:ext uri="{0D108BD9-81ED-4DB2-BD59-A6C34878D82A}">
                    <a16:rowId xmlns:a16="http://schemas.microsoft.com/office/drawing/2014/main" val="4292510302"/>
                  </a:ext>
                </a:extLst>
              </a:tr>
            </a:tbl>
          </a:graphicData>
        </a:graphic>
      </p:graphicFrame>
      <p:sp>
        <p:nvSpPr>
          <p:cNvPr id="3" name="Text Placeholder 2">
            <a:extLst>
              <a:ext uri="{FF2B5EF4-FFF2-40B4-BE49-F238E27FC236}">
                <a16:creationId xmlns:a16="http://schemas.microsoft.com/office/drawing/2014/main" id="{4755E545-197C-47EB-A1CD-9E91C9B5D918}"/>
              </a:ext>
            </a:extLst>
          </p:cNvPr>
          <p:cNvSpPr>
            <a:spLocks noGrp="1"/>
          </p:cNvSpPr>
          <p:nvPr>
            <p:ph type="body" sz="quarter" idx="11"/>
          </p:nvPr>
        </p:nvSpPr>
        <p:spPr/>
        <p:txBody>
          <a:bodyPr/>
          <a:lstStyle/>
          <a:p>
            <a:r>
              <a:rPr lang="en-US"/>
              <a:t>V. MAC (Message Authentication Code) </a:t>
            </a:r>
          </a:p>
        </p:txBody>
      </p:sp>
      <p:sp>
        <p:nvSpPr>
          <p:cNvPr id="10" name="TextBox 9">
            <a:extLst>
              <a:ext uri="{FF2B5EF4-FFF2-40B4-BE49-F238E27FC236}">
                <a16:creationId xmlns:a16="http://schemas.microsoft.com/office/drawing/2014/main" id="{439B1039-6D70-4B45-813C-F5B02985568F}"/>
              </a:ext>
            </a:extLst>
          </p:cNvPr>
          <p:cNvSpPr txBox="1"/>
          <p:nvPr/>
        </p:nvSpPr>
        <p:spPr>
          <a:xfrm>
            <a:off x="3387444" y="1611827"/>
            <a:ext cx="6341641" cy="1015663"/>
          </a:xfrm>
          <a:prstGeom prst="rect">
            <a:avLst/>
          </a:prstGeom>
          <a:noFill/>
        </p:spPr>
        <p:txBody>
          <a:bodyPr wrap="square" rtlCol="0">
            <a:spAutoFit/>
          </a:bodyPr>
          <a:lstStyle/>
          <a:p>
            <a:pPr marL="171450" indent="-171450">
              <a:buFont typeface="Wingdings" panose="05000000000000000000" pitchFamily="2" charset="2"/>
              <a:buChar char="q"/>
            </a:pPr>
            <a:r>
              <a:rPr lang="en-US" sz="1200">
                <a:latin typeface="Arial Narrow" panose="020B0606020202030204" pitchFamily="34" charset="0"/>
              </a:rPr>
              <a:t>Without</a:t>
            </a:r>
            <a:r>
              <a:rPr lang="en-US" sz="1200" b="1">
                <a:latin typeface="Arial Narrow" panose="020B0606020202030204" pitchFamily="34" charset="0"/>
              </a:rPr>
              <a:t> MAC</a:t>
            </a:r>
            <a:r>
              <a:rPr lang="en-US" sz="1200">
                <a:latin typeface="Arial Narrow" panose="020B0606020202030204" pitchFamily="34" charset="0"/>
              </a:rPr>
              <a:t>: </a:t>
            </a:r>
          </a:p>
          <a:p>
            <a:pPr marL="171450" indent="-171450">
              <a:buFont typeface="Wingdings" panose="05000000000000000000" pitchFamily="2" charset="2"/>
              <a:buChar char="q"/>
            </a:pPr>
            <a:endParaRPr lang="en-US" sz="1200">
              <a:latin typeface="Arial Narrow" panose="020B0606020202030204" pitchFamily="34" charset="0"/>
            </a:endParaRPr>
          </a:p>
          <a:p>
            <a:pPr marL="171450" indent="-171450">
              <a:buFont typeface="Arial" panose="020B0604020202020204" pitchFamily="34" charset="0"/>
              <a:buChar char="•"/>
            </a:pPr>
            <a:r>
              <a:rPr lang="en-US" sz="1200">
                <a:latin typeface="Arial Narrow" panose="020B0606020202030204" pitchFamily="34" charset="0"/>
              </a:rPr>
              <a:t>Alvin send plaintext message to Audrey </a:t>
            </a:r>
            <a:r>
              <a:rPr lang="en-US" sz="1200">
                <a:latin typeface="Arial Narrow" panose="020B0606020202030204" pitchFamily="34" charset="0"/>
                <a:sym typeface="Wingdings" panose="05000000000000000000" pitchFamily="2" charset="2"/>
              </a:rPr>
              <a:t> Eve can steal message and modify it easily , then sent it to Audrey.</a:t>
            </a:r>
          </a:p>
          <a:p>
            <a:pPr marL="171450" indent="-171450">
              <a:buFont typeface="Arial" panose="020B0604020202020204" pitchFamily="34" charset="0"/>
              <a:buChar char="•"/>
            </a:pPr>
            <a:r>
              <a:rPr lang="en-US" sz="1200">
                <a:latin typeface="Arial Narrow" panose="020B0606020202030204" pitchFamily="34" charset="0"/>
                <a:sym typeface="Wingdings" panose="05000000000000000000" pitchFamily="2" charset="2"/>
              </a:rPr>
              <a:t>Audrey receives the altered message, but does not know it has been altered.</a:t>
            </a:r>
            <a:endParaRPr lang="en-US" sz="1200">
              <a:latin typeface="Arial Narrow" panose="020B0606020202030204" pitchFamily="34" charset="0"/>
            </a:endParaRPr>
          </a:p>
        </p:txBody>
      </p:sp>
      <p:sp>
        <p:nvSpPr>
          <p:cNvPr id="11" name="TextBox 10">
            <a:extLst>
              <a:ext uri="{FF2B5EF4-FFF2-40B4-BE49-F238E27FC236}">
                <a16:creationId xmlns:a16="http://schemas.microsoft.com/office/drawing/2014/main" id="{2E764470-5BBF-489E-BA0D-12590404A29A}"/>
              </a:ext>
            </a:extLst>
          </p:cNvPr>
          <p:cNvSpPr txBox="1"/>
          <p:nvPr/>
        </p:nvSpPr>
        <p:spPr>
          <a:xfrm>
            <a:off x="3387441" y="3266348"/>
            <a:ext cx="6341641" cy="1569660"/>
          </a:xfrm>
          <a:prstGeom prst="rect">
            <a:avLst/>
          </a:prstGeom>
          <a:noFill/>
        </p:spPr>
        <p:txBody>
          <a:bodyPr wrap="square" rtlCol="0">
            <a:spAutoFit/>
          </a:bodyPr>
          <a:lstStyle/>
          <a:p>
            <a:pPr marL="171450" indent="-171450">
              <a:buFont typeface="Wingdings" panose="05000000000000000000" pitchFamily="2" charset="2"/>
              <a:buChar char="q"/>
            </a:pPr>
            <a:r>
              <a:rPr lang="en-US" sz="1200">
                <a:latin typeface="Arial Narrow" panose="020B0606020202030204" pitchFamily="34" charset="0"/>
              </a:rPr>
              <a:t>With </a:t>
            </a:r>
            <a:r>
              <a:rPr lang="en-US" sz="1200" b="1">
                <a:latin typeface="Arial Narrow" panose="020B0606020202030204" pitchFamily="34" charset="0"/>
              </a:rPr>
              <a:t>MAC</a:t>
            </a:r>
            <a:r>
              <a:rPr lang="en-US" sz="1200">
                <a:latin typeface="Arial Narrow" panose="020B0606020202030204" pitchFamily="34" charset="0"/>
              </a:rPr>
              <a:t>:</a:t>
            </a:r>
          </a:p>
          <a:p>
            <a:pPr marL="171450" indent="-171450">
              <a:buFont typeface="Arial" panose="020B0604020202020204" pitchFamily="34" charset="0"/>
              <a:buChar char="•"/>
            </a:pPr>
            <a:r>
              <a:rPr lang="en-US" sz="1200">
                <a:latin typeface="Arial Narrow" panose="020B0606020202030204" pitchFamily="34" charset="0"/>
              </a:rPr>
              <a:t>Alvin use Secret Key (was shared with Eve) and Plaintext message to generate MAC and send to Audrey.</a:t>
            </a:r>
          </a:p>
          <a:p>
            <a:pPr marL="171450" indent="-171450">
              <a:buFont typeface="Arial" panose="020B0604020202020204" pitchFamily="34" charset="0"/>
              <a:buChar char="•"/>
            </a:pPr>
            <a:r>
              <a:rPr lang="en-US" sz="1200">
                <a:latin typeface="Arial Narrow" panose="020B0606020202030204" pitchFamily="34" charset="0"/>
              </a:rPr>
              <a:t>Audrey received message and use same Secret Key to verify the MAC:</a:t>
            </a:r>
          </a:p>
          <a:p>
            <a:pPr marL="171450" indent="-171450">
              <a:buFontTx/>
              <a:buChar char="-"/>
            </a:pPr>
            <a:r>
              <a:rPr lang="en-US" sz="1200">
                <a:latin typeface="Arial Narrow" panose="020B0606020202030204" pitchFamily="34" charset="0"/>
              </a:rPr>
              <a:t>If Match she can she can be sure that the message is from Alvin and has not been modified.</a:t>
            </a:r>
          </a:p>
          <a:p>
            <a:pPr marL="171450" indent="-171450">
              <a:buFontTx/>
              <a:buChar char="-"/>
            </a:pPr>
            <a:r>
              <a:rPr lang="en-US" sz="1200">
                <a:latin typeface="Arial Narrow" panose="020B0606020202030204" pitchFamily="34" charset="0"/>
              </a:rPr>
              <a:t>If Mismatch the message is not from Alvin or has been modified (by Eve in this example).</a:t>
            </a:r>
          </a:p>
          <a:p>
            <a:pPr marL="171450" indent="-171450">
              <a:buFont typeface="Arial" panose="020B0604020202020204" pitchFamily="34" charset="0"/>
              <a:buChar char="•"/>
            </a:pPr>
            <a:endParaRPr lang="en-US" sz="1200">
              <a:latin typeface="Arial Narrow" panose="020B0606020202030204" pitchFamily="34" charset="0"/>
            </a:endParaRPr>
          </a:p>
          <a:p>
            <a:pPr marL="171450" indent="-171450">
              <a:buFont typeface="Arial" panose="020B0604020202020204" pitchFamily="34" charset="0"/>
              <a:buChar char="•"/>
            </a:pPr>
            <a:endParaRPr lang="en-US" sz="1200">
              <a:latin typeface="Arial Narrow" panose="020B0606020202030204" pitchFamily="34" charset="0"/>
            </a:endParaRPr>
          </a:p>
          <a:p>
            <a:pPr marL="171450" indent="-171450">
              <a:buFont typeface="Arial" panose="020B0604020202020204" pitchFamily="34" charset="0"/>
              <a:buChar char="•"/>
            </a:pPr>
            <a:endParaRPr lang="en-US" sz="1200">
              <a:latin typeface="Arial Narrow" panose="020B0606020202030204" pitchFamily="34" charset="0"/>
            </a:endParaRPr>
          </a:p>
        </p:txBody>
      </p:sp>
      <p:grpSp>
        <p:nvGrpSpPr>
          <p:cNvPr id="21" name="Group 20">
            <a:extLst>
              <a:ext uri="{FF2B5EF4-FFF2-40B4-BE49-F238E27FC236}">
                <a16:creationId xmlns:a16="http://schemas.microsoft.com/office/drawing/2014/main" id="{E2EABB26-7956-4CD0-B573-6E24194BD93B}"/>
              </a:ext>
            </a:extLst>
          </p:cNvPr>
          <p:cNvGrpSpPr/>
          <p:nvPr/>
        </p:nvGrpSpPr>
        <p:grpSpPr>
          <a:xfrm>
            <a:off x="1283092" y="1779056"/>
            <a:ext cx="2251275" cy="4540061"/>
            <a:chOff x="1283092" y="1779056"/>
            <a:chExt cx="2251275" cy="4540061"/>
          </a:xfrm>
        </p:grpSpPr>
        <p:pic>
          <p:nvPicPr>
            <p:cNvPr id="4" name="Picture 3">
              <a:extLst>
                <a:ext uri="{FF2B5EF4-FFF2-40B4-BE49-F238E27FC236}">
                  <a16:creationId xmlns:a16="http://schemas.microsoft.com/office/drawing/2014/main" id="{AFBC5017-9F90-4601-813B-75C8A5899E9D}"/>
                </a:ext>
              </a:extLst>
            </p:cNvPr>
            <p:cNvPicPr>
              <a:picLocks noChangeAspect="1"/>
            </p:cNvPicPr>
            <p:nvPr/>
          </p:nvPicPr>
          <p:blipFill>
            <a:blip r:embed="rId2"/>
            <a:stretch>
              <a:fillRect/>
            </a:stretch>
          </p:blipFill>
          <p:spPr>
            <a:xfrm>
              <a:off x="1283092" y="1779056"/>
              <a:ext cx="2143014" cy="1282710"/>
            </a:xfrm>
            <a:prstGeom prst="rect">
              <a:avLst/>
            </a:prstGeom>
          </p:spPr>
        </p:pic>
        <p:pic>
          <p:nvPicPr>
            <p:cNvPr id="6" name="Picture 5">
              <a:hlinkClick r:id="rId3" action="ppaction://hlinksldjump"/>
              <a:extLst>
                <a:ext uri="{FF2B5EF4-FFF2-40B4-BE49-F238E27FC236}">
                  <a16:creationId xmlns:a16="http://schemas.microsoft.com/office/drawing/2014/main" id="{9C7F4E17-0B3D-433A-BD60-38B1FE691860}"/>
                </a:ext>
              </a:extLst>
            </p:cNvPr>
            <p:cNvPicPr>
              <a:picLocks noChangeAspect="1"/>
            </p:cNvPicPr>
            <p:nvPr/>
          </p:nvPicPr>
          <p:blipFill>
            <a:blip r:embed="rId4"/>
            <a:stretch>
              <a:fillRect/>
            </a:stretch>
          </p:blipFill>
          <p:spPr>
            <a:xfrm>
              <a:off x="1283092" y="3266348"/>
              <a:ext cx="2104349" cy="1454712"/>
            </a:xfrm>
            <a:prstGeom prst="rect">
              <a:avLst/>
            </a:prstGeom>
          </p:spPr>
        </p:pic>
        <p:grpSp>
          <p:nvGrpSpPr>
            <p:cNvPr id="18" name="Group 17">
              <a:extLst>
                <a:ext uri="{FF2B5EF4-FFF2-40B4-BE49-F238E27FC236}">
                  <a16:creationId xmlns:a16="http://schemas.microsoft.com/office/drawing/2014/main" id="{55115398-E8BF-465F-A3F2-07CED4089F0A}"/>
                </a:ext>
              </a:extLst>
            </p:cNvPr>
            <p:cNvGrpSpPr/>
            <p:nvPr/>
          </p:nvGrpSpPr>
          <p:grpSpPr>
            <a:xfrm>
              <a:off x="1283092" y="4925643"/>
              <a:ext cx="2251275" cy="1393474"/>
              <a:chOff x="1215825" y="3258653"/>
              <a:chExt cx="2251275" cy="1393474"/>
            </a:xfrm>
          </p:grpSpPr>
          <p:pic>
            <p:nvPicPr>
              <p:cNvPr id="5" name="Picture 4">
                <a:extLst>
                  <a:ext uri="{FF2B5EF4-FFF2-40B4-BE49-F238E27FC236}">
                    <a16:creationId xmlns:a16="http://schemas.microsoft.com/office/drawing/2014/main" id="{96A834FE-C8D1-4619-8625-1A86BBC7C34E}"/>
                  </a:ext>
                </a:extLst>
              </p:cNvPr>
              <p:cNvPicPr>
                <a:picLocks noChangeAspect="1"/>
              </p:cNvPicPr>
              <p:nvPr/>
            </p:nvPicPr>
            <p:blipFill rotWithShape="1">
              <a:blip r:embed="rId5"/>
              <a:srcRect r="1843" b="30367"/>
              <a:stretch/>
            </p:blipFill>
            <p:spPr>
              <a:xfrm>
                <a:off x="1283092" y="3258653"/>
                <a:ext cx="2184008" cy="1025811"/>
              </a:xfrm>
              <a:prstGeom prst="rect">
                <a:avLst/>
              </a:prstGeom>
            </p:spPr>
          </p:pic>
          <p:pic>
            <p:nvPicPr>
              <p:cNvPr id="17" name="Picture 16">
                <a:extLst>
                  <a:ext uri="{FF2B5EF4-FFF2-40B4-BE49-F238E27FC236}">
                    <a16:creationId xmlns:a16="http://schemas.microsoft.com/office/drawing/2014/main" id="{C5EBACED-986E-4983-A141-87C600DA7513}"/>
                  </a:ext>
                </a:extLst>
              </p:cNvPr>
              <p:cNvPicPr>
                <a:picLocks noChangeAspect="1"/>
              </p:cNvPicPr>
              <p:nvPr/>
            </p:nvPicPr>
            <p:blipFill>
              <a:blip r:embed="rId6"/>
              <a:stretch>
                <a:fillRect/>
              </a:stretch>
            </p:blipFill>
            <p:spPr>
              <a:xfrm>
                <a:off x="2621246" y="4292897"/>
                <a:ext cx="733023" cy="359230"/>
              </a:xfrm>
              <a:prstGeom prst="rect">
                <a:avLst/>
              </a:prstGeom>
            </p:spPr>
          </p:pic>
          <p:pic>
            <p:nvPicPr>
              <p:cNvPr id="24" name="Picture 23">
                <a:extLst>
                  <a:ext uri="{FF2B5EF4-FFF2-40B4-BE49-F238E27FC236}">
                    <a16:creationId xmlns:a16="http://schemas.microsoft.com/office/drawing/2014/main" id="{32E3FA2C-E1F6-4734-9A22-362DE4593E18}"/>
                  </a:ext>
                </a:extLst>
              </p:cNvPr>
              <p:cNvPicPr>
                <a:picLocks noChangeAspect="1"/>
              </p:cNvPicPr>
              <p:nvPr/>
            </p:nvPicPr>
            <p:blipFill>
              <a:blip r:embed="rId6"/>
              <a:stretch>
                <a:fillRect/>
              </a:stretch>
            </p:blipFill>
            <p:spPr>
              <a:xfrm>
                <a:off x="1215825" y="4292897"/>
                <a:ext cx="733023" cy="359230"/>
              </a:xfrm>
              <a:prstGeom prst="rect">
                <a:avLst/>
              </a:prstGeom>
            </p:spPr>
          </p:pic>
        </p:grpSp>
      </p:grpSp>
    </p:spTree>
    <p:extLst>
      <p:ext uri="{BB962C8B-B14F-4D97-AF65-F5344CB8AC3E}">
        <p14:creationId xmlns:p14="http://schemas.microsoft.com/office/powerpoint/2010/main" val="2191992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250BBE4C-8A79-4988-9872-6B4CA4B45D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7545" y="741022"/>
            <a:ext cx="3627544" cy="5375956"/>
          </a:xfrm>
          <a:prstGeom prst="rect">
            <a:avLst/>
          </a:prstGeom>
        </p:spPr>
      </p:pic>
      <p:sp>
        <p:nvSpPr>
          <p:cNvPr id="16" name="Text Placeholder 15">
            <a:extLst>
              <a:ext uri="{FF2B5EF4-FFF2-40B4-BE49-F238E27FC236}">
                <a16:creationId xmlns:a16="http://schemas.microsoft.com/office/drawing/2014/main" id="{1EDC7314-2B79-43D3-A802-D26C64831BF6}"/>
              </a:ext>
            </a:extLst>
          </p:cNvPr>
          <p:cNvSpPr>
            <a:spLocks noGrp="1"/>
          </p:cNvSpPr>
          <p:nvPr>
            <p:ph type="body" sz="quarter" idx="11"/>
          </p:nvPr>
        </p:nvSpPr>
        <p:spPr/>
        <p:txBody>
          <a:bodyPr/>
          <a:lstStyle/>
          <a:p>
            <a:r>
              <a:rPr lang="en-US"/>
              <a:t>VI. Key Exchange Problem</a:t>
            </a:r>
          </a:p>
        </p:txBody>
      </p:sp>
      <p:sp>
        <p:nvSpPr>
          <p:cNvPr id="18" name="Arrow: Right 17">
            <a:extLst>
              <a:ext uri="{FF2B5EF4-FFF2-40B4-BE49-F238E27FC236}">
                <a16:creationId xmlns:a16="http://schemas.microsoft.com/office/drawing/2014/main" id="{7A540D7A-6CCA-438E-ADD7-A08F1E9126C7}"/>
              </a:ext>
            </a:extLst>
          </p:cNvPr>
          <p:cNvSpPr/>
          <p:nvPr/>
        </p:nvSpPr>
        <p:spPr>
          <a:xfrm>
            <a:off x="5471480" y="2169760"/>
            <a:ext cx="385375" cy="17853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E31EC55-2928-4D0D-899E-2BB2A5CF3851}"/>
              </a:ext>
            </a:extLst>
          </p:cNvPr>
          <p:cNvSpPr txBox="1"/>
          <p:nvPr/>
        </p:nvSpPr>
        <p:spPr>
          <a:xfrm>
            <a:off x="6043246" y="2089651"/>
            <a:ext cx="3627544" cy="307777"/>
          </a:xfrm>
          <a:prstGeom prst="rect">
            <a:avLst/>
          </a:prstGeom>
          <a:noFill/>
        </p:spPr>
        <p:txBody>
          <a:bodyPr wrap="square" rtlCol="0">
            <a:spAutoFit/>
          </a:bodyPr>
          <a:lstStyle/>
          <a:p>
            <a:r>
              <a:rPr lang="en-US" sz="1400">
                <a:latin typeface="Arial Narrow" panose="020B0606020202030204" pitchFamily="34" charset="0"/>
              </a:rPr>
              <a:t>How can Alvin securely send the Key to Audrey?</a:t>
            </a:r>
          </a:p>
        </p:txBody>
      </p:sp>
      <p:sp>
        <p:nvSpPr>
          <p:cNvPr id="22" name="TextBox 21">
            <a:extLst>
              <a:ext uri="{FF2B5EF4-FFF2-40B4-BE49-F238E27FC236}">
                <a16:creationId xmlns:a16="http://schemas.microsoft.com/office/drawing/2014/main" id="{425D7526-84FB-49C6-B4AB-C37026B1003F}"/>
              </a:ext>
            </a:extLst>
          </p:cNvPr>
          <p:cNvSpPr txBox="1"/>
          <p:nvPr/>
        </p:nvSpPr>
        <p:spPr>
          <a:xfrm>
            <a:off x="6043246" y="4469796"/>
            <a:ext cx="3708349" cy="738664"/>
          </a:xfrm>
          <a:prstGeom prst="rect">
            <a:avLst/>
          </a:prstGeom>
          <a:noFill/>
        </p:spPr>
        <p:txBody>
          <a:bodyPr wrap="square" rtlCol="0">
            <a:spAutoFit/>
          </a:bodyPr>
          <a:lstStyle/>
          <a:p>
            <a:r>
              <a:rPr lang="en-US" sz="1400">
                <a:latin typeface="Arial Narrow" panose="020B0606020202030204" pitchFamily="34" charset="0"/>
              </a:rPr>
              <a:t>How can Alvin send Key to many people without them being able to read the messages Alvin sends to others?</a:t>
            </a:r>
          </a:p>
        </p:txBody>
      </p:sp>
      <p:sp>
        <p:nvSpPr>
          <p:cNvPr id="25" name="TextBox 24">
            <a:extLst>
              <a:ext uri="{FF2B5EF4-FFF2-40B4-BE49-F238E27FC236}">
                <a16:creationId xmlns:a16="http://schemas.microsoft.com/office/drawing/2014/main" id="{B631CCF1-5F3B-4AAA-819E-28EA051433D5}"/>
              </a:ext>
            </a:extLst>
          </p:cNvPr>
          <p:cNvSpPr txBox="1"/>
          <p:nvPr/>
        </p:nvSpPr>
        <p:spPr>
          <a:xfrm>
            <a:off x="4089792" y="2350818"/>
            <a:ext cx="652743" cy="276999"/>
          </a:xfrm>
          <a:prstGeom prst="rect">
            <a:avLst/>
          </a:prstGeom>
          <a:noFill/>
        </p:spPr>
        <p:txBody>
          <a:bodyPr wrap="none" rtlCol="0">
            <a:spAutoFit/>
          </a:bodyPr>
          <a:lstStyle/>
          <a:p>
            <a:r>
              <a:rPr lang="en-US" sz="1200">
                <a:latin typeface="Arial Narrow" panose="020B0606020202030204" pitchFamily="34" charset="0"/>
              </a:rPr>
              <a:t>Physical</a:t>
            </a:r>
            <a:endParaRPr lang="en-US">
              <a:latin typeface="Arial Narrow" panose="020B0606020202030204" pitchFamily="34" charset="0"/>
            </a:endParaRPr>
          </a:p>
        </p:txBody>
      </p:sp>
      <p:sp>
        <p:nvSpPr>
          <p:cNvPr id="26" name="TextBox 25">
            <a:extLst>
              <a:ext uri="{FF2B5EF4-FFF2-40B4-BE49-F238E27FC236}">
                <a16:creationId xmlns:a16="http://schemas.microsoft.com/office/drawing/2014/main" id="{D70C5F01-CFC0-44CF-94A1-4A426B0EC10C}"/>
              </a:ext>
            </a:extLst>
          </p:cNvPr>
          <p:cNvSpPr txBox="1"/>
          <p:nvPr/>
        </p:nvSpPr>
        <p:spPr>
          <a:xfrm>
            <a:off x="4149102" y="2973275"/>
            <a:ext cx="534121" cy="276999"/>
          </a:xfrm>
          <a:prstGeom prst="rect">
            <a:avLst/>
          </a:prstGeom>
          <a:noFill/>
        </p:spPr>
        <p:txBody>
          <a:bodyPr wrap="none" rtlCol="0">
            <a:spAutoFit/>
          </a:bodyPr>
          <a:lstStyle/>
          <a:p>
            <a:r>
              <a:rPr lang="en-US" sz="1200">
                <a:latin typeface="Arial Narrow" panose="020B0606020202030204" pitchFamily="34" charset="0"/>
              </a:rPr>
              <a:t>Digital</a:t>
            </a:r>
          </a:p>
        </p:txBody>
      </p:sp>
      <p:sp>
        <p:nvSpPr>
          <p:cNvPr id="29" name="TextBox 28">
            <a:extLst>
              <a:ext uri="{FF2B5EF4-FFF2-40B4-BE49-F238E27FC236}">
                <a16:creationId xmlns:a16="http://schemas.microsoft.com/office/drawing/2014/main" id="{01D87B3A-E46C-4616-9AD5-8C3C824AFB56}"/>
              </a:ext>
            </a:extLst>
          </p:cNvPr>
          <p:cNvSpPr txBox="1"/>
          <p:nvPr/>
        </p:nvSpPr>
        <p:spPr>
          <a:xfrm>
            <a:off x="1787504" y="4810538"/>
            <a:ext cx="460150" cy="230832"/>
          </a:xfrm>
          <a:prstGeom prst="rect">
            <a:avLst/>
          </a:prstGeom>
          <a:noFill/>
        </p:spPr>
        <p:txBody>
          <a:bodyPr wrap="square" rtlCol="0">
            <a:spAutoFit/>
          </a:bodyPr>
          <a:lstStyle/>
          <a:p>
            <a:r>
              <a:rPr lang="en-US" sz="900"/>
              <a:t>Alvin</a:t>
            </a:r>
          </a:p>
        </p:txBody>
      </p:sp>
      <p:sp>
        <p:nvSpPr>
          <p:cNvPr id="30" name="Arrow: Right 29">
            <a:extLst>
              <a:ext uri="{FF2B5EF4-FFF2-40B4-BE49-F238E27FC236}">
                <a16:creationId xmlns:a16="http://schemas.microsoft.com/office/drawing/2014/main" id="{86E32286-FD7C-4709-8AAF-A541C4ABAA29}"/>
              </a:ext>
            </a:extLst>
          </p:cNvPr>
          <p:cNvSpPr/>
          <p:nvPr/>
        </p:nvSpPr>
        <p:spPr>
          <a:xfrm>
            <a:off x="5471480" y="4589888"/>
            <a:ext cx="385375" cy="17853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71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C8C4D19-0108-41E1-8FA2-A3B4C9AF114A}"/>
              </a:ext>
            </a:extLst>
          </p:cNvPr>
          <p:cNvGraphicFramePr>
            <a:graphicFrameLocks noGrp="1"/>
          </p:cNvGraphicFramePr>
          <p:nvPr>
            <p:extLst>
              <p:ext uri="{D42A27DB-BD31-4B8C-83A1-F6EECF244321}">
                <p14:modId xmlns:p14="http://schemas.microsoft.com/office/powerpoint/2010/main" val="1813656033"/>
              </p:ext>
            </p:extLst>
          </p:nvPr>
        </p:nvGraphicFramePr>
        <p:xfrm>
          <a:off x="176914" y="974522"/>
          <a:ext cx="9552171" cy="5248694"/>
        </p:xfrm>
        <a:graphic>
          <a:graphicData uri="http://schemas.openxmlformats.org/drawingml/2006/table">
            <a:tbl>
              <a:tblPr firstRow="1" bandRow="1">
                <a:tableStyleId>{5940675A-B579-460E-94D1-54222C63F5DA}</a:tableStyleId>
              </a:tblPr>
              <a:tblGrid>
                <a:gridCol w="889886">
                  <a:extLst>
                    <a:ext uri="{9D8B030D-6E8A-4147-A177-3AD203B41FA5}">
                      <a16:colId xmlns:a16="http://schemas.microsoft.com/office/drawing/2014/main" val="743303377"/>
                    </a:ext>
                  </a:extLst>
                </a:gridCol>
                <a:gridCol w="8662285">
                  <a:extLst>
                    <a:ext uri="{9D8B030D-6E8A-4147-A177-3AD203B41FA5}">
                      <a16:colId xmlns:a16="http://schemas.microsoft.com/office/drawing/2014/main" val="790174250"/>
                    </a:ext>
                  </a:extLst>
                </a:gridCol>
              </a:tblGrid>
              <a:tr h="60176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Definition</a:t>
                      </a: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Asymmetric</a:t>
                      </a:r>
                      <a:r>
                        <a:rPr lang="en-US" sz="1200">
                          <a:latin typeface="Arial Narrow" panose="020B0606020202030204" pitchFamily="34" charset="0"/>
                        </a:rPr>
                        <a:t> : Sender &amp; Receiver use two different keys (Public key &amp; Private key).</a:t>
                      </a:r>
                      <a:endParaRPr lang="en-US" sz="1200" b="1">
                        <a:latin typeface="Arial Narrow" panose="020B06060202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Symmetric key</a:t>
                      </a:r>
                      <a:r>
                        <a:rPr lang="en-US" sz="1200">
                          <a:latin typeface="Arial Narrow" panose="020B0606020202030204" pitchFamily="34" charset="0"/>
                        </a:rPr>
                        <a:t> is a type of encryption where </a:t>
                      </a:r>
                      <a:r>
                        <a:rPr lang="en-US" sz="1200" b="1">
                          <a:latin typeface="Arial Narrow" panose="020B0606020202030204" pitchFamily="34" charset="0"/>
                        </a:rPr>
                        <a:t>Public key</a:t>
                      </a:r>
                      <a:r>
                        <a:rPr lang="en-US" sz="1200">
                          <a:latin typeface="Arial Narrow" panose="020B0606020202030204" pitchFamily="34" charset="0"/>
                        </a:rPr>
                        <a:t> use for Encryption &amp; </a:t>
                      </a:r>
                      <a:r>
                        <a:rPr lang="en-US" sz="1200" b="1">
                          <a:latin typeface="Arial Narrow" panose="020B0606020202030204" pitchFamily="34" charset="0"/>
                        </a:rPr>
                        <a:t>Private key </a:t>
                      </a:r>
                      <a:r>
                        <a:rPr lang="en-US" sz="1200">
                          <a:latin typeface="Arial Narrow" panose="020B0606020202030204" pitchFamily="34" charset="0"/>
                        </a:rPr>
                        <a:t>use for Decryption, Public &amp; Private key is a </a:t>
                      </a:r>
                      <a:r>
                        <a:rPr lang="en-US" sz="1200" b="1">
                          <a:latin typeface="Arial Narrow" panose="020B0606020202030204" pitchFamily="34" charset="0"/>
                        </a:rPr>
                        <a:t>Key pair</a:t>
                      </a:r>
                      <a:r>
                        <a:rPr lang="en-US" sz="1200">
                          <a:latin typeface="Arial Narrow" panose="020B060602020203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Key Pair </a:t>
                      </a:r>
                      <a:r>
                        <a:rPr lang="en-US" sz="1200" b="0">
                          <a:latin typeface="Arial Narrow" panose="020B0606020202030204" pitchFamily="34" charset="0"/>
                        </a:rPr>
                        <a:t>created by Receiver.</a:t>
                      </a:r>
                    </a:p>
                  </a:txBody>
                  <a:tcPr/>
                </a:tc>
                <a:extLst>
                  <a:ext uri="{0D108BD9-81ED-4DB2-BD59-A6C34878D82A}">
                    <a16:rowId xmlns:a16="http://schemas.microsoft.com/office/drawing/2014/main" val="2926055594"/>
                  </a:ext>
                </a:extLst>
              </a:tr>
              <a:tr h="460861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Process</a:t>
                      </a:r>
                      <a:endParaRPr lang="en-US" sz="1200" b="1">
                        <a:latin typeface="Arial Narrow" panose="020B0606020202030204" pitchFamily="34" charset="0"/>
                      </a:endParaRP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0" indent="0">
                        <a:buFont typeface="Arial" panose="020B0604020202020204" pitchFamily="34" charset="0"/>
                        <a:buNone/>
                      </a:pPr>
                      <a:endParaRPr lang="en-US" sz="1200">
                        <a:latin typeface="Arial Narrow" panose="020B0606020202030204" pitchFamily="34" charset="0"/>
                      </a:endParaRPr>
                    </a:p>
                  </a:txBody>
                  <a:tcPr/>
                </a:tc>
                <a:extLst>
                  <a:ext uri="{0D108BD9-81ED-4DB2-BD59-A6C34878D82A}">
                    <a16:rowId xmlns:a16="http://schemas.microsoft.com/office/drawing/2014/main" val="3000010585"/>
                  </a:ext>
                </a:extLst>
              </a:tr>
            </a:tbl>
          </a:graphicData>
        </a:graphic>
      </p:graphicFrame>
      <p:sp>
        <p:nvSpPr>
          <p:cNvPr id="16" name="Text Placeholder 15">
            <a:extLst>
              <a:ext uri="{FF2B5EF4-FFF2-40B4-BE49-F238E27FC236}">
                <a16:creationId xmlns:a16="http://schemas.microsoft.com/office/drawing/2014/main" id="{1DE4BE9F-6E47-4DAC-BF7A-F96CBA47C0DA}"/>
              </a:ext>
            </a:extLst>
          </p:cNvPr>
          <p:cNvSpPr>
            <a:spLocks noGrp="1"/>
          </p:cNvSpPr>
          <p:nvPr>
            <p:ph type="body" sz="quarter" idx="11"/>
          </p:nvPr>
        </p:nvSpPr>
        <p:spPr/>
        <p:txBody>
          <a:bodyPr/>
          <a:lstStyle/>
          <a:p>
            <a:r>
              <a:rPr lang="en-US"/>
              <a:t>VII. Asymmetric Key</a:t>
            </a:r>
          </a:p>
        </p:txBody>
      </p:sp>
      <p:pic>
        <p:nvPicPr>
          <p:cNvPr id="18" name="Picture 17">
            <a:hlinkClick r:id="rId2" action="ppaction://hlinksldjump"/>
            <a:extLst>
              <a:ext uri="{FF2B5EF4-FFF2-40B4-BE49-F238E27FC236}">
                <a16:creationId xmlns:a16="http://schemas.microsoft.com/office/drawing/2014/main" id="{3492EC95-970A-405A-961F-85A439F95976}"/>
              </a:ext>
            </a:extLst>
          </p:cNvPr>
          <p:cNvPicPr>
            <a:picLocks noChangeAspect="1"/>
          </p:cNvPicPr>
          <p:nvPr/>
        </p:nvPicPr>
        <p:blipFill>
          <a:blip r:embed="rId3"/>
          <a:stretch>
            <a:fillRect/>
          </a:stretch>
        </p:blipFill>
        <p:spPr>
          <a:xfrm>
            <a:off x="1109477" y="2402045"/>
            <a:ext cx="3741036" cy="2427197"/>
          </a:xfrm>
          <a:prstGeom prst="rect">
            <a:avLst/>
          </a:prstGeom>
        </p:spPr>
      </p:pic>
      <p:sp>
        <p:nvSpPr>
          <p:cNvPr id="3" name="TextBox 2">
            <a:extLst>
              <a:ext uri="{FF2B5EF4-FFF2-40B4-BE49-F238E27FC236}">
                <a16:creationId xmlns:a16="http://schemas.microsoft.com/office/drawing/2014/main" id="{80328A0A-34D5-4225-84CA-F078374E85EA}"/>
              </a:ext>
            </a:extLst>
          </p:cNvPr>
          <p:cNvSpPr txBox="1"/>
          <p:nvPr/>
        </p:nvSpPr>
        <p:spPr>
          <a:xfrm>
            <a:off x="4850513" y="1624680"/>
            <a:ext cx="4878572" cy="3970318"/>
          </a:xfrm>
          <a:prstGeom prst="rect">
            <a:avLst/>
          </a:prstGeom>
          <a:noFill/>
        </p:spPr>
        <p:txBody>
          <a:bodyPr wrap="square" rtlCol="0">
            <a:spAutoFit/>
          </a:bodyPr>
          <a:lstStyle/>
          <a:p>
            <a:r>
              <a:rPr lang="en-US" sz="1200" b="1">
                <a:latin typeface="Arial Narrow" panose="020B0606020202030204" pitchFamily="34" charset="0"/>
              </a:rPr>
              <a:t>1. Generate Key pair</a:t>
            </a:r>
          </a:p>
          <a:p>
            <a:pPr marL="342900" indent="-342900">
              <a:buFont typeface="Arial" panose="020B0604020202020204" pitchFamily="34" charset="0"/>
              <a:buChar char="•"/>
            </a:pPr>
            <a:r>
              <a:rPr lang="en-US" sz="1200">
                <a:latin typeface="Arial Narrow" panose="020B0606020202030204" pitchFamily="34" charset="0"/>
              </a:rPr>
              <a:t>Audrey (Receiver) generates a </a:t>
            </a:r>
            <a:r>
              <a:rPr lang="en-US" sz="1200" b="1">
                <a:latin typeface="Arial Narrow" panose="020B0606020202030204" pitchFamily="34" charset="0"/>
              </a:rPr>
              <a:t>Key pair </a:t>
            </a:r>
            <a:r>
              <a:rPr lang="en-US" sz="1200">
                <a:latin typeface="Arial Narrow" panose="020B0606020202030204" pitchFamily="34" charset="0"/>
              </a:rPr>
              <a:t>that are mathematically linked together.</a:t>
            </a:r>
          </a:p>
          <a:p>
            <a:pPr marL="342900" indent="-342900">
              <a:buFont typeface="Arial" panose="020B0604020202020204" pitchFamily="34" charset="0"/>
              <a:buChar char="•"/>
            </a:pPr>
            <a:r>
              <a:rPr lang="en-US" sz="1200">
                <a:latin typeface="Arial Narrow" panose="020B0606020202030204" pitchFamily="34" charset="0"/>
              </a:rPr>
              <a:t>This key pair includes: </a:t>
            </a:r>
          </a:p>
          <a:p>
            <a:pPr marL="285750" indent="-285750">
              <a:buFontTx/>
              <a:buChar char="-"/>
            </a:pPr>
            <a:r>
              <a:rPr lang="en-US" sz="1200" b="1">
                <a:latin typeface="Arial Narrow" panose="020B0606020202030204" pitchFamily="34" charset="0"/>
              </a:rPr>
              <a:t>Public Key</a:t>
            </a:r>
            <a:r>
              <a:rPr lang="en-US" sz="1200">
                <a:latin typeface="Arial Narrow" panose="020B0606020202030204" pitchFamily="34" charset="0"/>
              </a:rPr>
              <a:t>: Designed to be shared publicly. </a:t>
            </a:r>
          </a:p>
          <a:p>
            <a:pPr marL="285750" indent="-285750">
              <a:buFontTx/>
              <a:buChar char="-"/>
            </a:pPr>
            <a:r>
              <a:rPr lang="en-US" sz="1200" b="1">
                <a:latin typeface="Arial Narrow" panose="020B0606020202030204" pitchFamily="34" charset="0"/>
              </a:rPr>
              <a:t>Private Key</a:t>
            </a:r>
            <a:r>
              <a:rPr lang="en-US" sz="1200">
                <a:latin typeface="Arial Narrow" panose="020B0606020202030204" pitchFamily="34" charset="0"/>
              </a:rPr>
              <a:t>: Must be kept absolutely secret.</a:t>
            </a:r>
            <a:endParaRPr lang="en-US" sz="1200" b="1">
              <a:latin typeface="Arial Narrow" panose="020B0606020202030204" pitchFamily="34" charset="0"/>
            </a:endParaRPr>
          </a:p>
          <a:p>
            <a:r>
              <a:rPr lang="en-US" sz="1200" b="1">
                <a:latin typeface="Arial Narrow" panose="020B0606020202030204" pitchFamily="34" charset="0"/>
              </a:rPr>
              <a:t>2. Key Distribution</a:t>
            </a:r>
          </a:p>
          <a:p>
            <a:pPr marL="285750" indent="-285750">
              <a:buFont typeface="Arial" panose="020B0604020202020204" pitchFamily="34" charset="0"/>
              <a:buChar char="•"/>
            </a:pPr>
            <a:r>
              <a:rPr lang="en-US" sz="1200">
                <a:latin typeface="Arial Narrow" panose="020B0606020202030204" pitchFamily="34" charset="0"/>
              </a:rPr>
              <a:t>Audrey sends her </a:t>
            </a:r>
            <a:r>
              <a:rPr lang="en-US" sz="1200" b="1">
                <a:latin typeface="Arial Narrow" panose="020B0606020202030204" pitchFamily="34" charset="0"/>
              </a:rPr>
              <a:t>Public Key </a:t>
            </a:r>
            <a:r>
              <a:rPr lang="en-US" sz="1200">
                <a:latin typeface="Arial Narrow" panose="020B0606020202030204" pitchFamily="34" charset="0"/>
              </a:rPr>
              <a:t>to anyone who wants to contact her (Alvin).</a:t>
            </a:r>
          </a:p>
          <a:p>
            <a:pPr marL="285750" indent="-285750">
              <a:buFont typeface="Arial" panose="020B0604020202020204" pitchFamily="34" charset="0"/>
              <a:buChar char="•"/>
            </a:pPr>
            <a:r>
              <a:rPr lang="en-US" sz="1200">
                <a:latin typeface="Arial Narrow" panose="020B0606020202030204" pitchFamily="34" charset="0"/>
              </a:rPr>
              <a:t>The eavesdropper (Eve) can also easily get this </a:t>
            </a:r>
            <a:r>
              <a:rPr lang="en-US" sz="1200" b="1">
                <a:latin typeface="Arial Narrow" panose="020B0606020202030204" pitchFamily="34" charset="0"/>
              </a:rPr>
              <a:t>Public Key</a:t>
            </a:r>
            <a:r>
              <a:rPr lang="en-US" sz="1200">
                <a:latin typeface="Arial Narrow" panose="020B0606020202030204" pitchFamily="34" charset="0"/>
              </a:rPr>
              <a:t>. This is acceptable and by design.</a:t>
            </a:r>
          </a:p>
          <a:p>
            <a:r>
              <a:rPr lang="en-US" sz="1200">
                <a:latin typeface="Arial Narrow" panose="020B0606020202030204" pitchFamily="34" charset="0"/>
              </a:rPr>
              <a:t>3. Encryption</a:t>
            </a:r>
          </a:p>
          <a:p>
            <a:pPr marL="285750" indent="-285750">
              <a:buFont typeface="Arial" panose="020B0604020202020204" pitchFamily="34" charset="0"/>
              <a:buChar char="•"/>
            </a:pPr>
            <a:r>
              <a:rPr lang="en-US" sz="1200">
                <a:latin typeface="Arial Narrow" panose="020B0606020202030204" pitchFamily="34" charset="0"/>
              </a:rPr>
              <a:t>Alvin (Sender) has Plaintext.</a:t>
            </a:r>
          </a:p>
          <a:p>
            <a:pPr marL="285750" indent="-285750">
              <a:buFont typeface="Arial" panose="020B0604020202020204" pitchFamily="34" charset="0"/>
              <a:buChar char="•"/>
            </a:pPr>
            <a:r>
              <a:rPr lang="en-US" sz="1200">
                <a:latin typeface="Arial Narrow" panose="020B0606020202030204" pitchFamily="34" charset="0"/>
              </a:rPr>
              <a:t>He uses Audrey's </a:t>
            </a:r>
            <a:r>
              <a:rPr lang="en-US" sz="1200" b="1">
                <a:latin typeface="Arial Narrow" panose="020B0606020202030204" pitchFamily="34" charset="0"/>
              </a:rPr>
              <a:t>Public Key </a:t>
            </a:r>
            <a:r>
              <a:rPr lang="en-US" sz="1200">
                <a:latin typeface="Arial Narrow" panose="020B0606020202030204" pitchFamily="34" charset="0"/>
              </a:rPr>
              <a:t>to Encrypt the Plaintext -&gt; Cipertext.</a:t>
            </a:r>
          </a:p>
          <a:p>
            <a:pPr marL="285750" indent="-285750">
              <a:buFont typeface="Arial" panose="020B0604020202020204" pitchFamily="34" charset="0"/>
              <a:buChar char="•"/>
            </a:pPr>
            <a:r>
              <a:rPr lang="en-US" sz="1200">
                <a:latin typeface="Arial Narrow" panose="020B0606020202030204" pitchFamily="34" charset="0"/>
              </a:rPr>
              <a:t>Alvin sent Ciphertext message to Audrey.</a:t>
            </a:r>
          </a:p>
          <a:p>
            <a:r>
              <a:rPr lang="en-US" sz="1200">
                <a:latin typeface="Arial Narrow" panose="020B0606020202030204" pitchFamily="34" charset="0"/>
              </a:rPr>
              <a:t>4. Decryption</a:t>
            </a:r>
          </a:p>
          <a:p>
            <a:pPr marL="285750" indent="-285750">
              <a:buFont typeface="Arial" panose="020B0604020202020204" pitchFamily="34" charset="0"/>
              <a:buChar char="•"/>
            </a:pPr>
            <a:r>
              <a:rPr lang="en-US" sz="1200">
                <a:latin typeface="Arial Narrow" panose="020B0606020202030204" pitchFamily="34" charset="0"/>
              </a:rPr>
              <a:t>The Ciphertext is sent over the network (Eve can intercept it).</a:t>
            </a:r>
          </a:p>
          <a:p>
            <a:pPr marL="285750" indent="-285750">
              <a:buFont typeface="Arial" panose="020B0604020202020204" pitchFamily="34" charset="0"/>
              <a:buChar char="•"/>
            </a:pPr>
            <a:r>
              <a:rPr lang="en-US" sz="1200">
                <a:latin typeface="Arial Narrow" panose="020B0606020202030204" pitchFamily="34" charset="0"/>
              </a:rPr>
              <a:t>Audrey receives the Ciphertext and uses her </a:t>
            </a:r>
            <a:r>
              <a:rPr lang="en-US" sz="1200" b="1">
                <a:latin typeface="Arial Narrow" panose="020B0606020202030204" pitchFamily="34" charset="0"/>
              </a:rPr>
              <a:t>Private Key</a:t>
            </a:r>
            <a:r>
              <a:rPr lang="en-US" sz="1200">
                <a:latin typeface="Arial Narrow" panose="020B0606020202030204" pitchFamily="34" charset="0"/>
              </a:rPr>
              <a:t> to Decrypt it.</a:t>
            </a:r>
          </a:p>
          <a:p>
            <a:pPr marL="285750" indent="-285750">
              <a:buFont typeface="Arial" panose="020B0604020202020204" pitchFamily="34" charset="0"/>
              <a:buChar char="•"/>
            </a:pPr>
            <a:r>
              <a:rPr lang="en-US" sz="1200">
                <a:latin typeface="Arial Narrow" panose="020B0606020202030204" pitchFamily="34" charset="0"/>
              </a:rPr>
              <a:t>The result is the recovery of the original Plaintext.</a:t>
            </a:r>
          </a:p>
          <a:p>
            <a:pPr marL="285750" indent="-285750">
              <a:buFont typeface="Arial" panose="020B0604020202020204" pitchFamily="34" charset="0"/>
              <a:buChar char="•"/>
            </a:pPr>
            <a:endParaRPr lang="en-US" sz="1200">
              <a:latin typeface="Arial Narrow" panose="020B0606020202030204" pitchFamily="34" charset="0"/>
            </a:endParaRPr>
          </a:p>
          <a:p>
            <a:r>
              <a:rPr lang="en-US" sz="1200">
                <a:latin typeface="Arial Narrow" panose="020B0606020202030204" pitchFamily="34" charset="0"/>
                <a:sym typeface="Wingdings" panose="05000000000000000000" pitchFamily="2" charset="2"/>
              </a:rPr>
              <a:t></a:t>
            </a:r>
            <a:r>
              <a:rPr lang="en-US" sz="1200" b="1">
                <a:latin typeface="Arial Narrow" panose="020B0606020202030204" pitchFamily="34" charset="0"/>
                <a:sym typeface="Wingdings" panose="05000000000000000000" pitchFamily="2" charset="2"/>
              </a:rPr>
              <a:t> Solving the Key Exchange Problem</a:t>
            </a:r>
            <a:endParaRPr lang="en-US" sz="1200" b="1">
              <a:latin typeface="Arial Narrow" panose="020B0606020202030204" pitchFamily="34" charset="0"/>
            </a:endParaRPr>
          </a:p>
          <a:p>
            <a:endParaRPr lang="en-US" sz="1200">
              <a:latin typeface="Arial Narrow" panose="020B0606020202030204" pitchFamily="34" charset="0"/>
            </a:endParaRPr>
          </a:p>
        </p:txBody>
      </p:sp>
    </p:spTree>
    <p:extLst>
      <p:ext uri="{BB962C8B-B14F-4D97-AF65-F5344CB8AC3E}">
        <p14:creationId xmlns:p14="http://schemas.microsoft.com/office/powerpoint/2010/main" val="3887413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CAE5DF97-D883-4275-8C4C-2913BB5CEB15}"/>
              </a:ext>
            </a:extLst>
          </p:cNvPr>
          <p:cNvSpPr>
            <a:spLocks noGrp="1"/>
          </p:cNvSpPr>
          <p:nvPr>
            <p:ph type="body" sz="quarter" idx="11"/>
          </p:nvPr>
        </p:nvSpPr>
        <p:spPr/>
        <p:txBody>
          <a:bodyPr/>
          <a:lstStyle/>
          <a:p>
            <a:r>
              <a:rPr lang="en-US"/>
              <a:t>VIII. Symmetric vs. Asymmetric</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0F5F956-6665-443F-AF43-2BFF119BDE63}"/>
                  </a:ext>
                </a:extLst>
              </p:cNvPr>
              <p:cNvGraphicFramePr>
                <a:graphicFrameLocks noGrp="1"/>
              </p:cNvGraphicFramePr>
              <p:nvPr>
                <p:extLst>
                  <p:ext uri="{D42A27DB-BD31-4B8C-83A1-F6EECF244321}">
                    <p14:modId xmlns:p14="http://schemas.microsoft.com/office/powerpoint/2010/main" val="3287166516"/>
                  </p:ext>
                </p:extLst>
              </p:nvPr>
            </p:nvGraphicFramePr>
            <p:xfrm>
              <a:off x="150535" y="762877"/>
              <a:ext cx="9604929" cy="5684815"/>
            </p:xfrm>
            <a:graphic>
              <a:graphicData uri="http://schemas.openxmlformats.org/drawingml/2006/table">
                <a:tbl>
                  <a:tblPr firstRow="1" bandRow="1">
                    <a:tableStyleId>{5940675A-B579-460E-94D1-54222C63F5DA}</a:tableStyleId>
                  </a:tblPr>
                  <a:tblGrid>
                    <a:gridCol w="968402">
                      <a:extLst>
                        <a:ext uri="{9D8B030D-6E8A-4147-A177-3AD203B41FA5}">
                          <a16:colId xmlns:a16="http://schemas.microsoft.com/office/drawing/2014/main" val="1719412402"/>
                        </a:ext>
                      </a:extLst>
                    </a:gridCol>
                    <a:gridCol w="4291192">
                      <a:extLst>
                        <a:ext uri="{9D8B030D-6E8A-4147-A177-3AD203B41FA5}">
                          <a16:colId xmlns:a16="http://schemas.microsoft.com/office/drawing/2014/main" val="790174250"/>
                        </a:ext>
                      </a:extLst>
                    </a:gridCol>
                    <a:gridCol w="4345335">
                      <a:extLst>
                        <a:ext uri="{9D8B030D-6E8A-4147-A177-3AD203B41FA5}">
                          <a16:colId xmlns:a16="http://schemas.microsoft.com/office/drawing/2014/main" val="2884921092"/>
                        </a:ext>
                      </a:extLst>
                    </a:gridCol>
                  </a:tblGrid>
                  <a:tr h="367779">
                    <a:tc>
                      <a:txBody>
                        <a:bodyPr/>
                        <a:lstStyle/>
                        <a:p>
                          <a:pPr algn="ctr"/>
                          <a:endParaRPr lang="en-US" sz="1400" b="1">
                            <a:latin typeface="Arial Narrow" panose="020B0606020202030204" pitchFamily="34" charset="0"/>
                          </a:endParaRPr>
                        </a:p>
                      </a:txBody>
                      <a:tcPr>
                        <a:solidFill>
                          <a:schemeClr val="bg1"/>
                        </a:solidFill>
                      </a:tcPr>
                    </a:tc>
                    <a:tc>
                      <a:txBody>
                        <a:bodyPr/>
                        <a:lstStyle/>
                        <a:p>
                          <a:pPr algn="ctr"/>
                          <a:r>
                            <a:rPr lang="en-US" sz="1400" b="1">
                              <a:latin typeface="Arial Narrow" panose="020B0606020202030204" pitchFamily="34" charset="0"/>
                            </a:rPr>
                            <a:t>Symmetric</a:t>
                          </a:r>
                        </a:p>
                      </a:txBody>
                      <a:tcPr>
                        <a:solidFill>
                          <a:schemeClr val="bg1">
                            <a:lumMod val="85000"/>
                          </a:schemeClr>
                        </a:solidFill>
                      </a:tcPr>
                    </a:tc>
                    <a:tc>
                      <a:txBody>
                        <a:bodyPr/>
                        <a:lstStyle/>
                        <a:p>
                          <a:pPr algn="ctr"/>
                          <a:r>
                            <a:rPr lang="en-US" sz="1400" b="1">
                              <a:latin typeface="Arial Narrow" panose="020B0606020202030204" pitchFamily="34" charset="0"/>
                            </a:rPr>
                            <a:t>Asymmetric</a:t>
                          </a:r>
                        </a:p>
                      </a:txBody>
                      <a:tcPr>
                        <a:solidFill>
                          <a:schemeClr val="bg1">
                            <a:lumMod val="85000"/>
                          </a:schemeClr>
                        </a:solidFill>
                      </a:tcPr>
                    </a:tc>
                    <a:extLst>
                      <a:ext uri="{0D108BD9-81ED-4DB2-BD59-A6C34878D82A}">
                        <a16:rowId xmlns:a16="http://schemas.microsoft.com/office/drawing/2014/main" val="909986897"/>
                      </a:ext>
                    </a:extLst>
                  </a:tr>
                  <a:tr h="733107">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Concept</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a:latin typeface="Arial Narrow" panose="020B0606020202030204" pitchFamily="34" charset="0"/>
                            </a:rPr>
                            <a:t>Uses the </a:t>
                          </a:r>
                          <a:r>
                            <a:rPr lang="en-US" sz="1200" b="1">
                              <a:latin typeface="Arial Narrow" panose="020B0606020202030204" pitchFamily="34" charset="0"/>
                            </a:rPr>
                            <a:t>same Key </a:t>
                          </a:r>
                          <a:r>
                            <a:rPr lang="en-US" sz="1200">
                              <a:latin typeface="Arial Narrow" panose="020B0606020202030204" pitchFamily="34" charset="0"/>
                            </a:rPr>
                            <a:t>for encryption and decryption.</a:t>
                          </a: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Uses </a:t>
                          </a:r>
                          <a:r>
                            <a:rPr lang="en-US" sz="1200" b="1">
                              <a:latin typeface="Arial Narrow" panose="020B0606020202030204" pitchFamily="34" charset="0"/>
                            </a:rPr>
                            <a:t>Key Pair</a:t>
                          </a:r>
                          <a:r>
                            <a:rPr lang="en-US" sz="1200" b="0">
                              <a:latin typeface="Arial Narrow" panose="020B0606020202030204" pitchFamily="34" charset="0"/>
                            </a:rPr>
                            <a:t>:</a:t>
                          </a:r>
                          <a:r>
                            <a:rPr lang="en-US" sz="1200">
                              <a:latin typeface="Arial Narrow" panose="020B0606020202030204" pitchFamily="34" charset="0"/>
                            </a:rPr>
                            <a:t> </a:t>
                          </a:r>
                          <a:r>
                            <a:rPr lang="en-US" sz="1200" b="1">
                              <a:latin typeface="Arial Narrow" panose="020B0606020202030204" pitchFamily="34" charset="0"/>
                            </a:rPr>
                            <a:t>Public Key </a:t>
                          </a:r>
                          <a:r>
                            <a:rPr lang="en-US" sz="1200">
                              <a:latin typeface="Arial Narrow" panose="020B0606020202030204" pitchFamily="34" charset="0"/>
                            </a:rPr>
                            <a:t>for encryption &amp; </a:t>
                          </a:r>
                          <a:r>
                            <a:rPr lang="en-US" sz="1200" b="1">
                              <a:latin typeface="Arial Narrow" panose="020B0606020202030204" pitchFamily="34" charset="0"/>
                            </a:rPr>
                            <a:t>Private Key </a:t>
                          </a:r>
                          <a:r>
                            <a:rPr lang="en-US" sz="1200">
                              <a:latin typeface="Arial Narrow" panose="020B0606020202030204" pitchFamily="34" charset="0"/>
                            </a:rPr>
                            <a:t>for decryption.</a:t>
                          </a:r>
                        </a:p>
                      </a:txBody>
                      <a:tcPr/>
                    </a:tc>
                    <a:extLst>
                      <a:ext uri="{0D108BD9-81ED-4DB2-BD59-A6C34878D82A}">
                        <a16:rowId xmlns:a16="http://schemas.microsoft.com/office/drawing/2014/main" val="2926055594"/>
                      </a:ext>
                    </a:extLst>
                  </a:tr>
                  <a:tr h="733107">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Performance</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0" i="0">
                              <a:latin typeface="Arial Narrow" panose="020B0606020202030204" pitchFamily="34" charset="0"/>
                            </a:rPr>
                            <a:t>Processing speed </a:t>
                          </a:r>
                          <a:r>
                            <a:rPr lang="en-US" sz="1200" b="1" i="0">
                              <a:latin typeface="Arial Narrow" panose="020B0606020202030204" pitchFamily="34" charset="0"/>
                            </a:rPr>
                            <a:t>Faster</a:t>
                          </a:r>
                          <a:r>
                            <a:rPr lang="en-US" sz="1200" b="0" i="0">
                              <a:latin typeface="Arial Narrow" panose="020B0606020202030204" pitchFamily="34" charset="0"/>
                            </a:rPr>
                            <a:t>. </a:t>
                          </a:r>
                        </a:p>
                        <a:p>
                          <a:pPr marL="171450" indent="-171450">
                            <a:buFont typeface="Wingdings" panose="05000000000000000000" pitchFamily="2" charset="2"/>
                            <a:buChar char="q"/>
                          </a:pPr>
                          <a:r>
                            <a:rPr lang="en-US" sz="1200" b="1" i="0">
                              <a:latin typeface="Arial Narrow" panose="020B0606020202030204" pitchFamily="34" charset="0"/>
                            </a:rPr>
                            <a:t>Less</a:t>
                          </a:r>
                          <a:r>
                            <a:rPr lang="en-US" sz="1200" b="0" i="0">
                              <a:latin typeface="Arial Narrow" panose="020B0606020202030204" pitchFamily="34" charset="0"/>
                            </a:rPr>
                            <a:t> resource intensive.</a:t>
                          </a:r>
                        </a:p>
                      </a:txBody>
                      <a:tcPr/>
                    </a:tc>
                    <a:tc>
                      <a:txBody>
                        <a:bodyPr/>
                        <a:lstStyle/>
                        <a:p>
                          <a:pPr marL="171450" indent="-171450">
                            <a:buFont typeface="Wingdings" panose="05000000000000000000" pitchFamily="2" charset="2"/>
                            <a:buChar char="q"/>
                          </a:pPr>
                          <a:r>
                            <a:rPr lang="en-US" sz="1200" b="0">
                              <a:latin typeface="Arial Narrow" panose="020B0606020202030204" pitchFamily="34" charset="0"/>
                            </a:rPr>
                            <a:t>Processing speed</a:t>
                          </a:r>
                          <a:r>
                            <a:rPr lang="en-US" sz="1200" b="1">
                              <a:latin typeface="Arial Narrow" panose="020B0606020202030204" pitchFamily="34" charset="0"/>
                            </a:rPr>
                            <a:t> Slower</a:t>
                          </a:r>
                          <a:r>
                            <a:rPr lang="en-US" sz="1200">
                              <a:latin typeface="Arial Narrow" panose="020B0606020202030204" pitchFamily="34" charset="0"/>
                            </a:rPr>
                            <a:t> (thousands of times).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More</a:t>
                          </a:r>
                          <a:r>
                            <a:rPr lang="en-US" sz="1200">
                              <a:latin typeface="Arial Narrow" panose="020B0606020202030204" pitchFamily="34" charset="0"/>
                            </a:rPr>
                            <a:t> resource intensive due to high complexity.</a:t>
                          </a:r>
                        </a:p>
                        <a:p>
                          <a:pPr marL="0" indent="0">
                            <a:buFont typeface="Wingdings" panose="05000000000000000000" pitchFamily="2" charset="2"/>
                            <a:buNone/>
                          </a:pPr>
                          <a:endParaRPr lang="en-US" sz="1200">
                            <a:latin typeface="Arial Narrow" panose="020B0606020202030204" pitchFamily="34" charset="0"/>
                          </a:endParaRPr>
                        </a:p>
                      </a:txBody>
                      <a:tcPr/>
                    </a:tc>
                    <a:extLst>
                      <a:ext uri="{0D108BD9-81ED-4DB2-BD59-A6C34878D82A}">
                        <a16:rowId xmlns:a16="http://schemas.microsoft.com/office/drawing/2014/main" val="3373850918"/>
                      </a:ext>
                    </a:extLst>
                  </a:tr>
                  <a:tr h="90833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Management </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key</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1">
                              <a:latin typeface="Arial Narrow" panose="020B0606020202030204" pitchFamily="34" charset="0"/>
                            </a:rPr>
                            <a:t>Difficult</a:t>
                          </a:r>
                          <a:r>
                            <a:rPr lang="en-US" sz="1200" b="0">
                              <a:latin typeface="Arial Narrow" panose="020B0606020202030204" pitchFamily="34" charset="0"/>
                            </a:rPr>
                            <a:t>,</a:t>
                          </a:r>
                          <a:r>
                            <a:rPr lang="en-US" sz="1200" b="1">
                              <a:latin typeface="Arial Narrow" panose="020B0606020202030204" pitchFamily="34" charset="0"/>
                            </a:rPr>
                            <a:t> </a:t>
                          </a:r>
                          <a:r>
                            <a:rPr lang="en-US" sz="1200" b="0">
                              <a:latin typeface="Arial Narrow" panose="020B0606020202030204" pitchFamily="34" charset="0"/>
                            </a:rPr>
                            <a:t>the secret Key must be securely shared.</a:t>
                          </a:r>
                        </a:p>
                        <a:p>
                          <a:pPr marL="171450" indent="-171450">
                            <a:buFont typeface="Wingdings" panose="05000000000000000000" pitchFamily="2" charset="2"/>
                            <a:buChar char="q"/>
                          </a:pPr>
                          <a:r>
                            <a:rPr lang="en-US" sz="1200" b="0">
                              <a:latin typeface="Arial Narrow" panose="020B0606020202030204" pitchFamily="34" charset="0"/>
                            </a:rPr>
                            <a:t>With </a:t>
                          </a:r>
                          <a14:m>
                            <m:oMath xmlns:m="http://schemas.openxmlformats.org/officeDocument/2006/math">
                              <m:r>
                                <a:rPr lang="en-US" sz="1200" b="1" i="1" smtClean="0">
                                  <a:latin typeface="Cambria Math" panose="02040503050406030204" pitchFamily="18" charset="0"/>
                                </a:rPr>
                                <m:t>𝒏</m:t>
                              </m:r>
                            </m:oMath>
                          </a14:m>
                          <a:r>
                            <a:rPr lang="en-US" sz="1200" b="0">
                              <a:latin typeface="Arial Narrow" panose="020B0606020202030204" pitchFamily="34" charset="0"/>
                            </a:rPr>
                            <a:t> user: Key required</a:t>
                          </a:r>
                          <a:r>
                            <a:rPr lang="en-US" sz="1200" b="0" baseline="0">
                              <a:latin typeface="Arial Narrow" panose="020B0606020202030204" pitchFamily="34" charset="0"/>
                            </a:rPr>
                            <a:t> </a:t>
                          </a:r>
                          <a14:m>
                            <m:oMath xmlns:m="http://schemas.openxmlformats.org/officeDocument/2006/math">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𝑛</m:t>
                                  </m:r>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−1)</m:t>
                                  </m:r>
                                </m:num>
                                <m:den>
                                  <m:r>
                                    <a:rPr lang="en-US" sz="1200" b="0" i="1" smtClean="0">
                                      <a:latin typeface="Cambria Math" panose="02040503050406030204" pitchFamily="18" charset="0"/>
                                    </a:rPr>
                                    <m:t>2</m:t>
                                  </m:r>
                                </m:den>
                              </m:f>
                            </m:oMath>
                          </a14:m>
                          <a:r>
                            <a:rPr lang="en-US" sz="1200">
                              <a:latin typeface="Arial Narrow" panose="020B0606020202030204" pitchFamily="34" charset="0"/>
                            </a:rPr>
                            <a:t>.</a:t>
                          </a:r>
                        </a:p>
                        <a:p>
                          <a:pPr marL="171450" indent="-171450">
                            <a:buFont typeface="Arial" panose="020B0604020202020204" pitchFamily="34" charset="0"/>
                            <a:buChar char="•"/>
                          </a:pPr>
                          <a:r>
                            <a:rPr lang="en-US" sz="1200">
                              <a:latin typeface="Arial Narrow" panose="020B0606020202030204" pitchFamily="34" charset="0"/>
                            </a:rPr>
                            <a:t>Example:</a:t>
                          </a:r>
                          <a:r>
                            <a:rPr lang="en-US" sz="1200" baseline="0">
                              <a:latin typeface="Arial Narrow" panose="020B0606020202030204" pitchFamily="34" charset="0"/>
                            </a:rPr>
                            <a:t> </a:t>
                          </a:r>
                          <a14:m>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=10⇒</m:t>
                              </m:r>
                              <m:r>
                                <a:rPr lang="en-US" sz="1200" b="0" i="1" smtClean="0">
                                  <a:latin typeface="Cambria Math" panose="02040503050406030204" pitchFamily="18" charset="0"/>
                                </a:rPr>
                                <m:t>𝐾𝑒𝑦</m:t>
                              </m:r>
                              <m:r>
                                <a:rPr lang="en-US" sz="1200" b="0" i="1" smtClean="0">
                                  <a:latin typeface="Cambria Math" panose="02040503050406030204" pitchFamily="18" charset="0"/>
                                </a:rPr>
                                <m:t>=45</m:t>
                              </m:r>
                            </m:oMath>
                          </a14:m>
                          <a:r>
                            <a:rPr lang="en-US" sz="1200">
                              <a:latin typeface="Arial Narrow" panose="020B0606020202030204" pitchFamily="34" charset="0"/>
                            </a:rPr>
                            <a:t>.</a:t>
                          </a:r>
                        </a:p>
                      </a:txBody>
                      <a:tcPr/>
                    </a:tc>
                    <a:tc>
                      <a:txBody>
                        <a:bodyPr/>
                        <a:lstStyle/>
                        <a:p>
                          <a:pPr marL="171450" indent="-171450">
                            <a:buFont typeface="Wingdings" panose="05000000000000000000" pitchFamily="2" charset="2"/>
                            <a:buChar char="q"/>
                          </a:pPr>
                          <a:r>
                            <a:rPr lang="en-US" sz="1200" b="1">
                              <a:latin typeface="Arial Narrow" panose="020B0606020202030204" pitchFamily="34" charset="0"/>
                            </a:rPr>
                            <a:t>Easier</a:t>
                          </a:r>
                          <a:r>
                            <a:rPr lang="en-US" sz="1200" b="0">
                              <a:latin typeface="Arial Narrow" panose="020B0606020202030204" pitchFamily="34" charset="0"/>
                            </a:rPr>
                            <a:t>, public key can be openly distributed.</a:t>
                          </a:r>
                        </a:p>
                        <a:p>
                          <a:pPr marL="171450" indent="-171450">
                            <a:buFont typeface="Wingdings" panose="05000000000000000000" pitchFamily="2" charset="2"/>
                            <a:buChar char="q"/>
                          </a:pPr>
                          <a:r>
                            <a:rPr lang="en-US" sz="1200" b="0">
                              <a:latin typeface="Arial Narrow" panose="020B0606020202030204" pitchFamily="34" charset="0"/>
                            </a:rPr>
                            <a:t>With </a:t>
                          </a:r>
                          <a14:m>
                            <m:oMath xmlns:m="http://schemas.openxmlformats.org/officeDocument/2006/math">
                              <m:r>
                                <a:rPr lang="en-US" sz="1200" b="1" i="1" smtClean="0">
                                  <a:latin typeface="Cambria Math" panose="02040503050406030204" pitchFamily="18" charset="0"/>
                                </a:rPr>
                                <m:t>𝒏</m:t>
                              </m:r>
                            </m:oMath>
                          </a14:m>
                          <a:r>
                            <a:rPr lang="en-US" sz="1200" b="0">
                              <a:latin typeface="Arial Narrow" panose="020B0606020202030204" pitchFamily="34" charset="0"/>
                            </a:rPr>
                            <a:t> user: Key required </a:t>
                          </a:r>
                          <a14:m>
                            <m:oMath xmlns:m="http://schemas.openxmlformats.org/officeDocument/2006/math">
                              <m:r>
                                <a:rPr lang="en-US" sz="1200" b="0" i="1" smtClean="0">
                                  <a:latin typeface="Cambria Math" panose="02040503050406030204" pitchFamily="18" charset="0"/>
                                </a:rPr>
                                <m:t>=2</m:t>
                              </m:r>
                              <m:r>
                                <a:rPr lang="en-US" sz="1200" b="0" i="1" smtClean="0">
                                  <a:latin typeface="Cambria Math" panose="02040503050406030204" pitchFamily="18" charset="0"/>
                                </a:rPr>
                                <m:t>𝑛</m:t>
                              </m:r>
                            </m:oMath>
                          </a14:m>
                          <a:r>
                            <a:rPr lang="en-US" sz="1200" b="1">
                              <a:latin typeface="Arial Narrow" panose="020B0606020202030204" pitchFamily="34" charset="0"/>
                            </a:rPr>
                            <a:t>.</a:t>
                          </a:r>
                        </a:p>
                        <a:p>
                          <a:pPr marL="171450" indent="-171450">
                            <a:buFont typeface="Arial" panose="020B0604020202020204" pitchFamily="34" charset="0"/>
                            <a:buChar char="•"/>
                          </a:pPr>
                          <a:r>
                            <a:rPr lang="en-US" sz="1200" b="0">
                              <a:latin typeface="Arial Narrow" panose="020B0606020202030204" pitchFamily="34" charset="0"/>
                            </a:rPr>
                            <a:t>Example: </a:t>
                          </a:r>
                          <a14:m>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=10⇒</m:t>
                              </m:r>
                              <m:r>
                                <a:rPr lang="en-US" sz="1200" b="0" i="1" smtClean="0">
                                  <a:latin typeface="Cambria Math" panose="02040503050406030204" pitchFamily="18" charset="0"/>
                                </a:rPr>
                                <m:t>𝐾𝑒𝑦</m:t>
                              </m:r>
                              <m:r>
                                <a:rPr lang="en-US" sz="1200" b="0" i="1" smtClean="0">
                                  <a:latin typeface="Cambria Math" panose="02040503050406030204" pitchFamily="18" charset="0"/>
                                </a:rPr>
                                <m:t>=20</m:t>
                              </m:r>
                            </m:oMath>
                          </a14:m>
                          <a:r>
                            <a:rPr lang="en-US" sz="1200" b="0">
                              <a:latin typeface="Arial Narrow" panose="020B0606020202030204" pitchFamily="34" charset="0"/>
                            </a:rPr>
                            <a:t>.</a:t>
                          </a:r>
                        </a:p>
                      </a:txBody>
                      <a:tcPr/>
                    </a:tc>
                    <a:extLst>
                      <a:ext uri="{0D108BD9-81ED-4DB2-BD59-A6C34878D82A}">
                        <a16:rowId xmlns:a16="http://schemas.microsoft.com/office/drawing/2014/main" val="1693276845"/>
                      </a:ext>
                    </a:extLst>
                  </a:tr>
                  <a:tr h="2942492">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latin typeface="Arial Narrow" panose="020B0606020202030204" pitchFamily="34" charset="0"/>
                          </a:endParaRPr>
                        </a:p>
                      </a:txBody>
                      <a:tcPr>
                        <a:solidFill>
                          <a:schemeClr val="bg1"/>
                        </a:solidFill>
                      </a:tcPr>
                    </a:tc>
                    <a:tc gridSpan="2">
                      <a:txBody>
                        <a:bodyPr/>
                        <a:lstStyle/>
                        <a:p>
                          <a:pPr marL="0" indent="0">
                            <a:buFont typeface="Wingdings" panose="05000000000000000000" pitchFamily="2" charset="2"/>
                            <a:buNone/>
                          </a:pPr>
                          <a:endParaRPr lang="en-US" sz="1200">
                            <a:latin typeface="Arial Narrow" panose="020B0606020202030204" pitchFamily="34" charset="0"/>
                          </a:endParaRPr>
                        </a:p>
                      </a:txBody>
                      <a:tcPr>
                        <a:solidFill>
                          <a:schemeClr val="bg1"/>
                        </a:solidFill>
                      </a:tcPr>
                    </a:tc>
                    <a:tc hMerge="1">
                      <a:txBody>
                        <a:bodyPr/>
                        <a:lstStyle/>
                        <a:p>
                          <a:pPr marL="171450" indent="-171450">
                            <a:buFont typeface="Wingdings" panose="05000000000000000000" pitchFamily="2" charset="2"/>
                            <a:buChar char="q"/>
                          </a:pPr>
                          <a:endParaRPr lang="en-US" sz="1200">
                            <a:latin typeface="Arial Narrow" panose="020B0606020202030204" pitchFamily="34" charset="0"/>
                          </a:endParaRPr>
                        </a:p>
                      </a:txBody>
                      <a:tcPr/>
                    </a:tc>
                    <a:extLst>
                      <a:ext uri="{0D108BD9-81ED-4DB2-BD59-A6C34878D82A}">
                        <a16:rowId xmlns:a16="http://schemas.microsoft.com/office/drawing/2014/main" val="2933182417"/>
                      </a:ext>
                    </a:extLst>
                  </a:tr>
                </a:tbl>
              </a:graphicData>
            </a:graphic>
          </p:graphicFrame>
        </mc:Choice>
        <mc:Fallback xmlns="">
          <p:graphicFrame>
            <p:nvGraphicFramePr>
              <p:cNvPr id="5" name="Table 4">
                <a:extLst>
                  <a:ext uri="{FF2B5EF4-FFF2-40B4-BE49-F238E27FC236}">
                    <a16:creationId xmlns:a16="http://schemas.microsoft.com/office/drawing/2014/main" id="{E0F5F956-6665-443F-AF43-2BFF119BDE63}"/>
                  </a:ext>
                </a:extLst>
              </p:cNvPr>
              <p:cNvGraphicFramePr>
                <a:graphicFrameLocks noGrp="1"/>
              </p:cNvGraphicFramePr>
              <p:nvPr>
                <p:extLst>
                  <p:ext uri="{D42A27DB-BD31-4B8C-83A1-F6EECF244321}">
                    <p14:modId xmlns:p14="http://schemas.microsoft.com/office/powerpoint/2010/main" val="3287166516"/>
                  </p:ext>
                </p:extLst>
              </p:nvPr>
            </p:nvGraphicFramePr>
            <p:xfrm>
              <a:off x="150535" y="762877"/>
              <a:ext cx="9604929" cy="5684815"/>
            </p:xfrm>
            <a:graphic>
              <a:graphicData uri="http://schemas.openxmlformats.org/drawingml/2006/table">
                <a:tbl>
                  <a:tblPr firstRow="1" bandRow="1">
                    <a:tableStyleId>{5940675A-B579-460E-94D1-54222C63F5DA}</a:tableStyleId>
                  </a:tblPr>
                  <a:tblGrid>
                    <a:gridCol w="968402">
                      <a:extLst>
                        <a:ext uri="{9D8B030D-6E8A-4147-A177-3AD203B41FA5}">
                          <a16:colId xmlns:a16="http://schemas.microsoft.com/office/drawing/2014/main" val="1719412402"/>
                        </a:ext>
                      </a:extLst>
                    </a:gridCol>
                    <a:gridCol w="4291192">
                      <a:extLst>
                        <a:ext uri="{9D8B030D-6E8A-4147-A177-3AD203B41FA5}">
                          <a16:colId xmlns:a16="http://schemas.microsoft.com/office/drawing/2014/main" val="790174250"/>
                        </a:ext>
                      </a:extLst>
                    </a:gridCol>
                    <a:gridCol w="4345335">
                      <a:extLst>
                        <a:ext uri="{9D8B030D-6E8A-4147-A177-3AD203B41FA5}">
                          <a16:colId xmlns:a16="http://schemas.microsoft.com/office/drawing/2014/main" val="2884921092"/>
                        </a:ext>
                      </a:extLst>
                    </a:gridCol>
                  </a:tblGrid>
                  <a:tr h="367779">
                    <a:tc>
                      <a:txBody>
                        <a:bodyPr/>
                        <a:lstStyle/>
                        <a:p>
                          <a:pPr algn="ctr"/>
                          <a:endParaRPr lang="en-US" sz="1400" b="1">
                            <a:latin typeface="Arial Narrow" panose="020B0606020202030204" pitchFamily="34" charset="0"/>
                          </a:endParaRPr>
                        </a:p>
                      </a:txBody>
                      <a:tcPr>
                        <a:solidFill>
                          <a:schemeClr val="bg1"/>
                        </a:solidFill>
                      </a:tcPr>
                    </a:tc>
                    <a:tc>
                      <a:txBody>
                        <a:bodyPr/>
                        <a:lstStyle/>
                        <a:p>
                          <a:pPr algn="ctr"/>
                          <a:r>
                            <a:rPr lang="en-US" sz="1400" b="1">
                              <a:latin typeface="Arial Narrow" panose="020B0606020202030204" pitchFamily="34" charset="0"/>
                            </a:rPr>
                            <a:t>Symmetric</a:t>
                          </a:r>
                        </a:p>
                      </a:txBody>
                      <a:tcPr>
                        <a:solidFill>
                          <a:schemeClr val="bg1">
                            <a:lumMod val="85000"/>
                          </a:schemeClr>
                        </a:solidFill>
                      </a:tcPr>
                    </a:tc>
                    <a:tc>
                      <a:txBody>
                        <a:bodyPr/>
                        <a:lstStyle/>
                        <a:p>
                          <a:pPr algn="ctr"/>
                          <a:r>
                            <a:rPr lang="en-US" sz="1400" b="1">
                              <a:latin typeface="Arial Narrow" panose="020B0606020202030204" pitchFamily="34" charset="0"/>
                            </a:rPr>
                            <a:t>Asymmetric</a:t>
                          </a:r>
                        </a:p>
                      </a:txBody>
                      <a:tcPr>
                        <a:solidFill>
                          <a:schemeClr val="bg1">
                            <a:lumMod val="85000"/>
                          </a:schemeClr>
                        </a:solidFill>
                      </a:tcPr>
                    </a:tc>
                    <a:extLst>
                      <a:ext uri="{0D108BD9-81ED-4DB2-BD59-A6C34878D82A}">
                        <a16:rowId xmlns:a16="http://schemas.microsoft.com/office/drawing/2014/main" val="909986897"/>
                      </a:ext>
                    </a:extLst>
                  </a:tr>
                  <a:tr h="733107">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Concept</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a:latin typeface="Arial Narrow" panose="020B0606020202030204" pitchFamily="34" charset="0"/>
                            </a:rPr>
                            <a:t>Uses the </a:t>
                          </a:r>
                          <a:r>
                            <a:rPr lang="en-US" sz="1200" b="1">
                              <a:latin typeface="Arial Narrow" panose="020B0606020202030204" pitchFamily="34" charset="0"/>
                            </a:rPr>
                            <a:t>same Key </a:t>
                          </a:r>
                          <a:r>
                            <a:rPr lang="en-US" sz="1200">
                              <a:latin typeface="Arial Narrow" panose="020B0606020202030204" pitchFamily="34" charset="0"/>
                            </a:rPr>
                            <a:t>for encryption and decryption.</a:t>
                          </a: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Uses </a:t>
                          </a:r>
                          <a:r>
                            <a:rPr lang="en-US" sz="1200" b="1">
                              <a:latin typeface="Arial Narrow" panose="020B0606020202030204" pitchFamily="34" charset="0"/>
                            </a:rPr>
                            <a:t>Key Pair</a:t>
                          </a:r>
                          <a:r>
                            <a:rPr lang="en-US" sz="1200" b="0">
                              <a:latin typeface="Arial Narrow" panose="020B0606020202030204" pitchFamily="34" charset="0"/>
                            </a:rPr>
                            <a:t>:</a:t>
                          </a:r>
                          <a:r>
                            <a:rPr lang="en-US" sz="1200">
                              <a:latin typeface="Arial Narrow" panose="020B0606020202030204" pitchFamily="34" charset="0"/>
                            </a:rPr>
                            <a:t> </a:t>
                          </a:r>
                          <a:r>
                            <a:rPr lang="en-US" sz="1200" b="1">
                              <a:latin typeface="Arial Narrow" panose="020B0606020202030204" pitchFamily="34" charset="0"/>
                            </a:rPr>
                            <a:t>Public Key </a:t>
                          </a:r>
                          <a:r>
                            <a:rPr lang="en-US" sz="1200">
                              <a:latin typeface="Arial Narrow" panose="020B0606020202030204" pitchFamily="34" charset="0"/>
                            </a:rPr>
                            <a:t>for encryption &amp; </a:t>
                          </a:r>
                          <a:r>
                            <a:rPr lang="en-US" sz="1200" b="1">
                              <a:latin typeface="Arial Narrow" panose="020B0606020202030204" pitchFamily="34" charset="0"/>
                            </a:rPr>
                            <a:t>Private Key </a:t>
                          </a:r>
                          <a:r>
                            <a:rPr lang="en-US" sz="1200">
                              <a:latin typeface="Arial Narrow" panose="020B0606020202030204" pitchFamily="34" charset="0"/>
                            </a:rPr>
                            <a:t>for decryption.</a:t>
                          </a:r>
                        </a:p>
                      </a:txBody>
                      <a:tcPr/>
                    </a:tc>
                    <a:extLst>
                      <a:ext uri="{0D108BD9-81ED-4DB2-BD59-A6C34878D82A}">
                        <a16:rowId xmlns:a16="http://schemas.microsoft.com/office/drawing/2014/main" val="2926055594"/>
                      </a:ext>
                    </a:extLst>
                  </a:tr>
                  <a:tr h="733107">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Performance</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0" i="0">
                              <a:latin typeface="Arial Narrow" panose="020B0606020202030204" pitchFamily="34" charset="0"/>
                            </a:rPr>
                            <a:t>Processing speed </a:t>
                          </a:r>
                          <a:r>
                            <a:rPr lang="en-US" sz="1200" b="1" i="0">
                              <a:latin typeface="Arial Narrow" panose="020B0606020202030204" pitchFamily="34" charset="0"/>
                            </a:rPr>
                            <a:t>Faster</a:t>
                          </a:r>
                          <a:r>
                            <a:rPr lang="en-US" sz="1200" b="0" i="0">
                              <a:latin typeface="Arial Narrow" panose="020B0606020202030204" pitchFamily="34" charset="0"/>
                            </a:rPr>
                            <a:t>. </a:t>
                          </a:r>
                        </a:p>
                        <a:p>
                          <a:pPr marL="171450" indent="-171450">
                            <a:buFont typeface="Wingdings" panose="05000000000000000000" pitchFamily="2" charset="2"/>
                            <a:buChar char="q"/>
                          </a:pPr>
                          <a:r>
                            <a:rPr lang="en-US" sz="1200" b="1" i="0">
                              <a:latin typeface="Arial Narrow" panose="020B0606020202030204" pitchFamily="34" charset="0"/>
                            </a:rPr>
                            <a:t>Less</a:t>
                          </a:r>
                          <a:r>
                            <a:rPr lang="en-US" sz="1200" b="0" i="0">
                              <a:latin typeface="Arial Narrow" panose="020B0606020202030204" pitchFamily="34" charset="0"/>
                            </a:rPr>
                            <a:t> resource intensive.</a:t>
                          </a:r>
                        </a:p>
                      </a:txBody>
                      <a:tcPr/>
                    </a:tc>
                    <a:tc>
                      <a:txBody>
                        <a:bodyPr/>
                        <a:lstStyle/>
                        <a:p>
                          <a:pPr marL="171450" indent="-171450">
                            <a:buFont typeface="Wingdings" panose="05000000000000000000" pitchFamily="2" charset="2"/>
                            <a:buChar char="q"/>
                          </a:pPr>
                          <a:r>
                            <a:rPr lang="en-US" sz="1200" b="0">
                              <a:latin typeface="Arial Narrow" panose="020B0606020202030204" pitchFamily="34" charset="0"/>
                            </a:rPr>
                            <a:t>Processing speed</a:t>
                          </a:r>
                          <a:r>
                            <a:rPr lang="en-US" sz="1200" b="1">
                              <a:latin typeface="Arial Narrow" panose="020B0606020202030204" pitchFamily="34" charset="0"/>
                            </a:rPr>
                            <a:t> Slower</a:t>
                          </a:r>
                          <a:r>
                            <a:rPr lang="en-US" sz="1200">
                              <a:latin typeface="Arial Narrow" panose="020B0606020202030204" pitchFamily="34" charset="0"/>
                            </a:rPr>
                            <a:t> (thousands of times).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More</a:t>
                          </a:r>
                          <a:r>
                            <a:rPr lang="en-US" sz="1200">
                              <a:latin typeface="Arial Narrow" panose="020B0606020202030204" pitchFamily="34" charset="0"/>
                            </a:rPr>
                            <a:t> resource intensive due to high complexity.</a:t>
                          </a:r>
                        </a:p>
                        <a:p>
                          <a:pPr marL="0" indent="0">
                            <a:buFont typeface="Wingdings" panose="05000000000000000000" pitchFamily="2" charset="2"/>
                            <a:buNone/>
                          </a:pPr>
                          <a:endParaRPr lang="en-US" sz="1200">
                            <a:latin typeface="Arial Narrow" panose="020B0606020202030204" pitchFamily="34" charset="0"/>
                          </a:endParaRPr>
                        </a:p>
                      </a:txBody>
                      <a:tcPr/>
                    </a:tc>
                    <a:extLst>
                      <a:ext uri="{0D108BD9-81ED-4DB2-BD59-A6C34878D82A}">
                        <a16:rowId xmlns:a16="http://schemas.microsoft.com/office/drawing/2014/main" val="3373850918"/>
                      </a:ext>
                    </a:extLst>
                  </a:tr>
                  <a:tr h="90833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Management </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key</a:t>
                          </a:r>
                        </a:p>
                      </a:txBody>
                      <a:tcPr>
                        <a:solidFill>
                          <a:schemeClr val="bg1">
                            <a:lumMod val="85000"/>
                          </a:schemeClr>
                        </a:solidFill>
                      </a:tcPr>
                    </a:tc>
                    <a:tc>
                      <a:txBody>
                        <a:bodyPr/>
                        <a:lstStyle/>
                        <a:p>
                          <a:endParaRPr lang="en-US"/>
                        </a:p>
                      </a:txBody>
                      <a:tcPr>
                        <a:blipFill>
                          <a:blip r:embed="rId2"/>
                          <a:stretch>
                            <a:fillRect l="-22695" t="-203356" r="-101418" b="-325503"/>
                          </a:stretch>
                        </a:blipFill>
                      </a:tcPr>
                    </a:tc>
                    <a:tc>
                      <a:txBody>
                        <a:bodyPr/>
                        <a:lstStyle/>
                        <a:p>
                          <a:endParaRPr lang="en-US"/>
                        </a:p>
                      </a:txBody>
                      <a:tcPr>
                        <a:blipFill>
                          <a:blip r:embed="rId2"/>
                          <a:stretch>
                            <a:fillRect l="-121318" t="-203356" r="-281" b="-325503"/>
                          </a:stretch>
                        </a:blipFill>
                      </a:tcPr>
                    </a:tc>
                    <a:extLst>
                      <a:ext uri="{0D108BD9-81ED-4DB2-BD59-A6C34878D82A}">
                        <a16:rowId xmlns:a16="http://schemas.microsoft.com/office/drawing/2014/main" val="1693276845"/>
                      </a:ext>
                    </a:extLst>
                  </a:tr>
                  <a:tr h="2942492">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latin typeface="Arial Narrow" panose="020B0606020202030204" pitchFamily="34" charset="0"/>
                          </a:endParaRPr>
                        </a:p>
                      </a:txBody>
                      <a:tcPr>
                        <a:solidFill>
                          <a:schemeClr val="bg1"/>
                        </a:solidFill>
                      </a:tcPr>
                    </a:tc>
                    <a:tc gridSpan="2">
                      <a:txBody>
                        <a:bodyPr/>
                        <a:lstStyle/>
                        <a:p>
                          <a:pPr marL="0" indent="0">
                            <a:buFont typeface="Wingdings" panose="05000000000000000000" pitchFamily="2" charset="2"/>
                            <a:buNone/>
                          </a:pPr>
                          <a:endParaRPr lang="en-US" sz="1200">
                            <a:latin typeface="Arial Narrow" panose="020B0606020202030204" pitchFamily="34" charset="0"/>
                          </a:endParaRPr>
                        </a:p>
                      </a:txBody>
                      <a:tcPr>
                        <a:solidFill>
                          <a:schemeClr val="bg1"/>
                        </a:solidFill>
                      </a:tcPr>
                    </a:tc>
                    <a:tc hMerge="1">
                      <a:txBody>
                        <a:bodyPr/>
                        <a:lstStyle/>
                        <a:p>
                          <a:pPr marL="171450" indent="-171450">
                            <a:buFont typeface="Wingdings" panose="05000000000000000000" pitchFamily="2" charset="2"/>
                            <a:buChar char="q"/>
                          </a:pPr>
                          <a:endParaRPr lang="en-US" sz="1200">
                            <a:latin typeface="Arial Narrow" panose="020B0606020202030204" pitchFamily="34" charset="0"/>
                          </a:endParaRPr>
                        </a:p>
                      </a:txBody>
                      <a:tcPr/>
                    </a:tc>
                    <a:extLst>
                      <a:ext uri="{0D108BD9-81ED-4DB2-BD59-A6C34878D82A}">
                        <a16:rowId xmlns:a16="http://schemas.microsoft.com/office/drawing/2014/main" val="2933182417"/>
                      </a:ext>
                    </a:extLst>
                  </a:tr>
                </a:tbl>
              </a:graphicData>
            </a:graphic>
          </p:graphicFrame>
        </mc:Fallback>
      </mc:AlternateContent>
      <p:pic>
        <p:nvPicPr>
          <p:cNvPr id="2" name="Picture 1">
            <a:extLst>
              <a:ext uri="{FF2B5EF4-FFF2-40B4-BE49-F238E27FC236}">
                <a16:creationId xmlns:a16="http://schemas.microsoft.com/office/drawing/2014/main" id="{11C02975-DA5C-4A8C-B922-885F18179EB0}"/>
              </a:ext>
            </a:extLst>
          </p:cNvPr>
          <p:cNvPicPr>
            <a:picLocks noChangeAspect="1"/>
          </p:cNvPicPr>
          <p:nvPr/>
        </p:nvPicPr>
        <p:blipFill>
          <a:blip r:embed="rId3"/>
          <a:stretch>
            <a:fillRect/>
          </a:stretch>
        </p:blipFill>
        <p:spPr>
          <a:xfrm>
            <a:off x="2251242" y="3529512"/>
            <a:ext cx="6260535" cy="2906461"/>
          </a:xfrm>
          <a:prstGeom prst="rect">
            <a:avLst/>
          </a:prstGeom>
        </p:spPr>
      </p:pic>
    </p:spTree>
    <p:extLst>
      <p:ext uri="{BB962C8B-B14F-4D97-AF65-F5344CB8AC3E}">
        <p14:creationId xmlns:p14="http://schemas.microsoft.com/office/powerpoint/2010/main" val="220212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76A62B3D-52F6-4F94-B061-829B9006AD6B}"/>
              </a:ext>
            </a:extLst>
          </p:cNvPr>
          <p:cNvSpPr>
            <a:spLocks noGrp="1"/>
          </p:cNvSpPr>
          <p:nvPr>
            <p:ph type="body" sz="quarter" idx="11"/>
          </p:nvPr>
        </p:nvSpPr>
        <p:spPr/>
        <p:txBody>
          <a:bodyPr/>
          <a:lstStyle/>
          <a:p>
            <a:r>
              <a:rPr lang="en-US"/>
              <a:t>IX. Digital Signature</a:t>
            </a:r>
          </a:p>
        </p:txBody>
      </p:sp>
      <p:graphicFrame>
        <p:nvGraphicFramePr>
          <p:cNvPr id="5" name="Table 4">
            <a:extLst>
              <a:ext uri="{FF2B5EF4-FFF2-40B4-BE49-F238E27FC236}">
                <a16:creationId xmlns:a16="http://schemas.microsoft.com/office/drawing/2014/main" id="{3B701206-EB38-457F-B008-932E367BECF4}"/>
              </a:ext>
            </a:extLst>
          </p:cNvPr>
          <p:cNvGraphicFramePr>
            <a:graphicFrameLocks noGrp="1"/>
          </p:cNvGraphicFramePr>
          <p:nvPr>
            <p:extLst>
              <p:ext uri="{D42A27DB-BD31-4B8C-83A1-F6EECF244321}">
                <p14:modId xmlns:p14="http://schemas.microsoft.com/office/powerpoint/2010/main" val="237105485"/>
              </p:ext>
            </p:extLst>
          </p:nvPr>
        </p:nvGraphicFramePr>
        <p:xfrm>
          <a:off x="176914" y="974522"/>
          <a:ext cx="9552171" cy="5210378"/>
        </p:xfrm>
        <a:graphic>
          <a:graphicData uri="http://schemas.openxmlformats.org/drawingml/2006/table">
            <a:tbl>
              <a:tblPr firstRow="1" bandRow="1">
                <a:tableStyleId>{5940675A-B579-460E-94D1-54222C63F5DA}</a:tableStyleId>
              </a:tblPr>
              <a:tblGrid>
                <a:gridCol w="889886">
                  <a:extLst>
                    <a:ext uri="{9D8B030D-6E8A-4147-A177-3AD203B41FA5}">
                      <a16:colId xmlns:a16="http://schemas.microsoft.com/office/drawing/2014/main" val="743303377"/>
                    </a:ext>
                  </a:extLst>
                </a:gridCol>
                <a:gridCol w="8662285">
                  <a:extLst>
                    <a:ext uri="{9D8B030D-6E8A-4147-A177-3AD203B41FA5}">
                      <a16:colId xmlns:a16="http://schemas.microsoft.com/office/drawing/2014/main" val="790174250"/>
                    </a:ext>
                  </a:extLst>
                </a:gridCol>
              </a:tblGrid>
              <a:tr h="60176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Definition</a:t>
                      </a: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Digital signature </a:t>
                      </a:r>
                      <a:r>
                        <a:rPr lang="en-US" sz="1200" b="0">
                          <a:latin typeface="Arial Narrow" panose="020B0606020202030204" pitchFamily="34" charset="0"/>
                        </a:rPr>
                        <a:t>is a cryptographic technique used to verify the </a:t>
                      </a:r>
                      <a:r>
                        <a:rPr lang="en-US" sz="1200" b="1">
                          <a:latin typeface="Arial Narrow" panose="020B0606020202030204" pitchFamily="34" charset="0"/>
                        </a:rPr>
                        <a:t>authenticity</a:t>
                      </a:r>
                      <a:r>
                        <a:rPr lang="en-US" sz="1200" b="0">
                          <a:latin typeface="Arial Narrow" panose="020B0606020202030204" pitchFamily="34" charset="0"/>
                        </a:rPr>
                        <a:t>, </a:t>
                      </a:r>
                      <a:r>
                        <a:rPr lang="en-US" sz="1200" b="1">
                          <a:latin typeface="Arial Narrow" panose="020B0606020202030204" pitchFamily="34" charset="0"/>
                        </a:rPr>
                        <a:t>integrity</a:t>
                      </a:r>
                      <a:r>
                        <a:rPr lang="en-US" sz="1200" b="0">
                          <a:latin typeface="Arial Narrow" panose="020B0606020202030204" pitchFamily="34" charset="0"/>
                        </a:rPr>
                        <a:t>, and </a:t>
                      </a:r>
                      <a:r>
                        <a:rPr lang="en-US" sz="1200" b="1">
                          <a:latin typeface="Arial Narrow" panose="020B0606020202030204" pitchFamily="34" charset="0"/>
                        </a:rPr>
                        <a:t>non-repudiation</a:t>
                      </a:r>
                      <a:r>
                        <a:rPr lang="en-US" sz="1200" b="0">
                          <a:latin typeface="Arial Narrow" panose="020B0606020202030204" pitchFamily="34" charset="0"/>
                        </a:rPr>
                        <a:t> of a digital message or document.</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200" b="0">
                        <a:latin typeface="Arial Narrow" panose="020B0606020202030204" pitchFamily="34" charset="0"/>
                      </a:endParaRPr>
                    </a:p>
                  </a:txBody>
                  <a:tcPr/>
                </a:tc>
                <a:extLst>
                  <a:ext uri="{0D108BD9-81ED-4DB2-BD59-A6C34878D82A}">
                    <a16:rowId xmlns:a16="http://schemas.microsoft.com/office/drawing/2014/main" val="2926055594"/>
                  </a:ext>
                </a:extLst>
              </a:tr>
              <a:tr h="460861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Process</a:t>
                      </a:r>
                      <a:endParaRPr lang="en-US" sz="1200" b="1">
                        <a:latin typeface="Arial Narrow" panose="020B0606020202030204" pitchFamily="34" charset="0"/>
                      </a:endParaRP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0" indent="0">
                        <a:buFont typeface="Arial" panose="020B0604020202020204" pitchFamily="34" charset="0"/>
                        <a:buNone/>
                      </a:pPr>
                      <a:endParaRPr lang="en-US" sz="1200">
                        <a:latin typeface="Arial Narrow" panose="020B0606020202030204" pitchFamily="34" charset="0"/>
                      </a:endParaRPr>
                    </a:p>
                  </a:txBody>
                  <a:tcPr/>
                </a:tc>
                <a:extLst>
                  <a:ext uri="{0D108BD9-81ED-4DB2-BD59-A6C34878D82A}">
                    <a16:rowId xmlns:a16="http://schemas.microsoft.com/office/drawing/2014/main" val="3000010585"/>
                  </a:ext>
                </a:extLst>
              </a:tr>
            </a:tbl>
          </a:graphicData>
        </a:graphic>
      </p:graphicFrame>
      <p:pic>
        <p:nvPicPr>
          <p:cNvPr id="7" name="Picture 6">
            <a:hlinkClick r:id="rId3" action="ppaction://hlinksldjump"/>
            <a:extLst>
              <a:ext uri="{FF2B5EF4-FFF2-40B4-BE49-F238E27FC236}">
                <a16:creationId xmlns:a16="http://schemas.microsoft.com/office/drawing/2014/main" id="{DC7396AA-49B5-4526-AACC-248514F3CF38}"/>
              </a:ext>
            </a:extLst>
          </p:cNvPr>
          <p:cNvPicPr>
            <a:picLocks noChangeAspect="1"/>
          </p:cNvPicPr>
          <p:nvPr/>
        </p:nvPicPr>
        <p:blipFill>
          <a:blip r:embed="rId4"/>
          <a:stretch>
            <a:fillRect/>
          </a:stretch>
        </p:blipFill>
        <p:spPr>
          <a:xfrm>
            <a:off x="1092424" y="2405935"/>
            <a:ext cx="3397515" cy="2998403"/>
          </a:xfrm>
          <a:prstGeom prst="rect">
            <a:avLst/>
          </a:prstGeom>
        </p:spPr>
      </p:pic>
      <p:sp>
        <p:nvSpPr>
          <p:cNvPr id="8" name="TextBox 7">
            <a:extLst>
              <a:ext uri="{FF2B5EF4-FFF2-40B4-BE49-F238E27FC236}">
                <a16:creationId xmlns:a16="http://schemas.microsoft.com/office/drawing/2014/main" id="{AD374129-D651-4C3D-A5E2-464D8E51F3A1}"/>
              </a:ext>
            </a:extLst>
          </p:cNvPr>
          <p:cNvSpPr txBox="1"/>
          <p:nvPr/>
        </p:nvSpPr>
        <p:spPr>
          <a:xfrm>
            <a:off x="4638873" y="2104643"/>
            <a:ext cx="4941278" cy="3600986"/>
          </a:xfrm>
          <a:prstGeom prst="rect">
            <a:avLst/>
          </a:prstGeom>
          <a:noFill/>
        </p:spPr>
        <p:txBody>
          <a:bodyPr wrap="square" rtlCol="0">
            <a:spAutoFit/>
          </a:bodyPr>
          <a:lstStyle/>
          <a:p>
            <a:r>
              <a:rPr lang="en-US" sz="1200" b="1">
                <a:latin typeface="Arial Narrow" panose="020B0606020202030204" pitchFamily="34" charset="0"/>
              </a:rPr>
              <a:t>1. Generate Key pair</a:t>
            </a:r>
          </a:p>
          <a:p>
            <a:pPr marL="342900" indent="-342900">
              <a:buFont typeface="Arial" panose="020B0604020202020204" pitchFamily="34" charset="0"/>
              <a:buChar char="•"/>
            </a:pPr>
            <a:r>
              <a:rPr lang="en-US" sz="1200">
                <a:latin typeface="Arial Narrow" panose="020B0606020202030204" pitchFamily="34" charset="0"/>
              </a:rPr>
              <a:t>Alvin generates </a:t>
            </a:r>
            <a:r>
              <a:rPr lang="en-US" sz="1200" b="1">
                <a:latin typeface="Arial Narrow" panose="020B0606020202030204" pitchFamily="34" charset="0"/>
              </a:rPr>
              <a:t>Key pair.</a:t>
            </a:r>
          </a:p>
          <a:p>
            <a:pPr marL="342900" indent="-342900">
              <a:buFont typeface="Arial" panose="020B0604020202020204" pitchFamily="34" charset="0"/>
              <a:buChar char="•"/>
            </a:pPr>
            <a:r>
              <a:rPr lang="en-US" sz="1200">
                <a:latin typeface="Arial Narrow" panose="020B0606020202030204" pitchFamily="34" charset="0"/>
              </a:rPr>
              <a:t>Alvin sends his </a:t>
            </a:r>
            <a:r>
              <a:rPr lang="en-US" sz="1200" b="1">
                <a:latin typeface="Arial Narrow" panose="020B0606020202030204" pitchFamily="34" charset="0"/>
              </a:rPr>
              <a:t>Public Key </a:t>
            </a:r>
            <a:r>
              <a:rPr lang="en-US" sz="1200">
                <a:latin typeface="Arial Narrow" panose="020B0606020202030204" pitchFamily="34" charset="0"/>
              </a:rPr>
              <a:t>to Audrey (and anyone else).</a:t>
            </a:r>
          </a:p>
          <a:p>
            <a:pPr marL="342900" indent="-342900">
              <a:buFont typeface="Arial" panose="020B0604020202020204" pitchFamily="34" charset="0"/>
              <a:buChar char="•"/>
            </a:pPr>
            <a:endParaRPr lang="en-US" sz="1200">
              <a:latin typeface="Arial Narrow" panose="020B0606020202030204" pitchFamily="34" charset="0"/>
            </a:endParaRPr>
          </a:p>
          <a:p>
            <a:r>
              <a:rPr lang="en-US" sz="1200" b="1">
                <a:latin typeface="Arial Narrow" panose="020B0606020202030204" pitchFamily="34" charset="0"/>
              </a:rPr>
              <a:t>2. Signing Process</a:t>
            </a:r>
            <a:r>
              <a:rPr lang="en-US" sz="1200">
                <a:latin typeface="Arial Narrow" panose="020B0606020202030204" pitchFamily="34" charset="0"/>
              </a:rPr>
              <a:t> (Done by Alvin)</a:t>
            </a:r>
          </a:p>
          <a:p>
            <a:pPr marL="285750" indent="-285750">
              <a:buFont typeface="Arial" panose="020B0604020202020204" pitchFamily="34" charset="0"/>
              <a:buChar char="•"/>
            </a:pPr>
            <a:r>
              <a:rPr lang="en-US" sz="1200">
                <a:latin typeface="Arial Narrow" panose="020B0606020202030204" pitchFamily="34" charset="0"/>
              </a:rPr>
              <a:t>Alvin has original message ("I miss Audrey").</a:t>
            </a:r>
          </a:p>
          <a:p>
            <a:pPr marL="285750" indent="-285750">
              <a:buFont typeface="Arial" panose="020B0604020202020204" pitchFamily="34" charset="0"/>
              <a:buChar char="•"/>
            </a:pPr>
            <a:r>
              <a:rPr lang="en-US" sz="1200">
                <a:latin typeface="Arial Narrow" panose="020B0606020202030204" pitchFamily="34" charset="0"/>
              </a:rPr>
              <a:t>He uses his </a:t>
            </a:r>
            <a:r>
              <a:rPr lang="en-US" sz="1200" b="1">
                <a:latin typeface="Arial Narrow" panose="020B0606020202030204" pitchFamily="34" charset="0"/>
              </a:rPr>
              <a:t>Private Key </a:t>
            </a:r>
            <a:r>
              <a:rPr lang="en-US" sz="1200">
                <a:latin typeface="Arial Narrow" panose="020B0606020202030204" pitchFamily="34" charset="0"/>
              </a:rPr>
              <a:t>and a "</a:t>
            </a:r>
            <a:r>
              <a:rPr lang="en-US" sz="1200" b="1">
                <a:latin typeface="Arial Narrow" panose="020B0606020202030204" pitchFamily="34" charset="0"/>
              </a:rPr>
              <a:t>Signature Algorithm</a:t>
            </a:r>
            <a:r>
              <a:rPr lang="en-US" sz="1200">
                <a:latin typeface="Arial Narrow" panose="020B0606020202030204" pitchFamily="34" charset="0"/>
              </a:rPr>
              <a:t>" to create a Digital signature (the shield icon).</a:t>
            </a:r>
          </a:p>
          <a:p>
            <a:pPr marL="285750" indent="-285750">
              <a:buFont typeface="Arial" panose="020B0604020202020204" pitchFamily="34" charset="0"/>
              <a:buChar char="•"/>
            </a:pPr>
            <a:r>
              <a:rPr lang="en-US" sz="1200">
                <a:latin typeface="Arial Narrow" panose="020B0606020202030204" pitchFamily="34" charset="0"/>
              </a:rPr>
              <a:t>Alvin sends the original message (plaintext) &amp; Digital signature to Audrey.</a:t>
            </a:r>
          </a:p>
          <a:p>
            <a:pPr marL="285750" indent="-285750">
              <a:buFont typeface="Arial" panose="020B0604020202020204" pitchFamily="34" charset="0"/>
              <a:buChar char="•"/>
            </a:pPr>
            <a:endParaRPr lang="en-US" sz="1200">
              <a:latin typeface="Arial Narrow" panose="020B0606020202030204" pitchFamily="34" charset="0"/>
            </a:endParaRPr>
          </a:p>
          <a:p>
            <a:r>
              <a:rPr lang="en-US" sz="1200" b="1">
                <a:latin typeface="Arial Narrow" panose="020B0606020202030204" pitchFamily="34" charset="0"/>
              </a:rPr>
              <a:t>3. Verification Process </a:t>
            </a:r>
            <a:r>
              <a:rPr lang="en-US" sz="1200">
                <a:latin typeface="Arial Narrow" panose="020B0606020202030204" pitchFamily="34" charset="0"/>
              </a:rPr>
              <a:t>(Done by Audrey)</a:t>
            </a:r>
          </a:p>
          <a:p>
            <a:pPr marL="285750" indent="-285750">
              <a:buFont typeface="Arial" panose="020B0604020202020204" pitchFamily="34" charset="0"/>
              <a:buChar char="•"/>
            </a:pPr>
            <a:r>
              <a:rPr lang="en-US" sz="1200">
                <a:latin typeface="Arial Narrow" panose="020B0606020202030204" pitchFamily="34" charset="0"/>
              </a:rPr>
              <a:t>Audrey receives the Message and the Digital signature.</a:t>
            </a:r>
          </a:p>
          <a:p>
            <a:pPr marL="285750" indent="-285750">
              <a:buFont typeface="Arial" panose="020B0604020202020204" pitchFamily="34" charset="0"/>
              <a:buChar char="•"/>
            </a:pPr>
            <a:r>
              <a:rPr lang="en-US" sz="1200">
                <a:latin typeface="Arial Narrow" panose="020B0606020202030204" pitchFamily="34" charset="0"/>
              </a:rPr>
              <a:t>She uses Alvin's </a:t>
            </a:r>
            <a:r>
              <a:rPr lang="en-US" sz="1200" b="1">
                <a:latin typeface="Arial Narrow" panose="020B0606020202030204" pitchFamily="34" charset="0"/>
              </a:rPr>
              <a:t>Public Key</a:t>
            </a:r>
            <a:r>
              <a:rPr lang="en-US" sz="1200">
                <a:latin typeface="Arial Narrow" panose="020B0606020202030204" pitchFamily="34" charset="0"/>
              </a:rPr>
              <a:t> and runs the "Signature Algorithm" in verification mode.</a:t>
            </a:r>
          </a:p>
          <a:p>
            <a:pPr marL="285750" indent="-285750">
              <a:buFont typeface="Arial" panose="020B0604020202020204" pitchFamily="34" charset="0"/>
              <a:buChar char="•"/>
            </a:pPr>
            <a:r>
              <a:rPr lang="en-US" sz="1200">
                <a:latin typeface="Arial Narrow" panose="020B0606020202030204" pitchFamily="34" charset="0"/>
              </a:rPr>
              <a:t>This algorithm checks whether the signature matches the message.</a:t>
            </a:r>
          </a:p>
          <a:p>
            <a:pPr marL="285750" indent="-285750">
              <a:buFont typeface="Arial" panose="020B0604020202020204" pitchFamily="34" charset="0"/>
              <a:buChar char="•"/>
            </a:pPr>
            <a:r>
              <a:rPr lang="en-US" sz="1200">
                <a:latin typeface="Arial Narrow" panose="020B0606020202030204" pitchFamily="34" charset="0"/>
              </a:rPr>
              <a:t>If it matches: Audrey can trust that the message came from Alvin and that the content has not been altered.</a:t>
            </a:r>
          </a:p>
          <a:p>
            <a:pPr marL="285750" indent="-285750">
              <a:buFont typeface="Arial" panose="020B0604020202020204" pitchFamily="34" charset="0"/>
              <a:buChar char="•"/>
            </a:pPr>
            <a:r>
              <a:rPr lang="en-US" sz="1200">
                <a:latin typeface="Arial Narrow" panose="020B0606020202030204" pitchFamily="34" charset="0"/>
              </a:rPr>
              <a:t>If Eve (the attacker) tries to alter the message in transit, the signature will no longer be valid -&gt; Audrey's verification will fail.</a:t>
            </a:r>
          </a:p>
        </p:txBody>
      </p:sp>
    </p:spTree>
    <p:extLst>
      <p:ext uri="{BB962C8B-B14F-4D97-AF65-F5344CB8AC3E}">
        <p14:creationId xmlns:p14="http://schemas.microsoft.com/office/powerpoint/2010/main" val="3185180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4794FBC7-9206-4096-8BC7-7B59F830F43F}"/>
              </a:ext>
            </a:extLst>
          </p:cNvPr>
          <p:cNvSpPr>
            <a:spLocks noGrp="1"/>
          </p:cNvSpPr>
          <p:nvPr>
            <p:ph type="body" sz="quarter" idx="11"/>
          </p:nvPr>
        </p:nvSpPr>
        <p:spPr/>
        <p:txBody>
          <a:bodyPr/>
          <a:lstStyle/>
          <a:p>
            <a:r>
              <a:rPr lang="en-US"/>
              <a:t>X. Public Key Owner Problem</a:t>
            </a:r>
          </a:p>
        </p:txBody>
      </p:sp>
      <p:graphicFrame>
        <p:nvGraphicFramePr>
          <p:cNvPr id="6" name="Table 5">
            <a:extLst>
              <a:ext uri="{FF2B5EF4-FFF2-40B4-BE49-F238E27FC236}">
                <a16:creationId xmlns:a16="http://schemas.microsoft.com/office/drawing/2014/main" id="{CF018853-E11B-4082-85D2-F9879B03F984}"/>
              </a:ext>
            </a:extLst>
          </p:cNvPr>
          <p:cNvGraphicFramePr>
            <a:graphicFrameLocks noGrp="1"/>
          </p:cNvGraphicFramePr>
          <p:nvPr>
            <p:extLst>
              <p:ext uri="{D42A27DB-BD31-4B8C-83A1-F6EECF244321}">
                <p14:modId xmlns:p14="http://schemas.microsoft.com/office/powerpoint/2010/main" val="8471041"/>
              </p:ext>
            </p:extLst>
          </p:nvPr>
        </p:nvGraphicFramePr>
        <p:xfrm>
          <a:off x="176914" y="974521"/>
          <a:ext cx="9552171" cy="5332493"/>
        </p:xfrm>
        <a:graphic>
          <a:graphicData uri="http://schemas.openxmlformats.org/drawingml/2006/table">
            <a:tbl>
              <a:tblPr firstRow="1" bandRow="1">
                <a:tableStyleId>{5940675A-B579-460E-94D1-54222C63F5DA}</a:tableStyleId>
              </a:tblPr>
              <a:tblGrid>
                <a:gridCol w="889886">
                  <a:extLst>
                    <a:ext uri="{9D8B030D-6E8A-4147-A177-3AD203B41FA5}">
                      <a16:colId xmlns:a16="http://schemas.microsoft.com/office/drawing/2014/main" val="743303377"/>
                    </a:ext>
                  </a:extLst>
                </a:gridCol>
                <a:gridCol w="8662285">
                  <a:extLst>
                    <a:ext uri="{9D8B030D-6E8A-4147-A177-3AD203B41FA5}">
                      <a16:colId xmlns:a16="http://schemas.microsoft.com/office/drawing/2014/main" val="790174250"/>
                    </a:ext>
                  </a:extLst>
                </a:gridCol>
              </a:tblGrid>
              <a:tr h="5332493">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Attack</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Scenario</a:t>
                      </a:r>
                      <a:endParaRPr lang="en-US" sz="1200" b="1">
                        <a:latin typeface="Arial Narrow" panose="020B0606020202030204" pitchFamily="34" charset="0"/>
                      </a:endParaRP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0" indent="0">
                        <a:buFont typeface="Arial" panose="020B0604020202020204" pitchFamily="34" charset="0"/>
                        <a:buNone/>
                      </a:pPr>
                      <a:endParaRPr lang="en-US" sz="1200">
                        <a:latin typeface="Arial Narrow" panose="020B0606020202030204" pitchFamily="34" charset="0"/>
                      </a:endParaRPr>
                    </a:p>
                  </a:txBody>
                  <a:tcPr/>
                </a:tc>
                <a:extLst>
                  <a:ext uri="{0D108BD9-81ED-4DB2-BD59-A6C34878D82A}">
                    <a16:rowId xmlns:a16="http://schemas.microsoft.com/office/drawing/2014/main" val="3000010585"/>
                  </a:ext>
                </a:extLst>
              </a:tr>
            </a:tbl>
          </a:graphicData>
        </a:graphic>
      </p:graphicFrame>
      <p:pic>
        <p:nvPicPr>
          <p:cNvPr id="7" name="Picture 6">
            <a:hlinkClick r:id="rId2" action="ppaction://hlinksldjump"/>
            <a:extLst>
              <a:ext uri="{FF2B5EF4-FFF2-40B4-BE49-F238E27FC236}">
                <a16:creationId xmlns:a16="http://schemas.microsoft.com/office/drawing/2014/main" id="{94FC561C-668D-4B59-949E-35DA523103D0}"/>
              </a:ext>
            </a:extLst>
          </p:cNvPr>
          <p:cNvPicPr>
            <a:picLocks noChangeAspect="1"/>
          </p:cNvPicPr>
          <p:nvPr/>
        </p:nvPicPr>
        <p:blipFill>
          <a:blip r:embed="rId3"/>
          <a:stretch>
            <a:fillRect/>
          </a:stretch>
        </p:blipFill>
        <p:spPr>
          <a:xfrm>
            <a:off x="1072662" y="2597104"/>
            <a:ext cx="3654802" cy="1898696"/>
          </a:xfrm>
          <a:prstGeom prst="rect">
            <a:avLst/>
          </a:prstGeom>
        </p:spPr>
      </p:pic>
      <p:sp>
        <p:nvSpPr>
          <p:cNvPr id="8" name="TextBox 7">
            <a:extLst>
              <a:ext uri="{FF2B5EF4-FFF2-40B4-BE49-F238E27FC236}">
                <a16:creationId xmlns:a16="http://schemas.microsoft.com/office/drawing/2014/main" id="{ACD027C6-88AC-475D-A8FA-DA4A70D95EDE}"/>
              </a:ext>
            </a:extLst>
          </p:cNvPr>
          <p:cNvSpPr txBox="1"/>
          <p:nvPr/>
        </p:nvSpPr>
        <p:spPr>
          <a:xfrm>
            <a:off x="4784013" y="1330110"/>
            <a:ext cx="4888523" cy="4708981"/>
          </a:xfrm>
          <a:prstGeom prst="rect">
            <a:avLst/>
          </a:prstGeom>
          <a:noFill/>
        </p:spPr>
        <p:txBody>
          <a:bodyPr wrap="square" rtlCol="0">
            <a:spAutoFit/>
          </a:bodyPr>
          <a:lstStyle/>
          <a:p>
            <a:r>
              <a:rPr lang="en-US" sz="1200" b="1">
                <a:latin typeface="Arial Narrow" panose="020B0606020202030204" pitchFamily="34" charset="0"/>
              </a:rPr>
              <a:t>1. Phase 1: Key Exchange </a:t>
            </a:r>
          </a:p>
          <a:p>
            <a:pPr marL="342900" indent="-342900">
              <a:buFont typeface="Arial" panose="020B0604020202020204" pitchFamily="34" charset="0"/>
              <a:buChar char="•"/>
            </a:pPr>
            <a:r>
              <a:rPr lang="en-US" sz="1200">
                <a:latin typeface="Arial Narrow" panose="020B0606020202030204" pitchFamily="34" charset="0"/>
              </a:rPr>
              <a:t>Alvin requests Audrey's Public Key.</a:t>
            </a:r>
          </a:p>
          <a:p>
            <a:pPr marL="342900" indent="-342900">
              <a:buFont typeface="Arial" panose="020B0604020202020204" pitchFamily="34" charset="0"/>
              <a:buChar char="•"/>
            </a:pPr>
            <a:r>
              <a:rPr lang="en-US" sz="1200">
                <a:latin typeface="Arial Narrow" panose="020B0606020202030204" pitchFamily="34" charset="0"/>
              </a:rPr>
              <a:t>Eve (scissors icon) intercepts the connection.</a:t>
            </a:r>
          </a:p>
          <a:p>
            <a:pPr marL="342900" indent="-342900">
              <a:buFont typeface="Arial" panose="020B0604020202020204" pitchFamily="34" charset="0"/>
              <a:buChar char="•"/>
            </a:pPr>
            <a:r>
              <a:rPr lang="en-US" sz="1200">
                <a:latin typeface="Arial Narrow" panose="020B0606020202030204" pitchFamily="34" charset="0"/>
              </a:rPr>
              <a:t>Eve sends HER Public Key to Alvin, but pretends it is Audrey's.</a:t>
            </a:r>
          </a:p>
          <a:p>
            <a:pPr marL="342900" indent="-342900">
              <a:buFont typeface="Arial" panose="020B0604020202020204" pitchFamily="34" charset="0"/>
              <a:buChar char="•"/>
            </a:pPr>
            <a:r>
              <a:rPr lang="en-US" sz="1200">
                <a:latin typeface="Arial Narrow" panose="020B0606020202030204" pitchFamily="34" charset="0"/>
              </a:rPr>
              <a:t>At the same time, Eve gets Audrey's real Public Key.</a:t>
            </a:r>
          </a:p>
          <a:p>
            <a:pPr marL="285750" indent="-285750">
              <a:buFont typeface="Wingdings" panose="05000000000000000000" pitchFamily="2" charset="2"/>
              <a:buChar char="à"/>
            </a:pPr>
            <a:r>
              <a:rPr lang="en-US" sz="1200" b="1">
                <a:latin typeface="Arial Narrow" panose="020B0606020202030204" pitchFamily="34" charset="0"/>
              </a:rPr>
              <a:t>Result</a:t>
            </a:r>
            <a:r>
              <a:rPr lang="en-US" sz="1200">
                <a:latin typeface="Arial Narrow" panose="020B0606020202030204" pitchFamily="34" charset="0"/>
              </a:rPr>
              <a:t>: Alvin now holds Eve's key (thought it was Audrey's). Eve now holds Audrey's key.</a:t>
            </a:r>
          </a:p>
          <a:p>
            <a:endParaRPr lang="en-US" sz="1200">
              <a:latin typeface="Arial Narrow" panose="020B0606020202030204" pitchFamily="34" charset="0"/>
            </a:endParaRPr>
          </a:p>
          <a:p>
            <a:r>
              <a:rPr lang="en-US" sz="1200" b="1">
                <a:latin typeface="Arial Narrow" panose="020B0606020202030204" pitchFamily="34" charset="0"/>
              </a:rPr>
              <a:t>2. Phase 2: Attack</a:t>
            </a:r>
          </a:p>
          <a:p>
            <a:pPr marL="285750" indent="-285750">
              <a:buFont typeface="Arial" panose="020B0604020202020204" pitchFamily="34" charset="0"/>
              <a:buChar char="•"/>
            </a:pPr>
            <a:r>
              <a:rPr lang="en-US" sz="1200">
                <a:latin typeface="Arial Narrow" panose="020B0606020202030204" pitchFamily="34" charset="0"/>
              </a:rPr>
              <a:t>Alvin -&gt; Eve: Alvin writes "I miss Audrey". He uses the public key (which he thought was Audrey's) to encrypt. Since this is actually Eve's key, the ciphertext (&amp;$*DHHDJIIA~) is sent.</a:t>
            </a:r>
          </a:p>
          <a:p>
            <a:pPr marL="285750" indent="-285750">
              <a:buFont typeface="Arial" panose="020B0604020202020204" pitchFamily="34" charset="0"/>
              <a:buChar char="•"/>
            </a:pPr>
            <a:r>
              <a:rPr lang="en-US" sz="1200">
                <a:latin typeface="Arial Narrow" panose="020B0606020202030204" pitchFamily="34" charset="0"/>
              </a:rPr>
              <a:t>Eve (Decryption): Eve intercepts the ciphertext. She uses her Private Key to decrypt -&gt; Eve reads the message "I miss Audrey". (Confidentiality is broken).</a:t>
            </a:r>
          </a:p>
          <a:p>
            <a:pPr marL="285750" indent="-285750">
              <a:buFont typeface="Arial" panose="020B0604020202020204" pitchFamily="34" charset="0"/>
              <a:buChar char="•"/>
            </a:pPr>
            <a:r>
              <a:rPr lang="en-US" sz="1200">
                <a:latin typeface="Arial Narrow" panose="020B0606020202030204" pitchFamily="34" charset="0"/>
              </a:rPr>
              <a:t>Eve (Re-encryption): Eve changes the content to "I miss Eve". Then, she uses Audrey's real Public Key (which she has) to re-encrypt this message.</a:t>
            </a:r>
          </a:p>
          <a:p>
            <a:pPr marL="285750" indent="-285750">
              <a:buFont typeface="Arial" panose="020B0604020202020204" pitchFamily="34" charset="0"/>
              <a:buChar char="•"/>
            </a:pPr>
            <a:r>
              <a:rPr lang="en-US" sz="1200">
                <a:latin typeface="Arial Narrow" panose="020B0606020202030204" pitchFamily="34" charset="0"/>
              </a:rPr>
              <a:t>Eve -&gt; Audrey: Eve sends the new ciphertext (++_)DFkkfd$$) to Audrey.</a:t>
            </a:r>
          </a:p>
          <a:p>
            <a:pPr marL="285750" indent="-285750">
              <a:buFont typeface="Arial" panose="020B0604020202020204" pitchFamily="34" charset="0"/>
              <a:buChar char="•"/>
            </a:pPr>
            <a:r>
              <a:rPr lang="en-US" sz="1200">
                <a:latin typeface="Arial Narrow" panose="020B0606020202030204" pitchFamily="34" charset="0"/>
              </a:rPr>
              <a:t>Audrey (Decryption): Audrey receives the ciphertext and uses her real Private Key to decrypt it. She receives the message "I miss Eve" and believes it came from Alvin. (Integrity and Authentication are broken).</a:t>
            </a:r>
          </a:p>
          <a:p>
            <a:pPr marL="285750" indent="-285750">
              <a:buFont typeface="Arial" panose="020B0604020202020204" pitchFamily="34" charset="0"/>
              <a:buChar char="•"/>
            </a:pPr>
            <a:endParaRPr lang="en-US" sz="1200">
              <a:latin typeface="Arial Narrow" panose="020B0606020202030204" pitchFamily="34" charset="0"/>
            </a:endParaRPr>
          </a:p>
          <a:p>
            <a:r>
              <a:rPr lang="en-US" sz="1200">
                <a:latin typeface="Arial Narrow" panose="020B0606020202030204" pitchFamily="34" charset="0"/>
                <a:sym typeface="Wingdings" panose="05000000000000000000" pitchFamily="2" charset="2"/>
              </a:rPr>
              <a:t> </a:t>
            </a:r>
            <a:r>
              <a:rPr lang="en-US" sz="1200" b="1">
                <a:latin typeface="Arial Narrow" panose="020B0606020202030204" pitchFamily="34" charset="0"/>
                <a:sym typeface="Wingdings" panose="05000000000000000000" pitchFamily="2" charset="2"/>
              </a:rPr>
              <a:t>Conclusion</a:t>
            </a:r>
            <a:r>
              <a:rPr lang="en-US" sz="1200">
                <a:latin typeface="Arial Narrow" panose="020B0606020202030204" pitchFamily="34" charset="0"/>
                <a:sym typeface="Wingdings" panose="05000000000000000000" pitchFamily="2" charset="2"/>
              </a:rPr>
              <a:t>: A "Public Key" is simply a string of data. It contains no information to prove who it belongs to. Alvin has no way to verify that the key he receives actually belongs to Audrey.</a:t>
            </a:r>
            <a:endParaRPr lang="en-US" sz="1200">
              <a:latin typeface="Arial Narrow" panose="020B0606020202030204" pitchFamily="34" charset="0"/>
            </a:endParaRPr>
          </a:p>
          <a:p>
            <a:endParaRPr lang="en-US" sz="1200">
              <a:latin typeface="Arial Narrow" panose="020B0606020202030204" pitchFamily="34" charset="0"/>
            </a:endParaRPr>
          </a:p>
        </p:txBody>
      </p:sp>
    </p:spTree>
    <p:extLst>
      <p:ext uri="{BB962C8B-B14F-4D97-AF65-F5344CB8AC3E}">
        <p14:creationId xmlns:p14="http://schemas.microsoft.com/office/powerpoint/2010/main" val="895718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E35063C-CE4A-4514-8431-3A7C26108662}"/>
              </a:ext>
            </a:extLst>
          </p:cNvPr>
          <p:cNvSpPr>
            <a:spLocks noGrp="1"/>
          </p:cNvSpPr>
          <p:nvPr>
            <p:ph type="body" sz="quarter" idx="11"/>
          </p:nvPr>
        </p:nvSpPr>
        <p:spPr/>
        <p:txBody>
          <a:bodyPr/>
          <a:lstStyle/>
          <a:p>
            <a:r>
              <a:rPr lang="en-US"/>
              <a:t>XI. PKI (Public Key Infrastructure)</a:t>
            </a:r>
          </a:p>
        </p:txBody>
      </p:sp>
      <p:graphicFrame>
        <p:nvGraphicFramePr>
          <p:cNvPr id="10" name="Table 9">
            <a:extLst>
              <a:ext uri="{FF2B5EF4-FFF2-40B4-BE49-F238E27FC236}">
                <a16:creationId xmlns:a16="http://schemas.microsoft.com/office/drawing/2014/main" id="{0CC47241-E84F-43BF-B713-CB74D4D883E1}"/>
              </a:ext>
            </a:extLst>
          </p:cNvPr>
          <p:cNvGraphicFramePr>
            <a:graphicFrameLocks noGrp="1"/>
          </p:cNvGraphicFramePr>
          <p:nvPr>
            <p:extLst>
              <p:ext uri="{D42A27DB-BD31-4B8C-83A1-F6EECF244321}">
                <p14:modId xmlns:p14="http://schemas.microsoft.com/office/powerpoint/2010/main" val="2993098837"/>
              </p:ext>
            </p:extLst>
          </p:nvPr>
        </p:nvGraphicFramePr>
        <p:xfrm>
          <a:off x="176914" y="974522"/>
          <a:ext cx="9552171" cy="5173862"/>
        </p:xfrm>
        <a:graphic>
          <a:graphicData uri="http://schemas.openxmlformats.org/drawingml/2006/table">
            <a:tbl>
              <a:tblPr firstRow="1" bandRow="1">
                <a:tableStyleId>{5940675A-B579-460E-94D1-54222C63F5DA}</a:tableStyleId>
              </a:tblPr>
              <a:tblGrid>
                <a:gridCol w="889886">
                  <a:extLst>
                    <a:ext uri="{9D8B030D-6E8A-4147-A177-3AD203B41FA5}">
                      <a16:colId xmlns:a16="http://schemas.microsoft.com/office/drawing/2014/main" val="743303377"/>
                    </a:ext>
                  </a:extLst>
                </a:gridCol>
                <a:gridCol w="8662285">
                  <a:extLst>
                    <a:ext uri="{9D8B030D-6E8A-4147-A177-3AD203B41FA5}">
                      <a16:colId xmlns:a16="http://schemas.microsoft.com/office/drawing/2014/main" val="790174250"/>
                    </a:ext>
                  </a:extLst>
                </a:gridCol>
              </a:tblGrid>
              <a:tr h="1616278">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Problem</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Solve</a:t>
                      </a: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New Role</a:t>
                      </a:r>
                      <a:r>
                        <a:rPr lang="en-US" sz="1200">
                          <a:latin typeface="Arial Narrow" panose="020B0606020202030204" pitchFamily="34" charset="0"/>
                        </a:rPr>
                        <a:t>: Introduce a trusted third party called a </a:t>
                      </a:r>
                      <a:r>
                        <a:rPr lang="en-US" sz="1200" b="1">
                          <a:latin typeface="Arial Narrow" panose="020B0606020202030204" pitchFamily="34" charset="0"/>
                        </a:rPr>
                        <a:t>Certificate Authority </a:t>
                      </a:r>
                      <a:r>
                        <a:rPr lang="en-US" sz="1200">
                          <a:latin typeface="Arial Narrow" panose="020B0606020202030204" pitchFamily="34" charset="0"/>
                        </a:rPr>
                        <a:t>(CA). The CA itself has a key pair (Public/Private Key).</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Requesting a Certificate</a:t>
                      </a:r>
                      <a:r>
                        <a:rPr lang="en-US" sz="1200">
                          <a:latin typeface="Arial Narrow" panose="020B0606020202030204" pitchFamily="34" charset="0"/>
                        </a:rPr>
                        <a:t>: Audrey sends her Public Key (along with proof of identity, not shown in the image) to the CA.</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a:latin typeface="Arial Narrow" panose="020B0606020202030204" pitchFamily="34" charset="0"/>
                        </a:rPr>
                        <a:t>Signing Process</a:t>
                      </a:r>
                      <a:r>
                        <a:rPr lang="en-US" sz="1200">
                          <a:latin typeface="Arial Narrow" panose="020B060602020203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Narrow" panose="020B0606020202030204" pitchFamily="34" charset="0"/>
                        </a:rPr>
                        <a:t>The CA verifies Audrey's identity (this step is very important).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Narrow" panose="020B0606020202030204" pitchFamily="34" charset="0"/>
                        </a:rPr>
                        <a:t>The CA creates a new document called a Certificate.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Narrow" panose="020B0606020202030204" pitchFamily="34" charset="0"/>
                        </a:rPr>
                        <a:t>This certificate contains Audrey's Public Key and her identification information (e.g., "This CA certifies that this public key is owned by Audrey").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Narrow" panose="020B0606020202030204" pitchFamily="34" charset="0"/>
                        </a:rPr>
                        <a:t>The CA uses its own Private Key to sign the entire certificate.</a:t>
                      </a:r>
                    </a:p>
                  </a:txBody>
                  <a:tcPr/>
                </a:tc>
                <a:extLst>
                  <a:ext uri="{0D108BD9-81ED-4DB2-BD59-A6C34878D82A}">
                    <a16:rowId xmlns:a16="http://schemas.microsoft.com/office/drawing/2014/main" val="2926055594"/>
                  </a:ext>
                </a:extLst>
              </a:tr>
              <a:tr h="355758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latin typeface="Arial Narrow" panose="020B0606020202030204" pitchFamily="34" charset="0"/>
                        </a:rPr>
                        <a:t>Process</a:t>
                      </a:r>
                      <a:endParaRPr lang="en-US" sz="1200" b="1">
                        <a:latin typeface="Arial Narrow" panose="020B0606020202030204" pitchFamily="34" charset="0"/>
                      </a:endParaRPr>
                    </a:p>
                    <a:p>
                      <a:pPr marL="0" indent="0">
                        <a:buFont typeface="Arial" panose="020B0604020202020204" pitchFamily="34" charset="0"/>
                        <a:buNone/>
                      </a:pPr>
                      <a:endParaRPr lang="en-US" sz="1200">
                        <a:latin typeface="Arial Narrow" panose="020B0606020202030204" pitchFamily="34" charset="0"/>
                      </a:endParaRPr>
                    </a:p>
                  </a:txBody>
                  <a:tcPr>
                    <a:solidFill>
                      <a:schemeClr val="bg1">
                        <a:lumMod val="85000"/>
                      </a:schemeClr>
                    </a:solidFill>
                  </a:tcPr>
                </a:tc>
                <a:tc>
                  <a:txBody>
                    <a:bodyPr/>
                    <a:lstStyle/>
                    <a:p>
                      <a:pPr marL="0" indent="0">
                        <a:buFont typeface="Arial" panose="020B0604020202020204" pitchFamily="34" charset="0"/>
                        <a:buNone/>
                      </a:pPr>
                      <a:endParaRPr lang="en-US" sz="1200">
                        <a:latin typeface="Arial Narrow" panose="020B0606020202030204" pitchFamily="34" charset="0"/>
                      </a:endParaRPr>
                    </a:p>
                  </a:txBody>
                  <a:tcPr/>
                </a:tc>
                <a:extLst>
                  <a:ext uri="{0D108BD9-81ED-4DB2-BD59-A6C34878D82A}">
                    <a16:rowId xmlns:a16="http://schemas.microsoft.com/office/drawing/2014/main" val="3000010585"/>
                  </a:ext>
                </a:extLst>
              </a:tr>
            </a:tbl>
          </a:graphicData>
        </a:graphic>
      </p:graphicFrame>
      <p:pic>
        <p:nvPicPr>
          <p:cNvPr id="11" name="Picture 10">
            <a:hlinkClick r:id="rId2" action="ppaction://hlinksldjump"/>
            <a:extLst>
              <a:ext uri="{FF2B5EF4-FFF2-40B4-BE49-F238E27FC236}">
                <a16:creationId xmlns:a16="http://schemas.microsoft.com/office/drawing/2014/main" id="{94970CA3-3D4B-424A-8A65-15863662B1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77" y="3197484"/>
            <a:ext cx="3025742" cy="2214625"/>
          </a:xfrm>
          <a:prstGeom prst="rect">
            <a:avLst/>
          </a:prstGeom>
        </p:spPr>
      </p:pic>
      <p:sp>
        <p:nvSpPr>
          <p:cNvPr id="12" name="TextBox 11">
            <a:extLst>
              <a:ext uri="{FF2B5EF4-FFF2-40B4-BE49-F238E27FC236}">
                <a16:creationId xmlns:a16="http://schemas.microsoft.com/office/drawing/2014/main" id="{35C08DBF-B4B9-429E-ADFA-63F67CB3167D}"/>
              </a:ext>
            </a:extLst>
          </p:cNvPr>
          <p:cNvSpPr txBox="1"/>
          <p:nvPr/>
        </p:nvSpPr>
        <p:spPr>
          <a:xfrm>
            <a:off x="4396760" y="2965969"/>
            <a:ext cx="5046784" cy="2492990"/>
          </a:xfrm>
          <a:prstGeom prst="rect">
            <a:avLst/>
          </a:prstGeom>
          <a:noFill/>
        </p:spPr>
        <p:txBody>
          <a:bodyPr wrap="square" rtlCol="0">
            <a:spAutoFit/>
          </a:bodyPr>
          <a:lstStyle/>
          <a:p>
            <a:endParaRPr lang="en-US" sz="1200" b="1">
              <a:latin typeface="Arial Narrow" panose="020B0606020202030204" pitchFamily="34" charset="0"/>
            </a:endParaRPr>
          </a:p>
          <a:p>
            <a:r>
              <a:rPr lang="en-US" sz="1200">
                <a:latin typeface="Arial Narrow" panose="020B0606020202030204" pitchFamily="34" charset="0"/>
              </a:rPr>
              <a:t>1. When Alvin wants to communicate, Audrey sends him her Certificate (instead of just sending the bare Public Key).</a:t>
            </a:r>
          </a:p>
          <a:p>
            <a:pPr marL="228600" indent="-228600">
              <a:buAutoNum type="arabicPeriod"/>
            </a:pPr>
            <a:endParaRPr lang="en-US" sz="1200">
              <a:latin typeface="Arial Narrow" panose="020B0606020202030204" pitchFamily="34" charset="0"/>
            </a:endParaRPr>
          </a:p>
          <a:p>
            <a:r>
              <a:rPr lang="en-US" sz="1200">
                <a:latin typeface="Arial Narrow" panose="020B0606020202030204" pitchFamily="34" charset="0"/>
              </a:rPr>
              <a:t>2. Alvin receives the Certificate. Alvin's system must have the CA's Public Key installed (called the Root Certificate and is trusted by default).</a:t>
            </a:r>
          </a:p>
          <a:p>
            <a:endParaRPr lang="en-US" sz="1200">
              <a:latin typeface="Arial Narrow" panose="020B0606020202030204" pitchFamily="34" charset="0"/>
            </a:endParaRPr>
          </a:p>
          <a:p>
            <a:r>
              <a:rPr lang="en-US" sz="1200">
                <a:latin typeface="Arial Narrow" panose="020B0606020202030204" pitchFamily="34" charset="0"/>
              </a:rPr>
              <a:t>3. Alvin uses the CA's Public Key to verify the signature on Audrey's Certificate.</a:t>
            </a:r>
          </a:p>
          <a:p>
            <a:endParaRPr lang="en-US" sz="1200">
              <a:latin typeface="Arial Narrow" panose="020B0606020202030204" pitchFamily="34" charset="0"/>
            </a:endParaRPr>
          </a:p>
          <a:p>
            <a:r>
              <a:rPr lang="en-US" sz="1200">
                <a:latin typeface="Arial Narrow" panose="020B0606020202030204" pitchFamily="34" charset="0"/>
              </a:rPr>
              <a:t>4. If the signature is valid, Alvin can be 100% confident that the Public Key inside the Certificate really belongs to Audrey. He has authenticated the owner, thereby stopping the attack.</a:t>
            </a:r>
          </a:p>
          <a:p>
            <a:endParaRPr lang="en-US" sz="1200" b="1">
              <a:latin typeface="Arial Narrow" panose="020B0606020202030204" pitchFamily="34" charset="0"/>
            </a:endParaRPr>
          </a:p>
        </p:txBody>
      </p:sp>
    </p:spTree>
    <p:extLst>
      <p:ext uri="{BB962C8B-B14F-4D97-AF65-F5344CB8AC3E}">
        <p14:creationId xmlns:p14="http://schemas.microsoft.com/office/powerpoint/2010/main" val="2192527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517D42E1-C8CA-4ED9-87FA-B9B0F2525C07}"/>
              </a:ext>
            </a:extLst>
          </p:cNvPr>
          <p:cNvSpPr>
            <a:spLocks noGrp="1"/>
          </p:cNvSpPr>
          <p:nvPr>
            <p:ph type="body" sz="quarter" idx="11"/>
          </p:nvPr>
        </p:nvSpPr>
        <p:spPr/>
        <p:txBody>
          <a:bodyPr/>
          <a:lstStyle/>
          <a:p>
            <a:r>
              <a:rPr lang="en-US"/>
              <a:t>XII. Practical Applications</a:t>
            </a:r>
          </a:p>
        </p:txBody>
      </p:sp>
      <p:sp>
        <p:nvSpPr>
          <p:cNvPr id="16" name="Text Placeholder 15">
            <a:extLst>
              <a:ext uri="{FF2B5EF4-FFF2-40B4-BE49-F238E27FC236}">
                <a16:creationId xmlns:a16="http://schemas.microsoft.com/office/drawing/2014/main" id="{5A778845-4188-4358-8A89-6AA5BA545D4C}"/>
              </a:ext>
            </a:extLst>
          </p:cNvPr>
          <p:cNvSpPr>
            <a:spLocks noGrp="1"/>
          </p:cNvSpPr>
          <p:nvPr>
            <p:ph type="body" sz="quarter" idx="12"/>
          </p:nvPr>
        </p:nvSpPr>
        <p:spPr>
          <a:xfrm>
            <a:off x="5503134" y="1303852"/>
            <a:ext cx="4245888" cy="4574950"/>
          </a:xfrm>
        </p:spPr>
        <p:txBody>
          <a:bodyPr/>
          <a:lstStyle/>
          <a:p>
            <a:pPr marL="0" indent="0">
              <a:buNone/>
            </a:pPr>
            <a:r>
              <a:rPr lang="en-US" sz="1400" b="1"/>
              <a:t>1. OTA update</a:t>
            </a:r>
          </a:p>
          <a:p>
            <a:pPr>
              <a:buFont typeface="Arial" panose="020B0604020202020204" pitchFamily="34" charset="0"/>
              <a:buChar char="•"/>
            </a:pPr>
            <a:r>
              <a:rPr lang="en-US" sz="1400"/>
              <a:t>Digital Signature</a:t>
            </a:r>
          </a:p>
          <a:p>
            <a:pPr>
              <a:buFont typeface="Arial" panose="020B0604020202020204" pitchFamily="34" charset="0"/>
              <a:buChar char="•"/>
            </a:pPr>
            <a:r>
              <a:rPr lang="en-US" sz="1400"/>
              <a:t>PKI</a:t>
            </a:r>
            <a:endParaRPr lang="en-US" sz="1400" b="1"/>
          </a:p>
          <a:p>
            <a:pPr marL="0" indent="0">
              <a:buNone/>
            </a:pPr>
            <a:r>
              <a:rPr lang="en-US" sz="1400" b="1"/>
              <a:t>2. Data in Transit protection</a:t>
            </a:r>
          </a:p>
          <a:p>
            <a:pPr>
              <a:buFont typeface="Arial" panose="020B0604020202020204" pitchFamily="34" charset="0"/>
              <a:buChar char="•"/>
            </a:pPr>
            <a:r>
              <a:rPr lang="en-US" sz="1400"/>
              <a:t>Hybrid Cryptography (Symmetric &amp; Asymmetric)</a:t>
            </a:r>
            <a:endParaRPr lang="en-US" sz="1400" b="1"/>
          </a:p>
          <a:p>
            <a:pPr marL="0" indent="0">
              <a:buNone/>
            </a:pPr>
            <a:r>
              <a:rPr lang="en-US" sz="1400" b="1"/>
              <a:t>3. In – Vehicle Communication protection</a:t>
            </a:r>
          </a:p>
          <a:p>
            <a:pPr>
              <a:buFont typeface="Arial" panose="020B0604020202020204" pitchFamily="34" charset="0"/>
              <a:buChar char="•"/>
            </a:pPr>
            <a:r>
              <a:rPr lang="en-US" sz="1400"/>
              <a:t>MAC</a:t>
            </a:r>
            <a:endParaRPr lang="en-US" sz="1400" b="1"/>
          </a:p>
          <a:p>
            <a:pPr marL="0" indent="0">
              <a:buNone/>
            </a:pPr>
            <a:r>
              <a:rPr lang="en-US" sz="1400" b="1"/>
              <a:t>4. Data at Rest protection</a:t>
            </a:r>
          </a:p>
          <a:p>
            <a:pPr>
              <a:buFont typeface="Arial" panose="020B0604020202020204" pitchFamily="34" charset="0"/>
              <a:buChar char="•"/>
            </a:pPr>
            <a:r>
              <a:rPr lang="en-US" sz="1400"/>
              <a:t>Symmetric Key</a:t>
            </a:r>
          </a:p>
          <a:p>
            <a:pPr>
              <a:buFont typeface="Arial" panose="020B0604020202020204" pitchFamily="34" charset="0"/>
              <a:buChar char="•"/>
            </a:pPr>
            <a:endParaRPr lang="en-US" sz="1400" b="1"/>
          </a:p>
        </p:txBody>
      </p:sp>
      <p:pic>
        <p:nvPicPr>
          <p:cNvPr id="17" name="Picture 16">
            <a:extLst>
              <a:ext uri="{FF2B5EF4-FFF2-40B4-BE49-F238E27FC236}">
                <a16:creationId xmlns:a16="http://schemas.microsoft.com/office/drawing/2014/main" id="{72A4A621-5219-4E60-B6EA-8AA32B4871B2}"/>
              </a:ext>
            </a:extLst>
          </p:cNvPr>
          <p:cNvPicPr>
            <a:picLocks noChangeAspect="1"/>
          </p:cNvPicPr>
          <p:nvPr/>
        </p:nvPicPr>
        <p:blipFill>
          <a:blip r:embed="rId3"/>
          <a:stretch>
            <a:fillRect/>
          </a:stretch>
        </p:blipFill>
        <p:spPr>
          <a:xfrm>
            <a:off x="156978" y="1303852"/>
            <a:ext cx="5044336" cy="4574950"/>
          </a:xfrm>
          <a:prstGeom prst="rect">
            <a:avLst/>
          </a:prstGeom>
        </p:spPr>
      </p:pic>
    </p:spTree>
    <p:extLst>
      <p:ext uri="{BB962C8B-B14F-4D97-AF65-F5344CB8AC3E}">
        <p14:creationId xmlns:p14="http://schemas.microsoft.com/office/powerpoint/2010/main" val="578764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517D42E1-C8CA-4ED9-87FA-B9B0F2525C07}"/>
              </a:ext>
            </a:extLst>
          </p:cNvPr>
          <p:cNvSpPr>
            <a:spLocks noGrp="1"/>
          </p:cNvSpPr>
          <p:nvPr>
            <p:ph type="body" sz="quarter" idx="11"/>
          </p:nvPr>
        </p:nvSpPr>
        <p:spPr/>
        <p:txBody>
          <a:bodyPr/>
          <a:lstStyle/>
          <a:p>
            <a:r>
              <a:rPr lang="en-US"/>
              <a:t>XII. Practical Applications</a:t>
            </a:r>
          </a:p>
          <a:p>
            <a:endParaRPr lang="en-US"/>
          </a:p>
        </p:txBody>
      </p:sp>
      <p:sp>
        <p:nvSpPr>
          <p:cNvPr id="16" name="Text Placeholder 15">
            <a:extLst>
              <a:ext uri="{FF2B5EF4-FFF2-40B4-BE49-F238E27FC236}">
                <a16:creationId xmlns:a16="http://schemas.microsoft.com/office/drawing/2014/main" id="{5A778845-4188-4358-8A89-6AA5BA545D4C}"/>
              </a:ext>
            </a:extLst>
          </p:cNvPr>
          <p:cNvSpPr>
            <a:spLocks noGrp="1"/>
          </p:cNvSpPr>
          <p:nvPr>
            <p:ph type="body" sz="quarter" idx="12"/>
          </p:nvPr>
        </p:nvSpPr>
        <p:spPr>
          <a:xfrm>
            <a:off x="156978" y="937625"/>
            <a:ext cx="4775201" cy="279622"/>
          </a:xfrm>
        </p:spPr>
        <p:txBody>
          <a:bodyPr/>
          <a:lstStyle/>
          <a:p>
            <a:pPr marL="0" indent="0">
              <a:buNone/>
            </a:pPr>
            <a:r>
              <a:rPr lang="en-US" sz="1400" b="1"/>
              <a:t>1. OTA update</a:t>
            </a:r>
          </a:p>
          <a:p>
            <a:pPr>
              <a:buFont typeface="Arial" panose="020B0604020202020204" pitchFamily="34" charset="0"/>
              <a:buChar char="•"/>
            </a:pPr>
            <a:endParaRPr lang="en-US" sz="1400"/>
          </a:p>
        </p:txBody>
      </p:sp>
      <p:graphicFrame>
        <p:nvGraphicFramePr>
          <p:cNvPr id="5" name="Table 4">
            <a:extLst>
              <a:ext uri="{FF2B5EF4-FFF2-40B4-BE49-F238E27FC236}">
                <a16:creationId xmlns:a16="http://schemas.microsoft.com/office/drawing/2014/main" id="{637FA0DC-2E8A-4520-ADAF-F359124582CD}"/>
              </a:ext>
            </a:extLst>
          </p:cNvPr>
          <p:cNvGraphicFramePr>
            <a:graphicFrameLocks noGrp="1"/>
          </p:cNvGraphicFramePr>
          <p:nvPr>
            <p:extLst>
              <p:ext uri="{D42A27DB-BD31-4B8C-83A1-F6EECF244321}">
                <p14:modId xmlns:p14="http://schemas.microsoft.com/office/powerpoint/2010/main" val="1664249430"/>
              </p:ext>
            </p:extLst>
          </p:nvPr>
        </p:nvGraphicFramePr>
        <p:xfrm>
          <a:off x="1290431" y="1398743"/>
          <a:ext cx="7325138" cy="4521632"/>
        </p:xfrm>
        <a:graphic>
          <a:graphicData uri="http://schemas.openxmlformats.org/drawingml/2006/table">
            <a:tbl>
              <a:tblPr firstRow="1" bandRow="1">
                <a:tableStyleId>{5940675A-B579-460E-94D1-54222C63F5DA}</a:tableStyleId>
              </a:tblPr>
              <a:tblGrid>
                <a:gridCol w="1012015">
                  <a:extLst>
                    <a:ext uri="{9D8B030D-6E8A-4147-A177-3AD203B41FA5}">
                      <a16:colId xmlns:a16="http://schemas.microsoft.com/office/drawing/2014/main" val="1719412402"/>
                    </a:ext>
                  </a:extLst>
                </a:gridCol>
                <a:gridCol w="3330857">
                  <a:extLst>
                    <a:ext uri="{9D8B030D-6E8A-4147-A177-3AD203B41FA5}">
                      <a16:colId xmlns:a16="http://schemas.microsoft.com/office/drawing/2014/main" val="790174250"/>
                    </a:ext>
                  </a:extLst>
                </a:gridCol>
                <a:gridCol w="2982266">
                  <a:extLst>
                    <a:ext uri="{9D8B030D-6E8A-4147-A177-3AD203B41FA5}">
                      <a16:colId xmlns:a16="http://schemas.microsoft.com/office/drawing/2014/main" val="2884921092"/>
                    </a:ext>
                  </a:extLst>
                </a:gridCol>
              </a:tblGrid>
              <a:tr h="706505">
                <a:tc>
                  <a:txBody>
                    <a:bodyPr/>
                    <a:lstStyle/>
                    <a:p>
                      <a:pPr algn="ctr"/>
                      <a:endParaRPr lang="en-US" sz="1400" b="1">
                        <a:latin typeface="Arial Narrow" panose="020B0606020202030204" pitchFamily="34" charset="0"/>
                      </a:endParaRPr>
                    </a:p>
                  </a:txBody>
                  <a:tcPr>
                    <a:solidFill>
                      <a:schemeClr val="bg1"/>
                    </a:solidFill>
                  </a:tcPr>
                </a:tc>
                <a:tc>
                  <a:txBody>
                    <a:bodyPr/>
                    <a:lstStyle/>
                    <a:p>
                      <a:pPr algn="ctr"/>
                      <a:r>
                        <a:rPr lang="en-US" sz="1400" b="1">
                          <a:latin typeface="Arial Narrow" panose="020B0606020202030204" pitchFamily="34" charset="0"/>
                        </a:rPr>
                        <a:t>Digital Signature</a:t>
                      </a:r>
                    </a:p>
                  </a:txBody>
                  <a:tcPr>
                    <a:solidFill>
                      <a:schemeClr val="bg1">
                        <a:lumMod val="85000"/>
                      </a:schemeClr>
                    </a:solidFill>
                  </a:tcPr>
                </a:tc>
                <a:tc>
                  <a:txBody>
                    <a:bodyPr/>
                    <a:lstStyle/>
                    <a:p>
                      <a:pPr algn="ctr"/>
                      <a:r>
                        <a:rPr lang="en-US" sz="1400" b="1">
                          <a:latin typeface="Arial Narrow" panose="020B0606020202030204" pitchFamily="34" charset="0"/>
                        </a:rPr>
                        <a:t>PKI</a:t>
                      </a:r>
                    </a:p>
                  </a:txBody>
                  <a:tcPr>
                    <a:solidFill>
                      <a:schemeClr val="bg1">
                        <a:lumMod val="85000"/>
                      </a:schemeClr>
                    </a:solidFill>
                  </a:tcPr>
                </a:tc>
                <a:extLst>
                  <a:ext uri="{0D108BD9-81ED-4DB2-BD59-A6C34878D82A}">
                    <a16:rowId xmlns:a16="http://schemas.microsoft.com/office/drawing/2014/main" val="909986897"/>
                  </a:ext>
                </a:extLst>
              </a:tr>
              <a:tr h="148366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Objectives</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a:latin typeface="Arial Narrow" panose="020B0606020202030204" pitchFamily="34" charset="0"/>
                        </a:rPr>
                        <a:t>Ensure software integrity and authenticity.</a:t>
                      </a:r>
                    </a:p>
                    <a:p>
                      <a:pPr marL="0" indent="0">
                        <a:buFont typeface="Wingdings" panose="05000000000000000000" pitchFamily="2" charset="2"/>
                        <a:buNone/>
                      </a:pPr>
                      <a:endParaRPr lang="en-US" sz="1200">
                        <a:latin typeface="Arial Narrow" panose="020B0606020202030204" pitchFamily="34" charset="0"/>
                      </a:endParaRPr>
                    </a:p>
                  </a:txBody>
                  <a:tcPr/>
                </a:tc>
                <a:tc>
                  <a:txBody>
                    <a:bodyPr/>
                    <a:lstStyle/>
                    <a:p>
                      <a:pPr marL="171450" indent="-171450">
                        <a:buFont typeface="Wingdings" panose="05000000000000000000" pitchFamily="2" charset="2"/>
                        <a:buChar char="q"/>
                      </a:pPr>
                      <a:r>
                        <a:rPr lang="en-US" sz="1200">
                          <a:latin typeface="Arial Narrow" panose="020B0606020202030204" pitchFamily="34" charset="0"/>
                        </a:rPr>
                        <a:t>: Prevent Man-in-the-Middle (MITM) attacks during the update download.</a:t>
                      </a:r>
                    </a:p>
                  </a:txBody>
                  <a:tcPr/>
                </a:tc>
                <a:extLst>
                  <a:ext uri="{0D108BD9-81ED-4DB2-BD59-A6C34878D82A}">
                    <a16:rowId xmlns:a16="http://schemas.microsoft.com/office/drawing/2014/main" val="2926055594"/>
                  </a:ext>
                </a:extLst>
              </a:tr>
              <a:tr h="2331466">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Application</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0" i="0">
                          <a:latin typeface="Arial Narrow" panose="020B0606020202030204" pitchFamily="34" charset="0"/>
                        </a:rPr>
                        <a:t>The OEM (LG/Manufacturer) Signs the OTA update package using its Private Key. The IVI unit, which has the OEM's Public Key pre-installed, Verifies this signature. The update is only installed if the verification succeeds.</a:t>
                      </a:r>
                    </a:p>
                  </a:txBody>
                  <a:tcPr/>
                </a:tc>
                <a:tc>
                  <a:txBody>
                    <a:bodyPr/>
                    <a:lstStyle/>
                    <a:p>
                      <a:pPr marL="171450" indent="-171450">
                        <a:buFont typeface="Wingdings" panose="05000000000000000000" pitchFamily="2" charset="2"/>
                        <a:buChar char="q"/>
                      </a:pPr>
                      <a:r>
                        <a:rPr lang="en-US" sz="1200" b="0">
                          <a:latin typeface="Arial Narrow" panose="020B0606020202030204" pitchFamily="34" charset="0"/>
                        </a:rPr>
                        <a:t>The IVI connects to the OTA server via TLS (HTTPS). The IVI uses its built-in trusted PKI (Root CAs) to authenticate the server's Certificate, ensuring it is communicating with the genuine OEM server and not a malicious imposter.</a:t>
                      </a:r>
                    </a:p>
                    <a:p>
                      <a:pPr marL="0" indent="0">
                        <a:buFont typeface="Wingdings" panose="05000000000000000000" pitchFamily="2" charset="2"/>
                        <a:buNone/>
                      </a:pPr>
                      <a:endParaRPr lang="en-US" sz="1200">
                        <a:latin typeface="Arial Narrow" panose="020B0606020202030204" pitchFamily="34" charset="0"/>
                      </a:endParaRPr>
                    </a:p>
                  </a:txBody>
                  <a:tcPr/>
                </a:tc>
                <a:extLst>
                  <a:ext uri="{0D108BD9-81ED-4DB2-BD59-A6C34878D82A}">
                    <a16:rowId xmlns:a16="http://schemas.microsoft.com/office/drawing/2014/main" val="3373850918"/>
                  </a:ext>
                </a:extLst>
              </a:tr>
            </a:tbl>
          </a:graphicData>
        </a:graphic>
      </p:graphicFrame>
    </p:spTree>
    <p:extLst>
      <p:ext uri="{BB962C8B-B14F-4D97-AF65-F5344CB8AC3E}">
        <p14:creationId xmlns:p14="http://schemas.microsoft.com/office/powerpoint/2010/main" val="2575998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517D42E1-C8CA-4ED9-87FA-B9B0F2525C07}"/>
              </a:ext>
            </a:extLst>
          </p:cNvPr>
          <p:cNvSpPr>
            <a:spLocks noGrp="1"/>
          </p:cNvSpPr>
          <p:nvPr>
            <p:ph type="body" sz="quarter" idx="11"/>
          </p:nvPr>
        </p:nvSpPr>
        <p:spPr/>
        <p:txBody>
          <a:bodyPr/>
          <a:lstStyle/>
          <a:p>
            <a:r>
              <a:rPr lang="en-US"/>
              <a:t>XII. Practical Applications</a:t>
            </a:r>
          </a:p>
          <a:p>
            <a:endParaRPr lang="en-US"/>
          </a:p>
        </p:txBody>
      </p:sp>
      <p:sp>
        <p:nvSpPr>
          <p:cNvPr id="6" name="Text Placeholder 15">
            <a:extLst>
              <a:ext uri="{FF2B5EF4-FFF2-40B4-BE49-F238E27FC236}">
                <a16:creationId xmlns:a16="http://schemas.microsoft.com/office/drawing/2014/main" id="{32D50990-82BF-45D3-8F41-B192D128C766}"/>
              </a:ext>
            </a:extLst>
          </p:cNvPr>
          <p:cNvSpPr txBox="1">
            <a:spLocks/>
          </p:cNvSpPr>
          <p:nvPr/>
        </p:nvSpPr>
        <p:spPr>
          <a:xfrm>
            <a:off x="156978" y="937625"/>
            <a:ext cx="4775201" cy="279622"/>
          </a:xfrm>
          <a:prstGeom prst="rect">
            <a:avLst/>
          </a:prstGeom>
        </p:spPr>
        <p:txBody>
          <a:bodyPr/>
          <a:lstStyle>
            <a:lvl1pPr marL="288000" indent="-288000" algn="l" defTabSz="914400" rtl="0" eaLnBrk="1" latinLnBrk="0" hangingPunct="1">
              <a:lnSpc>
                <a:spcPct val="90000"/>
              </a:lnSpc>
              <a:spcBef>
                <a:spcPts val="1000"/>
              </a:spcBef>
              <a:buFont typeface="Wingdings" panose="05000000000000000000" pitchFamily="2" charset="2"/>
              <a:buChar char="Ø"/>
              <a:defRPr sz="1600" kern="1200">
                <a:solidFill>
                  <a:schemeClr val="tx1"/>
                </a:solidFill>
                <a:latin typeface="Arial Narrow" panose="020B0606020202030204" pitchFamily="34" charset="0"/>
                <a:ea typeface="LG스마트체 SemiBold" panose="020B0600000101010101" pitchFamily="50" charset="-127"/>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2. Data in Transit protection</a:t>
            </a:r>
          </a:p>
          <a:p>
            <a:pPr>
              <a:buFont typeface="Arial" panose="020B0604020202020204" pitchFamily="34" charset="0"/>
              <a:buChar char="•"/>
            </a:pPr>
            <a:endParaRPr lang="en-US" sz="1400"/>
          </a:p>
        </p:txBody>
      </p:sp>
      <p:graphicFrame>
        <p:nvGraphicFramePr>
          <p:cNvPr id="7" name="Table 6">
            <a:extLst>
              <a:ext uri="{FF2B5EF4-FFF2-40B4-BE49-F238E27FC236}">
                <a16:creationId xmlns:a16="http://schemas.microsoft.com/office/drawing/2014/main" id="{60D4A6CC-94E6-4D93-A94E-C86DD8B97230}"/>
              </a:ext>
            </a:extLst>
          </p:cNvPr>
          <p:cNvGraphicFramePr>
            <a:graphicFrameLocks noGrp="1"/>
          </p:cNvGraphicFramePr>
          <p:nvPr>
            <p:extLst>
              <p:ext uri="{D42A27DB-BD31-4B8C-83A1-F6EECF244321}">
                <p14:modId xmlns:p14="http://schemas.microsoft.com/office/powerpoint/2010/main" val="4224627083"/>
              </p:ext>
            </p:extLst>
          </p:nvPr>
        </p:nvGraphicFramePr>
        <p:xfrm>
          <a:off x="1398933" y="1448246"/>
          <a:ext cx="7108134" cy="4521632"/>
        </p:xfrm>
        <a:graphic>
          <a:graphicData uri="http://schemas.openxmlformats.org/drawingml/2006/table">
            <a:tbl>
              <a:tblPr firstRow="1" bandRow="1">
                <a:tableStyleId>{5940675A-B579-460E-94D1-54222C63F5DA}</a:tableStyleId>
              </a:tblPr>
              <a:tblGrid>
                <a:gridCol w="1008768">
                  <a:extLst>
                    <a:ext uri="{9D8B030D-6E8A-4147-A177-3AD203B41FA5}">
                      <a16:colId xmlns:a16="http://schemas.microsoft.com/office/drawing/2014/main" val="1719412402"/>
                    </a:ext>
                  </a:extLst>
                </a:gridCol>
                <a:gridCol w="6099366">
                  <a:extLst>
                    <a:ext uri="{9D8B030D-6E8A-4147-A177-3AD203B41FA5}">
                      <a16:colId xmlns:a16="http://schemas.microsoft.com/office/drawing/2014/main" val="790174250"/>
                    </a:ext>
                  </a:extLst>
                </a:gridCol>
              </a:tblGrid>
              <a:tr h="706505">
                <a:tc>
                  <a:txBody>
                    <a:bodyPr/>
                    <a:lstStyle/>
                    <a:p>
                      <a:pPr algn="ctr"/>
                      <a:endParaRPr lang="en-US" sz="1400" b="1">
                        <a:latin typeface="Arial Narrow" panose="020B0606020202030204" pitchFamily="34" charset="0"/>
                      </a:endParaRPr>
                    </a:p>
                  </a:txBody>
                  <a:tcPr>
                    <a:solidFill>
                      <a:schemeClr val="bg1"/>
                    </a:solidFill>
                  </a:tcPr>
                </a:tc>
                <a:tc>
                  <a:txBody>
                    <a:bodyPr/>
                    <a:lstStyle/>
                    <a:p>
                      <a:pPr algn="ctr"/>
                      <a:r>
                        <a:rPr lang="en-US" sz="1400" b="1">
                          <a:latin typeface="Arial Narrow" panose="020B0606020202030204" pitchFamily="34" charset="0"/>
                        </a:rPr>
                        <a:t>Hybrid Cryptography (Symmetric &amp; Asymmetric)</a:t>
                      </a:r>
                    </a:p>
                  </a:txBody>
                  <a:tcPr>
                    <a:solidFill>
                      <a:schemeClr val="bg1">
                        <a:lumMod val="85000"/>
                      </a:schemeClr>
                    </a:solidFill>
                  </a:tcPr>
                </a:tc>
                <a:extLst>
                  <a:ext uri="{0D108BD9-81ED-4DB2-BD59-A6C34878D82A}">
                    <a16:rowId xmlns:a16="http://schemas.microsoft.com/office/drawing/2014/main" val="909986897"/>
                  </a:ext>
                </a:extLst>
              </a:tr>
              <a:tr h="148366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Objectives</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a:latin typeface="Arial Narrow" panose="020B0606020202030204" pitchFamily="34" charset="0"/>
                        </a:rPr>
                        <a:t>Secure (encrypt) data transmitted over untrusted networks (Wi-Fi, 5G, Bluetooth).</a:t>
                      </a:r>
                    </a:p>
                    <a:p>
                      <a:pPr marL="0" indent="0">
                        <a:buFont typeface="Wingdings" panose="05000000000000000000" pitchFamily="2" charset="2"/>
                        <a:buNone/>
                      </a:pPr>
                      <a:endParaRPr lang="en-US" sz="1200">
                        <a:latin typeface="Arial Narrow" panose="020B0606020202030204" pitchFamily="34" charset="0"/>
                      </a:endParaRPr>
                    </a:p>
                  </a:txBody>
                  <a:tcPr/>
                </a:tc>
                <a:extLst>
                  <a:ext uri="{0D108BD9-81ED-4DB2-BD59-A6C34878D82A}">
                    <a16:rowId xmlns:a16="http://schemas.microsoft.com/office/drawing/2014/main" val="2926055594"/>
                  </a:ext>
                </a:extLst>
              </a:tr>
              <a:tr h="2331466">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Application</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0" i="0">
                          <a:latin typeface="Arial Narrow" panose="020B0606020202030204" pitchFamily="34" charset="0"/>
                        </a:rPr>
                        <a:t>The IVI and the OTA server (or user's phone) use Asymmetric Cryptography (slow) to securely negotiate a temporary session key. They then use Symmetric Cryptography (e.g., AES, which is fast) with that session key to encrypt/decrypt the entire data stream.</a:t>
                      </a:r>
                    </a:p>
                  </a:txBody>
                  <a:tcPr/>
                </a:tc>
                <a:extLst>
                  <a:ext uri="{0D108BD9-81ED-4DB2-BD59-A6C34878D82A}">
                    <a16:rowId xmlns:a16="http://schemas.microsoft.com/office/drawing/2014/main" val="3373850918"/>
                  </a:ext>
                </a:extLst>
              </a:tr>
            </a:tbl>
          </a:graphicData>
        </a:graphic>
      </p:graphicFrame>
    </p:spTree>
    <p:extLst>
      <p:ext uri="{BB962C8B-B14F-4D97-AF65-F5344CB8AC3E}">
        <p14:creationId xmlns:p14="http://schemas.microsoft.com/office/powerpoint/2010/main" val="1432060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517D42E1-C8CA-4ED9-87FA-B9B0F2525C07}"/>
              </a:ext>
            </a:extLst>
          </p:cNvPr>
          <p:cNvSpPr>
            <a:spLocks noGrp="1"/>
          </p:cNvSpPr>
          <p:nvPr>
            <p:ph type="body" sz="quarter" idx="11"/>
          </p:nvPr>
        </p:nvSpPr>
        <p:spPr/>
        <p:txBody>
          <a:bodyPr/>
          <a:lstStyle/>
          <a:p>
            <a:r>
              <a:rPr lang="en-US"/>
              <a:t>XII. Practical Applications</a:t>
            </a:r>
          </a:p>
          <a:p>
            <a:endParaRPr lang="en-US"/>
          </a:p>
        </p:txBody>
      </p:sp>
      <p:sp>
        <p:nvSpPr>
          <p:cNvPr id="5" name="Text Placeholder 15">
            <a:extLst>
              <a:ext uri="{FF2B5EF4-FFF2-40B4-BE49-F238E27FC236}">
                <a16:creationId xmlns:a16="http://schemas.microsoft.com/office/drawing/2014/main" id="{2C66EAB8-05C2-4143-8E22-A5F828DF3696}"/>
              </a:ext>
            </a:extLst>
          </p:cNvPr>
          <p:cNvSpPr txBox="1">
            <a:spLocks/>
          </p:cNvSpPr>
          <p:nvPr/>
        </p:nvSpPr>
        <p:spPr>
          <a:xfrm>
            <a:off x="156978" y="937625"/>
            <a:ext cx="4775201" cy="279622"/>
          </a:xfrm>
          <a:prstGeom prst="rect">
            <a:avLst/>
          </a:prstGeom>
        </p:spPr>
        <p:txBody>
          <a:bodyPr/>
          <a:lstStyle>
            <a:lvl1pPr marL="288000" indent="-288000" algn="l" defTabSz="914400" rtl="0" eaLnBrk="1" latinLnBrk="0" hangingPunct="1">
              <a:lnSpc>
                <a:spcPct val="90000"/>
              </a:lnSpc>
              <a:spcBef>
                <a:spcPts val="1000"/>
              </a:spcBef>
              <a:buFont typeface="Wingdings" panose="05000000000000000000" pitchFamily="2" charset="2"/>
              <a:buChar char="Ø"/>
              <a:defRPr sz="1600" kern="1200">
                <a:solidFill>
                  <a:schemeClr val="tx1"/>
                </a:solidFill>
                <a:latin typeface="Arial Narrow" panose="020B0606020202030204" pitchFamily="34" charset="0"/>
                <a:ea typeface="LG스마트체 SemiBold" panose="020B0600000101010101" pitchFamily="50" charset="-127"/>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3. In Vehicle Communication</a:t>
            </a:r>
          </a:p>
          <a:p>
            <a:pPr>
              <a:buFont typeface="Arial" panose="020B0604020202020204" pitchFamily="34" charset="0"/>
              <a:buChar char="•"/>
            </a:pPr>
            <a:endParaRPr lang="en-US" sz="1400"/>
          </a:p>
        </p:txBody>
      </p:sp>
      <p:graphicFrame>
        <p:nvGraphicFramePr>
          <p:cNvPr id="6" name="Table 5">
            <a:extLst>
              <a:ext uri="{FF2B5EF4-FFF2-40B4-BE49-F238E27FC236}">
                <a16:creationId xmlns:a16="http://schemas.microsoft.com/office/drawing/2014/main" id="{F0F34FF8-3C7A-44BC-9266-E829C4E2ECCA}"/>
              </a:ext>
            </a:extLst>
          </p:cNvPr>
          <p:cNvGraphicFramePr>
            <a:graphicFrameLocks noGrp="1"/>
          </p:cNvGraphicFramePr>
          <p:nvPr>
            <p:extLst>
              <p:ext uri="{D42A27DB-BD31-4B8C-83A1-F6EECF244321}">
                <p14:modId xmlns:p14="http://schemas.microsoft.com/office/powerpoint/2010/main" val="1753607931"/>
              </p:ext>
            </p:extLst>
          </p:nvPr>
        </p:nvGraphicFramePr>
        <p:xfrm>
          <a:off x="1398933" y="1448246"/>
          <a:ext cx="7108134" cy="4521632"/>
        </p:xfrm>
        <a:graphic>
          <a:graphicData uri="http://schemas.openxmlformats.org/drawingml/2006/table">
            <a:tbl>
              <a:tblPr firstRow="1" bandRow="1">
                <a:tableStyleId>{5940675A-B579-460E-94D1-54222C63F5DA}</a:tableStyleId>
              </a:tblPr>
              <a:tblGrid>
                <a:gridCol w="1021925">
                  <a:extLst>
                    <a:ext uri="{9D8B030D-6E8A-4147-A177-3AD203B41FA5}">
                      <a16:colId xmlns:a16="http://schemas.microsoft.com/office/drawing/2014/main" val="1719412402"/>
                    </a:ext>
                  </a:extLst>
                </a:gridCol>
                <a:gridCol w="6086209">
                  <a:extLst>
                    <a:ext uri="{9D8B030D-6E8A-4147-A177-3AD203B41FA5}">
                      <a16:colId xmlns:a16="http://schemas.microsoft.com/office/drawing/2014/main" val="790174250"/>
                    </a:ext>
                  </a:extLst>
                </a:gridCol>
              </a:tblGrid>
              <a:tr h="706505">
                <a:tc>
                  <a:txBody>
                    <a:bodyPr/>
                    <a:lstStyle/>
                    <a:p>
                      <a:pPr algn="ctr"/>
                      <a:endParaRPr lang="en-US" sz="1400" b="1">
                        <a:latin typeface="Arial Narrow" panose="020B0606020202030204" pitchFamily="34" charset="0"/>
                      </a:endParaRPr>
                    </a:p>
                  </a:txBody>
                  <a:tcPr>
                    <a:solidFill>
                      <a:schemeClr val="bg1"/>
                    </a:solidFill>
                  </a:tcPr>
                </a:tc>
                <a:tc>
                  <a:txBody>
                    <a:bodyPr/>
                    <a:lstStyle/>
                    <a:p>
                      <a:pPr algn="ctr"/>
                      <a:r>
                        <a:rPr lang="en-US" sz="1400" b="1">
                          <a:latin typeface="Arial Narrow" panose="020B0606020202030204" pitchFamily="34" charset="0"/>
                        </a:rPr>
                        <a:t>MAC (Message Authentication Code)</a:t>
                      </a:r>
                    </a:p>
                  </a:txBody>
                  <a:tcPr>
                    <a:solidFill>
                      <a:schemeClr val="bg1">
                        <a:lumMod val="85000"/>
                      </a:schemeClr>
                    </a:solidFill>
                  </a:tcPr>
                </a:tc>
                <a:extLst>
                  <a:ext uri="{0D108BD9-81ED-4DB2-BD59-A6C34878D82A}">
                    <a16:rowId xmlns:a16="http://schemas.microsoft.com/office/drawing/2014/main" val="909986897"/>
                  </a:ext>
                </a:extLst>
              </a:tr>
              <a:tr h="148366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Objectives</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a:latin typeface="Arial Narrow" panose="020B0606020202030204" pitchFamily="34" charset="0"/>
                        </a:rPr>
                        <a:t>: Ensure the integrity and authenticity of critical messages on internal networks (e.g., CAN bus).</a:t>
                      </a:r>
                    </a:p>
                  </a:txBody>
                  <a:tcPr/>
                </a:tc>
                <a:extLst>
                  <a:ext uri="{0D108BD9-81ED-4DB2-BD59-A6C34878D82A}">
                    <a16:rowId xmlns:a16="http://schemas.microsoft.com/office/drawing/2014/main" val="2926055594"/>
                  </a:ext>
                </a:extLst>
              </a:tr>
              <a:tr h="2331466">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Application</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0" i="0">
                          <a:latin typeface="Arial Narrow" panose="020B0606020202030204" pitchFamily="34" charset="0"/>
                        </a:rPr>
                        <a:t>Used in protocols like SecOC (Secure On-Board Communication), which is based on MACs (typically CMAC). The IVI and a Central Gateway (CGW) share a secret key (symmetric) to sign and verify messages, preventing CAN spoofing attacks.</a:t>
                      </a:r>
                    </a:p>
                  </a:txBody>
                  <a:tcPr/>
                </a:tc>
                <a:extLst>
                  <a:ext uri="{0D108BD9-81ED-4DB2-BD59-A6C34878D82A}">
                    <a16:rowId xmlns:a16="http://schemas.microsoft.com/office/drawing/2014/main" val="3373850918"/>
                  </a:ext>
                </a:extLst>
              </a:tr>
            </a:tbl>
          </a:graphicData>
        </a:graphic>
      </p:graphicFrame>
    </p:spTree>
    <p:extLst>
      <p:ext uri="{BB962C8B-B14F-4D97-AF65-F5344CB8AC3E}">
        <p14:creationId xmlns:p14="http://schemas.microsoft.com/office/powerpoint/2010/main" val="4258633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517D42E1-C8CA-4ED9-87FA-B9B0F2525C07}"/>
              </a:ext>
            </a:extLst>
          </p:cNvPr>
          <p:cNvSpPr>
            <a:spLocks noGrp="1"/>
          </p:cNvSpPr>
          <p:nvPr>
            <p:ph type="body" sz="quarter" idx="11"/>
          </p:nvPr>
        </p:nvSpPr>
        <p:spPr/>
        <p:txBody>
          <a:bodyPr/>
          <a:lstStyle/>
          <a:p>
            <a:r>
              <a:rPr lang="en-US"/>
              <a:t>XII. Practical Applications</a:t>
            </a:r>
          </a:p>
          <a:p>
            <a:endParaRPr lang="en-US"/>
          </a:p>
        </p:txBody>
      </p:sp>
      <p:sp>
        <p:nvSpPr>
          <p:cNvPr id="5" name="Text Placeholder 15">
            <a:extLst>
              <a:ext uri="{FF2B5EF4-FFF2-40B4-BE49-F238E27FC236}">
                <a16:creationId xmlns:a16="http://schemas.microsoft.com/office/drawing/2014/main" id="{97F78ED1-ED12-4B5D-8477-1C54FF3414C2}"/>
              </a:ext>
            </a:extLst>
          </p:cNvPr>
          <p:cNvSpPr txBox="1">
            <a:spLocks/>
          </p:cNvSpPr>
          <p:nvPr/>
        </p:nvSpPr>
        <p:spPr>
          <a:xfrm>
            <a:off x="156978" y="937625"/>
            <a:ext cx="4775201" cy="279622"/>
          </a:xfrm>
          <a:prstGeom prst="rect">
            <a:avLst/>
          </a:prstGeom>
        </p:spPr>
        <p:txBody>
          <a:bodyPr/>
          <a:lstStyle>
            <a:lvl1pPr marL="288000" indent="-288000" algn="l" defTabSz="914400" rtl="0" eaLnBrk="1" latinLnBrk="0" hangingPunct="1">
              <a:lnSpc>
                <a:spcPct val="90000"/>
              </a:lnSpc>
              <a:spcBef>
                <a:spcPts val="1000"/>
              </a:spcBef>
              <a:buFont typeface="Wingdings" panose="05000000000000000000" pitchFamily="2" charset="2"/>
              <a:buChar char="Ø"/>
              <a:defRPr sz="1600" kern="1200">
                <a:solidFill>
                  <a:schemeClr val="tx1"/>
                </a:solidFill>
                <a:latin typeface="Arial Narrow" panose="020B0606020202030204" pitchFamily="34" charset="0"/>
                <a:ea typeface="LG스마트체 SemiBold" panose="020B0600000101010101" pitchFamily="50" charset="-127"/>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4. Data at Rest protection</a:t>
            </a:r>
          </a:p>
          <a:p>
            <a:pPr>
              <a:buFont typeface="Arial" panose="020B0604020202020204" pitchFamily="34" charset="0"/>
              <a:buChar char="•"/>
            </a:pPr>
            <a:endParaRPr lang="en-US" sz="1400"/>
          </a:p>
        </p:txBody>
      </p:sp>
      <p:graphicFrame>
        <p:nvGraphicFramePr>
          <p:cNvPr id="6" name="Table 5">
            <a:extLst>
              <a:ext uri="{FF2B5EF4-FFF2-40B4-BE49-F238E27FC236}">
                <a16:creationId xmlns:a16="http://schemas.microsoft.com/office/drawing/2014/main" id="{6213936B-A419-47E1-9A57-0117576A2103}"/>
              </a:ext>
            </a:extLst>
          </p:cNvPr>
          <p:cNvGraphicFramePr>
            <a:graphicFrameLocks noGrp="1"/>
          </p:cNvGraphicFramePr>
          <p:nvPr>
            <p:extLst>
              <p:ext uri="{D42A27DB-BD31-4B8C-83A1-F6EECF244321}">
                <p14:modId xmlns:p14="http://schemas.microsoft.com/office/powerpoint/2010/main" val="4027024443"/>
              </p:ext>
            </p:extLst>
          </p:nvPr>
        </p:nvGraphicFramePr>
        <p:xfrm>
          <a:off x="1398933" y="1448246"/>
          <a:ext cx="7108134" cy="4521632"/>
        </p:xfrm>
        <a:graphic>
          <a:graphicData uri="http://schemas.openxmlformats.org/drawingml/2006/table">
            <a:tbl>
              <a:tblPr firstRow="1" bandRow="1">
                <a:tableStyleId>{5940675A-B579-460E-94D1-54222C63F5DA}</a:tableStyleId>
              </a:tblPr>
              <a:tblGrid>
                <a:gridCol w="1021925">
                  <a:extLst>
                    <a:ext uri="{9D8B030D-6E8A-4147-A177-3AD203B41FA5}">
                      <a16:colId xmlns:a16="http://schemas.microsoft.com/office/drawing/2014/main" val="1719412402"/>
                    </a:ext>
                  </a:extLst>
                </a:gridCol>
                <a:gridCol w="6086209">
                  <a:extLst>
                    <a:ext uri="{9D8B030D-6E8A-4147-A177-3AD203B41FA5}">
                      <a16:colId xmlns:a16="http://schemas.microsoft.com/office/drawing/2014/main" val="790174250"/>
                    </a:ext>
                  </a:extLst>
                </a:gridCol>
              </a:tblGrid>
              <a:tr h="706505">
                <a:tc>
                  <a:txBody>
                    <a:bodyPr/>
                    <a:lstStyle/>
                    <a:p>
                      <a:pPr algn="ctr"/>
                      <a:endParaRPr lang="en-US" sz="1400" b="1">
                        <a:latin typeface="Arial Narrow" panose="020B0606020202030204" pitchFamily="34" charset="0"/>
                      </a:endParaRPr>
                    </a:p>
                  </a:txBody>
                  <a:tcPr>
                    <a:solidFill>
                      <a:schemeClr val="bg1"/>
                    </a:solidFill>
                  </a:tcPr>
                </a:tc>
                <a:tc>
                  <a:txBody>
                    <a:bodyPr/>
                    <a:lstStyle/>
                    <a:p>
                      <a:pPr algn="ctr"/>
                      <a:r>
                        <a:rPr lang="en-US" sz="1400" b="1">
                          <a:latin typeface="Arial Narrow" panose="020B0606020202030204" pitchFamily="34" charset="0"/>
                        </a:rPr>
                        <a:t>Symmetric Key</a:t>
                      </a:r>
                    </a:p>
                  </a:txBody>
                  <a:tcPr>
                    <a:solidFill>
                      <a:schemeClr val="bg1">
                        <a:lumMod val="85000"/>
                      </a:schemeClr>
                    </a:solidFill>
                  </a:tcPr>
                </a:tc>
                <a:extLst>
                  <a:ext uri="{0D108BD9-81ED-4DB2-BD59-A6C34878D82A}">
                    <a16:rowId xmlns:a16="http://schemas.microsoft.com/office/drawing/2014/main" val="909986897"/>
                  </a:ext>
                </a:extLst>
              </a:tr>
              <a:tr h="148366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Objectives</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a:latin typeface="Arial Narrow" panose="020B0606020202030204" pitchFamily="34" charset="0"/>
                        </a:rPr>
                        <a:t>Protect user-private data (contacts, location history) stored on the IVI's flash memory.</a:t>
                      </a:r>
                    </a:p>
                  </a:txBody>
                  <a:tcPr/>
                </a:tc>
                <a:extLst>
                  <a:ext uri="{0D108BD9-81ED-4DB2-BD59-A6C34878D82A}">
                    <a16:rowId xmlns:a16="http://schemas.microsoft.com/office/drawing/2014/main" val="2926055594"/>
                  </a:ext>
                </a:extLst>
              </a:tr>
              <a:tr h="2331466">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Narrow" panose="020B0606020202030204" pitchFamily="34" charset="0"/>
                        </a:rPr>
                        <a:t>Application</a:t>
                      </a:r>
                    </a:p>
                  </a:txBody>
                  <a:tcPr>
                    <a:solidFill>
                      <a:schemeClr val="bg1">
                        <a:lumMod val="85000"/>
                      </a:schemeClr>
                    </a:solidFill>
                  </a:tcPr>
                </a:tc>
                <a:tc>
                  <a:txBody>
                    <a:bodyPr/>
                    <a:lstStyle/>
                    <a:p>
                      <a:pPr marL="171450" indent="-171450">
                        <a:buFont typeface="Wingdings" panose="05000000000000000000" pitchFamily="2" charset="2"/>
                        <a:buChar char="q"/>
                      </a:pPr>
                      <a:r>
                        <a:rPr lang="en-US" sz="1200" b="0" i="0">
                          <a:latin typeface="Arial Narrow" panose="020B0606020202030204" pitchFamily="34" charset="0"/>
                        </a:rPr>
                        <a:t>User data is encrypted using a symmetric key (e.g., AES). This key can be protected by or derived from the user's credentials or a hardware security module (HSM/TPM).</a:t>
                      </a:r>
                    </a:p>
                  </a:txBody>
                  <a:tcPr/>
                </a:tc>
                <a:extLst>
                  <a:ext uri="{0D108BD9-81ED-4DB2-BD59-A6C34878D82A}">
                    <a16:rowId xmlns:a16="http://schemas.microsoft.com/office/drawing/2014/main" val="3373850918"/>
                  </a:ext>
                </a:extLst>
              </a:tr>
            </a:tbl>
          </a:graphicData>
        </a:graphic>
      </p:graphicFrame>
    </p:spTree>
    <p:extLst>
      <p:ext uri="{BB962C8B-B14F-4D97-AF65-F5344CB8AC3E}">
        <p14:creationId xmlns:p14="http://schemas.microsoft.com/office/powerpoint/2010/main" val="1848628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F5AAAD3-7B34-44F3-81DB-897281BFCFBC}"/>
              </a:ext>
            </a:extLst>
          </p:cNvPr>
          <p:cNvSpPr>
            <a:spLocks noGrp="1"/>
          </p:cNvSpPr>
          <p:nvPr>
            <p:ph type="body" sz="quarter" idx="11"/>
          </p:nvPr>
        </p:nvSpPr>
        <p:spPr/>
        <p:txBody>
          <a:bodyPr/>
          <a:lstStyle/>
          <a:p>
            <a:r>
              <a:rPr lang="en-US"/>
              <a:t>XV. Application in LGEVH</a:t>
            </a:r>
          </a:p>
        </p:txBody>
      </p:sp>
      <p:sp>
        <p:nvSpPr>
          <p:cNvPr id="5" name="Text Placeholder 4">
            <a:extLst>
              <a:ext uri="{FF2B5EF4-FFF2-40B4-BE49-F238E27FC236}">
                <a16:creationId xmlns:a16="http://schemas.microsoft.com/office/drawing/2014/main" id="{03E74D61-554C-463D-B1B6-CDD1639632F3}"/>
              </a:ext>
            </a:extLst>
          </p:cNvPr>
          <p:cNvSpPr>
            <a:spLocks noGrp="1"/>
          </p:cNvSpPr>
          <p:nvPr>
            <p:ph type="body" sz="quarter" idx="12"/>
          </p:nvPr>
        </p:nvSpPr>
        <p:spPr>
          <a:xfrm>
            <a:off x="156978" y="840906"/>
            <a:ext cx="8529822" cy="292570"/>
          </a:xfrm>
        </p:spPr>
        <p:txBody>
          <a:bodyPr/>
          <a:lstStyle/>
          <a:p>
            <a:pPr>
              <a:buFont typeface="Arial" panose="020B0604020202020204" pitchFamily="34" charset="0"/>
              <a:buChar char="•"/>
            </a:pPr>
            <a:r>
              <a:rPr lang="en-US"/>
              <a:t>Key management in LGE use Asymmetric key with PKI system. </a:t>
            </a:r>
          </a:p>
          <a:p>
            <a:pPr marL="0" indent="0">
              <a:buNone/>
            </a:pPr>
            <a:endParaRPr lang="en-US"/>
          </a:p>
        </p:txBody>
      </p:sp>
    </p:spTree>
    <p:extLst>
      <p:ext uri="{BB962C8B-B14F-4D97-AF65-F5344CB8AC3E}">
        <p14:creationId xmlns:p14="http://schemas.microsoft.com/office/powerpoint/2010/main" val="3088701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F604-E49A-4EB4-A746-730668828388}"/>
              </a:ext>
            </a:extLst>
          </p:cNvPr>
          <p:cNvSpPr>
            <a:spLocks noGrp="1"/>
          </p:cNvSpPr>
          <p:nvPr>
            <p:ph type="title"/>
          </p:nvPr>
        </p:nvSpPr>
        <p:spPr>
          <a:xfrm>
            <a:off x="681037" y="2766218"/>
            <a:ext cx="8543925" cy="1325563"/>
          </a:xfrm>
        </p:spPr>
        <p:txBody>
          <a:bodyPr/>
          <a:lstStyle/>
          <a:p>
            <a:r>
              <a:rPr lang="en-US"/>
              <a:t>- Thank you -</a:t>
            </a:r>
          </a:p>
        </p:txBody>
      </p:sp>
    </p:spTree>
    <p:extLst>
      <p:ext uri="{BB962C8B-B14F-4D97-AF65-F5344CB8AC3E}">
        <p14:creationId xmlns:p14="http://schemas.microsoft.com/office/powerpoint/2010/main" val="1075707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474" t="4339" r="1252" b="3153"/>
          <a:stretch/>
        </p:blipFill>
        <p:spPr>
          <a:xfrm>
            <a:off x="1384202" y="1270450"/>
            <a:ext cx="7137596" cy="4317100"/>
          </a:xfrm>
          <a:prstGeom prst="rect">
            <a:avLst/>
          </a:prstGeom>
        </p:spPr>
      </p:pic>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I. Plaintext</a:t>
            </a:r>
          </a:p>
        </p:txBody>
      </p:sp>
      <p:sp>
        <p:nvSpPr>
          <p:cNvPr id="3" name="Action Button: Return 2">
            <a:hlinkClick r:id="rId3"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80219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II. Ciphertext</a:t>
            </a:r>
          </a:p>
        </p:txBody>
      </p:sp>
      <p:sp>
        <p:nvSpPr>
          <p:cNvPr id="3" name="Action Button: Return 2">
            <a:hlinkClick r:id="rId2"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3DDE197-B335-4A84-B336-2048D5F9E7AD}"/>
              </a:ext>
            </a:extLst>
          </p:cNvPr>
          <p:cNvPicPr>
            <a:picLocks noChangeAspect="1"/>
          </p:cNvPicPr>
          <p:nvPr/>
        </p:nvPicPr>
        <p:blipFill>
          <a:blip r:embed="rId3"/>
          <a:stretch>
            <a:fillRect/>
          </a:stretch>
        </p:blipFill>
        <p:spPr>
          <a:xfrm>
            <a:off x="1526325" y="1019031"/>
            <a:ext cx="6853349" cy="4819937"/>
          </a:xfrm>
          <a:prstGeom prst="rect">
            <a:avLst/>
          </a:prstGeom>
        </p:spPr>
      </p:pic>
    </p:spTree>
    <p:extLst>
      <p:ext uri="{BB962C8B-B14F-4D97-AF65-F5344CB8AC3E}">
        <p14:creationId xmlns:p14="http://schemas.microsoft.com/office/powerpoint/2010/main" val="36533297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IV. Symmetric Key</a:t>
            </a:r>
          </a:p>
        </p:txBody>
      </p:sp>
      <p:sp>
        <p:nvSpPr>
          <p:cNvPr id="3" name="Action Button: Return 2">
            <a:hlinkClick r:id="rId2"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A93E1B8-BE8D-43DD-8C3F-F665BC710D47}"/>
              </a:ext>
            </a:extLst>
          </p:cNvPr>
          <p:cNvPicPr>
            <a:picLocks noChangeAspect="1"/>
          </p:cNvPicPr>
          <p:nvPr/>
        </p:nvPicPr>
        <p:blipFill>
          <a:blip r:embed="rId3"/>
          <a:stretch>
            <a:fillRect/>
          </a:stretch>
        </p:blipFill>
        <p:spPr>
          <a:xfrm>
            <a:off x="156978" y="1380592"/>
            <a:ext cx="5879833" cy="4096816"/>
          </a:xfrm>
          <a:prstGeom prst="rect">
            <a:avLst/>
          </a:prstGeom>
        </p:spPr>
      </p:pic>
      <p:sp>
        <p:nvSpPr>
          <p:cNvPr id="5" name="TextBox 4">
            <a:extLst>
              <a:ext uri="{FF2B5EF4-FFF2-40B4-BE49-F238E27FC236}">
                <a16:creationId xmlns:a16="http://schemas.microsoft.com/office/drawing/2014/main" id="{87B490C1-4323-4129-A2AC-7E18BA2514D3}"/>
              </a:ext>
            </a:extLst>
          </p:cNvPr>
          <p:cNvSpPr txBox="1"/>
          <p:nvPr/>
        </p:nvSpPr>
        <p:spPr>
          <a:xfrm>
            <a:off x="6158225" y="2334844"/>
            <a:ext cx="3424322" cy="2308324"/>
          </a:xfrm>
          <a:prstGeom prst="rect">
            <a:avLst/>
          </a:prstGeom>
          <a:noFill/>
        </p:spPr>
        <p:txBody>
          <a:bodyPr wrap="square" rtlCol="0">
            <a:spAutoFit/>
          </a:bodyPr>
          <a:lstStyle/>
          <a:p>
            <a:r>
              <a:rPr lang="en-US" sz="1200">
                <a:latin typeface="Arial Narrow" panose="020B0606020202030204" pitchFamily="34" charset="0"/>
              </a:rPr>
              <a:t>1. Alvin has Plaintext, he use </a:t>
            </a:r>
            <a:r>
              <a:rPr lang="en-US" sz="1200" b="1">
                <a:latin typeface="Arial Narrow" panose="020B0606020202030204" pitchFamily="34" charset="0"/>
              </a:rPr>
              <a:t>Encryption Algorithm</a:t>
            </a:r>
            <a:r>
              <a:rPr lang="en-US" sz="1200">
                <a:latin typeface="Arial Narrow" panose="020B0606020202030204" pitchFamily="34" charset="0"/>
              </a:rPr>
              <a:t> + </a:t>
            </a:r>
            <a:r>
              <a:rPr lang="en-US" sz="1200" b="1">
                <a:latin typeface="Arial Narrow" panose="020B0606020202030204" pitchFamily="34" charset="0"/>
              </a:rPr>
              <a:t>Key</a:t>
            </a:r>
            <a:r>
              <a:rPr lang="en-US" sz="1200">
                <a:latin typeface="Arial Narrow" panose="020B0606020202030204" pitchFamily="34" charset="0"/>
              </a:rPr>
              <a:t> convert Plaintext </a:t>
            </a:r>
            <a:r>
              <a:rPr lang="en-US" sz="1200">
                <a:latin typeface="Arial Narrow" panose="020B0606020202030204" pitchFamily="34" charset="0"/>
                <a:sym typeface="Wingdings" panose="05000000000000000000" pitchFamily="2" charset="2"/>
              </a:rPr>
              <a:t> Ciphertext.</a:t>
            </a:r>
          </a:p>
          <a:p>
            <a:pPr marL="400050" indent="-400050">
              <a:buFont typeface="+mj-lt"/>
              <a:buAutoNum type="romanLcPeriod"/>
            </a:pPr>
            <a:endParaRPr lang="en-US" sz="1200">
              <a:latin typeface="Arial Narrow" panose="020B0606020202030204" pitchFamily="34" charset="0"/>
            </a:endParaRPr>
          </a:p>
          <a:p>
            <a:r>
              <a:rPr lang="en-US" sz="1200">
                <a:latin typeface="Arial Narrow" panose="020B0606020202030204" pitchFamily="34" charset="0"/>
              </a:rPr>
              <a:t>2. Alvin send Ciphertext over the communication chanel to Audrey.</a:t>
            </a:r>
          </a:p>
          <a:p>
            <a:pPr marL="400050" indent="-400050">
              <a:buFont typeface="+mj-lt"/>
              <a:buAutoNum type="romanLcPeriod"/>
            </a:pPr>
            <a:endParaRPr lang="en-US" sz="1200">
              <a:latin typeface="Arial Narrow" panose="020B0606020202030204" pitchFamily="34" charset="0"/>
            </a:endParaRPr>
          </a:p>
          <a:p>
            <a:r>
              <a:rPr lang="en-US" sz="1200">
                <a:latin typeface="Arial Narrow" panose="020B0606020202030204" pitchFamily="34" charset="0"/>
              </a:rPr>
              <a:t>3. Audrey receive Ciphertext, she use </a:t>
            </a:r>
            <a:r>
              <a:rPr lang="en-US" sz="1200" b="1">
                <a:latin typeface="Arial Narrow" panose="020B0606020202030204" pitchFamily="34" charset="0"/>
              </a:rPr>
              <a:t>Decryption Algorithm </a:t>
            </a:r>
            <a:r>
              <a:rPr lang="en-US" sz="1200">
                <a:latin typeface="Arial Narrow" panose="020B0606020202030204" pitchFamily="34" charset="0"/>
              </a:rPr>
              <a:t>+ </a:t>
            </a:r>
            <a:r>
              <a:rPr lang="en-US" sz="1200" b="1">
                <a:latin typeface="Arial Narrow" panose="020B0606020202030204" pitchFamily="34" charset="0"/>
              </a:rPr>
              <a:t>Key </a:t>
            </a:r>
            <a:r>
              <a:rPr lang="en-US" sz="1200">
                <a:latin typeface="Arial Narrow" panose="020B0606020202030204" pitchFamily="34" charset="0"/>
              </a:rPr>
              <a:t>convert Ciphertext </a:t>
            </a:r>
            <a:r>
              <a:rPr lang="en-US" sz="1200">
                <a:latin typeface="Arial Narrow" panose="020B0606020202030204" pitchFamily="34" charset="0"/>
                <a:sym typeface="Wingdings" panose="05000000000000000000" pitchFamily="2" charset="2"/>
              </a:rPr>
              <a:t> Plaintext.</a:t>
            </a:r>
          </a:p>
          <a:p>
            <a:pPr marL="400050" indent="-400050">
              <a:buFont typeface="+mj-lt"/>
              <a:buAutoNum type="romanLcPeriod"/>
            </a:pPr>
            <a:endParaRPr lang="en-US" sz="1200">
              <a:latin typeface="Arial Narrow" panose="020B0606020202030204" pitchFamily="34" charset="0"/>
              <a:sym typeface="Wingdings" panose="05000000000000000000" pitchFamily="2" charset="2"/>
            </a:endParaRPr>
          </a:p>
          <a:p>
            <a:r>
              <a:rPr lang="en-US" sz="1200">
                <a:latin typeface="Arial Narrow" panose="020B0606020202030204" pitchFamily="34" charset="0"/>
                <a:sym typeface="Wingdings" panose="05000000000000000000" pitchFamily="2" charset="2"/>
              </a:rPr>
              <a:t>4. Eve can steal data on the communication channel but doesn’t have the </a:t>
            </a:r>
            <a:r>
              <a:rPr lang="en-US" sz="1200" b="1">
                <a:latin typeface="Arial Narrow" panose="020B0606020202030204" pitchFamily="34" charset="0"/>
                <a:sym typeface="Wingdings" panose="05000000000000000000" pitchFamily="2" charset="2"/>
              </a:rPr>
              <a:t>Key</a:t>
            </a:r>
            <a:r>
              <a:rPr lang="en-US" sz="1200">
                <a:latin typeface="Arial Narrow" panose="020B0606020202030204" pitchFamily="34" charset="0"/>
                <a:sym typeface="Wingdings" panose="05000000000000000000" pitchFamily="2" charset="2"/>
              </a:rPr>
              <a:t> to convert ciphertext -&gt; plaintext  she cannot understand the message Alvin sent to Audrey.</a:t>
            </a:r>
            <a:endParaRPr lang="en-US" sz="1200">
              <a:latin typeface="Arial Narrow" panose="020B0606020202030204" pitchFamily="34" charset="0"/>
            </a:endParaRPr>
          </a:p>
        </p:txBody>
      </p:sp>
    </p:spTree>
    <p:extLst>
      <p:ext uri="{BB962C8B-B14F-4D97-AF65-F5344CB8AC3E}">
        <p14:creationId xmlns:p14="http://schemas.microsoft.com/office/powerpoint/2010/main" val="1581916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V. MAC </a:t>
            </a:r>
          </a:p>
        </p:txBody>
      </p:sp>
      <p:sp>
        <p:nvSpPr>
          <p:cNvPr id="3" name="Action Button: Return 2">
            <a:hlinkClick r:id="rId2"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69B1706D-E86E-4B52-8315-C4A47EB2F756}"/>
              </a:ext>
            </a:extLst>
          </p:cNvPr>
          <p:cNvGrpSpPr/>
          <p:nvPr/>
        </p:nvGrpSpPr>
        <p:grpSpPr>
          <a:xfrm>
            <a:off x="3362521" y="781050"/>
            <a:ext cx="3180958" cy="5619750"/>
            <a:chOff x="1283092" y="1779056"/>
            <a:chExt cx="2251275" cy="4540061"/>
          </a:xfrm>
        </p:grpSpPr>
        <p:pic>
          <p:nvPicPr>
            <p:cNvPr id="7" name="Picture 6">
              <a:extLst>
                <a:ext uri="{FF2B5EF4-FFF2-40B4-BE49-F238E27FC236}">
                  <a16:creationId xmlns:a16="http://schemas.microsoft.com/office/drawing/2014/main" id="{C377311B-4858-48D1-B092-ABAEDBB5E413}"/>
                </a:ext>
              </a:extLst>
            </p:cNvPr>
            <p:cNvPicPr>
              <a:picLocks noChangeAspect="1"/>
            </p:cNvPicPr>
            <p:nvPr/>
          </p:nvPicPr>
          <p:blipFill>
            <a:blip r:embed="rId3"/>
            <a:stretch>
              <a:fillRect/>
            </a:stretch>
          </p:blipFill>
          <p:spPr>
            <a:xfrm>
              <a:off x="1283092" y="1779056"/>
              <a:ext cx="2143014" cy="1282710"/>
            </a:xfrm>
            <a:prstGeom prst="rect">
              <a:avLst/>
            </a:prstGeom>
          </p:spPr>
        </p:pic>
        <p:pic>
          <p:nvPicPr>
            <p:cNvPr id="8" name="Picture 7">
              <a:extLst>
                <a:ext uri="{FF2B5EF4-FFF2-40B4-BE49-F238E27FC236}">
                  <a16:creationId xmlns:a16="http://schemas.microsoft.com/office/drawing/2014/main" id="{3596272C-A50B-4CFC-8E0B-E43DD5523D17}"/>
                </a:ext>
              </a:extLst>
            </p:cNvPr>
            <p:cNvPicPr>
              <a:picLocks noChangeAspect="1"/>
            </p:cNvPicPr>
            <p:nvPr/>
          </p:nvPicPr>
          <p:blipFill>
            <a:blip r:embed="rId4"/>
            <a:stretch>
              <a:fillRect/>
            </a:stretch>
          </p:blipFill>
          <p:spPr>
            <a:xfrm>
              <a:off x="1283092" y="3266348"/>
              <a:ext cx="2104349" cy="1454712"/>
            </a:xfrm>
            <a:prstGeom prst="rect">
              <a:avLst/>
            </a:prstGeom>
          </p:spPr>
        </p:pic>
        <p:grpSp>
          <p:nvGrpSpPr>
            <p:cNvPr id="9" name="Group 8">
              <a:extLst>
                <a:ext uri="{FF2B5EF4-FFF2-40B4-BE49-F238E27FC236}">
                  <a16:creationId xmlns:a16="http://schemas.microsoft.com/office/drawing/2014/main" id="{F1E55526-CE0B-440D-B619-8D32CFDF8B47}"/>
                </a:ext>
              </a:extLst>
            </p:cNvPr>
            <p:cNvGrpSpPr/>
            <p:nvPr/>
          </p:nvGrpSpPr>
          <p:grpSpPr>
            <a:xfrm>
              <a:off x="1283092" y="4925643"/>
              <a:ext cx="2251275" cy="1393474"/>
              <a:chOff x="1215825" y="3258653"/>
              <a:chExt cx="2251275" cy="1393474"/>
            </a:xfrm>
          </p:grpSpPr>
          <p:pic>
            <p:nvPicPr>
              <p:cNvPr id="10" name="Picture 9">
                <a:extLst>
                  <a:ext uri="{FF2B5EF4-FFF2-40B4-BE49-F238E27FC236}">
                    <a16:creationId xmlns:a16="http://schemas.microsoft.com/office/drawing/2014/main" id="{8FEEECB3-B15B-4FC6-B18E-433EFD376446}"/>
                  </a:ext>
                </a:extLst>
              </p:cNvPr>
              <p:cNvPicPr>
                <a:picLocks noChangeAspect="1"/>
              </p:cNvPicPr>
              <p:nvPr/>
            </p:nvPicPr>
            <p:blipFill rotWithShape="1">
              <a:blip r:embed="rId5"/>
              <a:srcRect r="1843" b="30367"/>
              <a:stretch/>
            </p:blipFill>
            <p:spPr>
              <a:xfrm>
                <a:off x="1283092" y="3258653"/>
                <a:ext cx="2184008" cy="1025811"/>
              </a:xfrm>
              <a:prstGeom prst="rect">
                <a:avLst/>
              </a:prstGeom>
            </p:spPr>
          </p:pic>
          <p:pic>
            <p:nvPicPr>
              <p:cNvPr id="11" name="Picture 10">
                <a:extLst>
                  <a:ext uri="{FF2B5EF4-FFF2-40B4-BE49-F238E27FC236}">
                    <a16:creationId xmlns:a16="http://schemas.microsoft.com/office/drawing/2014/main" id="{8697C337-157F-444F-B2AD-49A099D4FAD1}"/>
                  </a:ext>
                </a:extLst>
              </p:cNvPr>
              <p:cNvPicPr>
                <a:picLocks noChangeAspect="1"/>
              </p:cNvPicPr>
              <p:nvPr/>
            </p:nvPicPr>
            <p:blipFill>
              <a:blip r:embed="rId6"/>
              <a:stretch>
                <a:fillRect/>
              </a:stretch>
            </p:blipFill>
            <p:spPr>
              <a:xfrm>
                <a:off x="2621246" y="4292897"/>
                <a:ext cx="733023" cy="359230"/>
              </a:xfrm>
              <a:prstGeom prst="rect">
                <a:avLst/>
              </a:prstGeom>
            </p:spPr>
          </p:pic>
          <p:pic>
            <p:nvPicPr>
              <p:cNvPr id="12" name="Picture 11">
                <a:extLst>
                  <a:ext uri="{FF2B5EF4-FFF2-40B4-BE49-F238E27FC236}">
                    <a16:creationId xmlns:a16="http://schemas.microsoft.com/office/drawing/2014/main" id="{EC8797A5-6883-44A1-8529-B32B6D2CE34B}"/>
                  </a:ext>
                </a:extLst>
              </p:cNvPr>
              <p:cNvPicPr>
                <a:picLocks noChangeAspect="1"/>
              </p:cNvPicPr>
              <p:nvPr/>
            </p:nvPicPr>
            <p:blipFill>
              <a:blip r:embed="rId6"/>
              <a:stretch>
                <a:fillRect/>
              </a:stretch>
            </p:blipFill>
            <p:spPr>
              <a:xfrm>
                <a:off x="1215825" y="4292897"/>
                <a:ext cx="733023" cy="359230"/>
              </a:xfrm>
              <a:prstGeom prst="rect">
                <a:avLst/>
              </a:prstGeom>
            </p:spPr>
          </p:pic>
        </p:grpSp>
      </p:grpSp>
    </p:spTree>
    <p:extLst>
      <p:ext uri="{BB962C8B-B14F-4D97-AF65-F5344CB8AC3E}">
        <p14:creationId xmlns:p14="http://schemas.microsoft.com/office/powerpoint/2010/main" val="29540919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VII. Asymmetric Key</a:t>
            </a:r>
          </a:p>
        </p:txBody>
      </p:sp>
      <p:sp>
        <p:nvSpPr>
          <p:cNvPr id="3" name="Action Button: Return 2">
            <a:hlinkClick r:id="rId2"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CEB3DC6-CBB3-48F7-849F-6990FA0566C4}"/>
              </a:ext>
            </a:extLst>
          </p:cNvPr>
          <p:cNvPicPr>
            <a:picLocks noChangeAspect="1"/>
          </p:cNvPicPr>
          <p:nvPr/>
        </p:nvPicPr>
        <p:blipFill>
          <a:blip r:embed="rId3"/>
          <a:stretch>
            <a:fillRect/>
          </a:stretch>
        </p:blipFill>
        <p:spPr>
          <a:xfrm>
            <a:off x="156978" y="1400175"/>
            <a:ext cx="6254051" cy="4057650"/>
          </a:xfrm>
          <a:prstGeom prst="rect">
            <a:avLst/>
          </a:prstGeom>
        </p:spPr>
      </p:pic>
      <p:sp>
        <p:nvSpPr>
          <p:cNvPr id="5" name="TextBox 4">
            <a:extLst>
              <a:ext uri="{FF2B5EF4-FFF2-40B4-BE49-F238E27FC236}">
                <a16:creationId xmlns:a16="http://schemas.microsoft.com/office/drawing/2014/main" id="{D9C9C69A-7826-4569-9D42-0BD825AD516D}"/>
              </a:ext>
            </a:extLst>
          </p:cNvPr>
          <p:cNvSpPr txBox="1"/>
          <p:nvPr/>
        </p:nvSpPr>
        <p:spPr>
          <a:xfrm>
            <a:off x="6411029" y="1400175"/>
            <a:ext cx="3318056" cy="4708981"/>
          </a:xfrm>
          <a:prstGeom prst="rect">
            <a:avLst/>
          </a:prstGeom>
          <a:noFill/>
        </p:spPr>
        <p:txBody>
          <a:bodyPr wrap="square" rtlCol="0">
            <a:spAutoFit/>
          </a:bodyPr>
          <a:lstStyle/>
          <a:p>
            <a:r>
              <a:rPr lang="en-US" sz="1200" b="1">
                <a:latin typeface="Arial Narrow" panose="020B0606020202030204" pitchFamily="34" charset="0"/>
              </a:rPr>
              <a:t>1.Generate Key pair</a:t>
            </a:r>
          </a:p>
          <a:p>
            <a:pPr marL="342900" indent="-342900">
              <a:buFont typeface="Arial" panose="020B0604020202020204" pitchFamily="34" charset="0"/>
              <a:buChar char="•"/>
            </a:pPr>
            <a:r>
              <a:rPr lang="en-US" sz="1200">
                <a:latin typeface="Arial Narrow" panose="020B0606020202030204" pitchFamily="34" charset="0"/>
              </a:rPr>
              <a:t>Audrey (Receiver) generates a </a:t>
            </a:r>
            <a:r>
              <a:rPr lang="en-US" sz="1200" b="1">
                <a:latin typeface="Arial Narrow" panose="020B0606020202030204" pitchFamily="34" charset="0"/>
              </a:rPr>
              <a:t>Key pair </a:t>
            </a:r>
            <a:r>
              <a:rPr lang="en-US" sz="1200">
                <a:latin typeface="Arial Narrow" panose="020B0606020202030204" pitchFamily="34" charset="0"/>
              </a:rPr>
              <a:t>that are mathematically linked together.</a:t>
            </a:r>
          </a:p>
          <a:p>
            <a:pPr marL="342900" indent="-342900">
              <a:buFont typeface="Arial" panose="020B0604020202020204" pitchFamily="34" charset="0"/>
              <a:buChar char="•"/>
            </a:pPr>
            <a:r>
              <a:rPr lang="en-US" sz="1200">
                <a:latin typeface="Arial Narrow" panose="020B0606020202030204" pitchFamily="34" charset="0"/>
              </a:rPr>
              <a:t>This key pair includes: </a:t>
            </a:r>
          </a:p>
          <a:p>
            <a:pPr marL="285750" indent="-285750">
              <a:buFontTx/>
              <a:buChar char="-"/>
            </a:pPr>
            <a:r>
              <a:rPr lang="en-US" sz="1200" b="1">
                <a:latin typeface="Arial Narrow" panose="020B0606020202030204" pitchFamily="34" charset="0"/>
              </a:rPr>
              <a:t>Public Key</a:t>
            </a:r>
            <a:r>
              <a:rPr lang="en-US" sz="1200">
                <a:latin typeface="Arial Narrow" panose="020B0606020202030204" pitchFamily="34" charset="0"/>
              </a:rPr>
              <a:t>: Designed to be shared publicly. </a:t>
            </a:r>
          </a:p>
          <a:p>
            <a:pPr marL="285750" indent="-285750">
              <a:buFontTx/>
              <a:buChar char="-"/>
            </a:pPr>
            <a:r>
              <a:rPr lang="en-US" sz="1200" b="1">
                <a:latin typeface="Arial Narrow" panose="020B0606020202030204" pitchFamily="34" charset="0"/>
              </a:rPr>
              <a:t>Private Key</a:t>
            </a:r>
            <a:r>
              <a:rPr lang="en-US" sz="1200">
                <a:latin typeface="Arial Narrow" panose="020B0606020202030204" pitchFamily="34" charset="0"/>
              </a:rPr>
              <a:t>: Must be kept absolutely secret.</a:t>
            </a:r>
            <a:endParaRPr lang="en-US" sz="1200" b="1">
              <a:latin typeface="Arial Narrow" panose="020B0606020202030204" pitchFamily="34" charset="0"/>
            </a:endParaRPr>
          </a:p>
          <a:p>
            <a:r>
              <a:rPr lang="en-US" sz="1200" b="1">
                <a:latin typeface="Arial Narrow" panose="020B0606020202030204" pitchFamily="34" charset="0"/>
              </a:rPr>
              <a:t>2. Key Distribution</a:t>
            </a:r>
          </a:p>
          <a:p>
            <a:pPr marL="285750" indent="-285750">
              <a:buFont typeface="Arial" panose="020B0604020202020204" pitchFamily="34" charset="0"/>
              <a:buChar char="•"/>
            </a:pPr>
            <a:r>
              <a:rPr lang="en-US" sz="1200">
                <a:latin typeface="Arial Narrow" panose="020B0606020202030204" pitchFamily="34" charset="0"/>
              </a:rPr>
              <a:t>Audrey sends her </a:t>
            </a:r>
            <a:r>
              <a:rPr lang="en-US" sz="1200" b="1">
                <a:latin typeface="Arial Narrow" panose="020B0606020202030204" pitchFamily="34" charset="0"/>
              </a:rPr>
              <a:t>Public Key </a:t>
            </a:r>
            <a:r>
              <a:rPr lang="en-US" sz="1200">
                <a:latin typeface="Arial Narrow" panose="020B0606020202030204" pitchFamily="34" charset="0"/>
              </a:rPr>
              <a:t>to anyone who wants to contact her (Alvin).</a:t>
            </a:r>
          </a:p>
          <a:p>
            <a:pPr marL="285750" indent="-285750">
              <a:buFont typeface="Arial" panose="020B0604020202020204" pitchFamily="34" charset="0"/>
              <a:buChar char="•"/>
            </a:pPr>
            <a:r>
              <a:rPr lang="en-US" sz="1200">
                <a:latin typeface="Arial Narrow" panose="020B0606020202030204" pitchFamily="34" charset="0"/>
              </a:rPr>
              <a:t>The eavesdropper (Eve) can also easily get this </a:t>
            </a:r>
            <a:r>
              <a:rPr lang="en-US" sz="1200" b="1">
                <a:latin typeface="Arial Narrow" panose="020B0606020202030204" pitchFamily="34" charset="0"/>
              </a:rPr>
              <a:t>Public Key</a:t>
            </a:r>
            <a:r>
              <a:rPr lang="en-US" sz="1200">
                <a:latin typeface="Arial Narrow" panose="020B0606020202030204" pitchFamily="34" charset="0"/>
              </a:rPr>
              <a:t>. This is acceptable and by design.</a:t>
            </a:r>
          </a:p>
          <a:p>
            <a:r>
              <a:rPr lang="en-US" sz="1200" b="1">
                <a:latin typeface="Arial Narrow" panose="020B0606020202030204" pitchFamily="34" charset="0"/>
              </a:rPr>
              <a:t>3. Encryption</a:t>
            </a:r>
          </a:p>
          <a:p>
            <a:pPr marL="285750" indent="-285750">
              <a:buFont typeface="Arial" panose="020B0604020202020204" pitchFamily="34" charset="0"/>
              <a:buChar char="•"/>
            </a:pPr>
            <a:r>
              <a:rPr lang="en-US" sz="1200">
                <a:latin typeface="Arial Narrow" panose="020B0606020202030204" pitchFamily="34" charset="0"/>
              </a:rPr>
              <a:t>Alvin (Sender) has Plaintext.</a:t>
            </a:r>
          </a:p>
          <a:p>
            <a:pPr marL="285750" indent="-285750">
              <a:buFont typeface="Arial" panose="020B0604020202020204" pitchFamily="34" charset="0"/>
              <a:buChar char="•"/>
            </a:pPr>
            <a:r>
              <a:rPr lang="en-US" sz="1200">
                <a:latin typeface="Arial Narrow" panose="020B0606020202030204" pitchFamily="34" charset="0"/>
              </a:rPr>
              <a:t>He uses Audrey's </a:t>
            </a:r>
            <a:r>
              <a:rPr lang="en-US" sz="1200" b="1">
                <a:latin typeface="Arial Narrow" panose="020B0606020202030204" pitchFamily="34" charset="0"/>
              </a:rPr>
              <a:t>Public Key </a:t>
            </a:r>
            <a:r>
              <a:rPr lang="en-US" sz="1200">
                <a:latin typeface="Arial Narrow" panose="020B0606020202030204" pitchFamily="34" charset="0"/>
              </a:rPr>
              <a:t>to Encrypt the Plaintext -&gt; Cipertext.</a:t>
            </a:r>
          </a:p>
          <a:p>
            <a:pPr marL="285750" indent="-285750">
              <a:buFont typeface="Arial" panose="020B0604020202020204" pitchFamily="34" charset="0"/>
              <a:buChar char="•"/>
            </a:pPr>
            <a:r>
              <a:rPr lang="en-US" sz="1200">
                <a:latin typeface="Arial Narrow" panose="020B0606020202030204" pitchFamily="34" charset="0"/>
              </a:rPr>
              <a:t>Alvin sent Ciphertext message to Audrey.</a:t>
            </a:r>
          </a:p>
          <a:p>
            <a:r>
              <a:rPr lang="en-US" sz="1200" b="1">
                <a:latin typeface="Arial Narrow" panose="020B0606020202030204" pitchFamily="34" charset="0"/>
              </a:rPr>
              <a:t>4. Decryption</a:t>
            </a:r>
          </a:p>
          <a:p>
            <a:pPr marL="285750" indent="-285750">
              <a:buFont typeface="Arial" panose="020B0604020202020204" pitchFamily="34" charset="0"/>
              <a:buChar char="•"/>
            </a:pPr>
            <a:r>
              <a:rPr lang="en-US" sz="1200">
                <a:latin typeface="Arial Narrow" panose="020B0606020202030204" pitchFamily="34" charset="0"/>
              </a:rPr>
              <a:t>The Ciphertext is sent over the network (Eve can intercept it).</a:t>
            </a:r>
          </a:p>
          <a:p>
            <a:pPr marL="285750" indent="-285750">
              <a:buFont typeface="Arial" panose="020B0604020202020204" pitchFamily="34" charset="0"/>
              <a:buChar char="•"/>
            </a:pPr>
            <a:r>
              <a:rPr lang="en-US" sz="1200">
                <a:latin typeface="Arial Narrow" panose="020B0606020202030204" pitchFamily="34" charset="0"/>
              </a:rPr>
              <a:t>Audrey receives the Ciphertext and uses her </a:t>
            </a:r>
            <a:r>
              <a:rPr lang="en-US" sz="1200" b="1">
                <a:latin typeface="Arial Narrow" panose="020B0606020202030204" pitchFamily="34" charset="0"/>
              </a:rPr>
              <a:t>Private Key</a:t>
            </a:r>
            <a:r>
              <a:rPr lang="en-US" sz="1200">
                <a:latin typeface="Arial Narrow" panose="020B0606020202030204" pitchFamily="34" charset="0"/>
              </a:rPr>
              <a:t> to Decrypt it.</a:t>
            </a:r>
          </a:p>
          <a:p>
            <a:pPr marL="285750" indent="-285750">
              <a:buFont typeface="Arial" panose="020B0604020202020204" pitchFamily="34" charset="0"/>
              <a:buChar char="•"/>
            </a:pPr>
            <a:r>
              <a:rPr lang="en-US" sz="1200">
                <a:latin typeface="Arial Narrow" panose="020B0606020202030204" pitchFamily="34" charset="0"/>
              </a:rPr>
              <a:t>The result is the recovery of the original Plaintext.</a:t>
            </a:r>
          </a:p>
          <a:p>
            <a:pPr marL="285750" indent="-285750">
              <a:buFont typeface="Arial" panose="020B0604020202020204" pitchFamily="34" charset="0"/>
              <a:buChar char="•"/>
            </a:pPr>
            <a:endParaRPr lang="en-US" sz="1200">
              <a:latin typeface="Arial Narrow" panose="020B0606020202030204" pitchFamily="34" charset="0"/>
            </a:endParaRPr>
          </a:p>
          <a:p>
            <a:r>
              <a:rPr lang="en-US" sz="1200">
                <a:latin typeface="Arial Narrow" panose="020B0606020202030204" pitchFamily="34" charset="0"/>
                <a:sym typeface="Wingdings" panose="05000000000000000000" pitchFamily="2" charset="2"/>
              </a:rPr>
              <a:t></a:t>
            </a:r>
            <a:r>
              <a:rPr lang="en-US" sz="1200" b="1">
                <a:latin typeface="Arial Narrow" panose="020B0606020202030204" pitchFamily="34" charset="0"/>
                <a:sym typeface="Wingdings" panose="05000000000000000000" pitchFamily="2" charset="2"/>
              </a:rPr>
              <a:t> Solving the Key Exchange Problem</a:t>
            </a:r>
            <a:endParaRPr lang="en-US" sz="1200" b="1">
              <a:latin typeface="Arial Narrow" panose="020B0606020202030204" pitchFamily="34" charset="0"/>
            </a:endParaRPr>
          </a:p>
          <a:p>
            <a:endParaRPr lang="en-US" sz="1200">
              <a:latin typeface="Arial Narrow" panose="020B0606020202030204" pitchFamily="34" charset="0"/>
            </a:endParaRPr>
          </a:p>
        </p:txBody>
      </p:sp>
    </p:spTree>
    <p:extLst>
      <p:ext uri="{BB962C8B-B14F-4D97-AF65-F5344CB8AC3E}">
        <p14:creationId xmlns:p14="http://schemas.microsoft.com/office/powerpoint/2010/main" val="4545148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IX. Digital Signature</a:t>
            </a:r>
          </a:p>
        </p:txBody>
      </p:sp>
      <p:sp>
        <p:nvSpPr>
          <p:cNvPr id="3" name="Action Button: Return 2">
            <a:hlinkClick r:id="rId2"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3CA5FDF-64D4-4963-B58F-0C051A072214}"/>
              </a:ext>
            </a:extLst>
          </p:cNvPr>
          <p:cNvPicPr>
            <a:picLocks noChangeAspect="1"/>
          </p:cNvPicPr>
          <p:nvPr/>
        </p:nvPicPr>
        <p:blipFill>
          <a:blip r:embed="rId3"/>
          <a:stretch>
            <a:fillRect/>
          </a:stretch>
        </p:blipFill>
        <p:spPr>
          <a:xfrm>
            <a:off x="306977" y="1370226"/>
            <a:ext cx="4967758" cy="4117548"/>
          </a:xfrm>
          <a:prstGeom prst="rect">
            <a:avLst/>
          </a:prstGeom>
        </p:spPr>
      </p:pic>
      <p:sp>
        <p:nvSpPr>
          <p:cNvPr id="7" name="TextBox 6">
            <a:extLst>
              <a:ext uri="{FF2B5EF4-FFF2-40B4-BE49-F238E27FC236}">
                <a16:creationId xmlns:a16="http://schemas.microsoft.com/office/drawing/2014/main" id="{ED3B5B7F-30D8-4251-9E73-5A1F4FD665DC}"/>
              </a:ext>
            </a:extLst>
          </p:cNvPr>
          <p:cNvSpPr txBox="1"/>
          <p:nvPr/>
        </p:nvSpPr>
        <p:spPr>
          <a:xfrm>
            <a:off x="5461275" y="1012954"/>
            <a:ext cx="4245431" cy="4832092"/>
          </a:xfrm>
          <a:prstGeom prst="rect">
            <a:avLst/>
          </a:prstGeom>
          <a:noFill/>
        </p:spPr>
        <p:txBody>
          <a:bodyPr wrap="square" rtlCol="0">
            <a:spAutoFit/>
          </a:bodyPr>
          <a:lstStyle/>
          <a:p>
            <a:r>
              <a:rPr lang="en-US" sz="1400" b="1">
                <a:latin typeface="Arial Narrow" panose="020B0606020202030204" pitchFamily="34" charset="0"/>
              </a:rPr>
              <a:t>1. Generate Key pair</a:t>
            </a:r>
          </a:p>
          <a:p>
            <a:pPr marL="342900" indent="-342900">
              <a:buFont typeface="Arial" panose="020B0604020202020204" pitchFamily="34" charset="0"/>
              <a:buChar char="•"/>
            </a:pPr>
            <a:r>
              <a:rPr lang="en-US" sz="1400">
                <a:latin typeface="Arial Narrow" panose="020B0606020202030204" pitchFamily="34" charset="0"/>
              </a:rPr>
              <a:t>Alvin generates </a:t>
            </a:r>
            <a:r>
              <a:rPr lang="en-US" sz="1400" b="1">
                <a:latin typeface="Arial Narrow" panose="020B0606020202030204" pitchFamily="34" charset="0"/>
              </a:rPr>
              <a:t>Key pair.</a:t>
            </a:r>
          </a:p>
          <a:p>
            <a:pPr marL="342900" indent="-342900">
              <a:buFont typeface="Arial" panose="020B0604020202020204" pitchFamily="34" charset="0"/>
              <a:buChar char="•"/>
            </a:pPr>
            <a:r>
              <a:rPr lang="en-US" sz="1400">
                <a:latin typeface="Arial Narrow" panose="020B0606020202030204" pitchFamily="34" charset="0"/>
              </a:rPr>
              <a:t>Alvin sends his </a:t>
            </a:r>
            <a:r>
              <a:rPr lang="en-US" sz="1400" b="1">
                <a:latin typeface="Arial Narrow" panose="020B0606020202030204" pitchFamily="34" charset="0"/>
              </a:rPr>
              <a:t>Public Key </a:t>
            </a:r>
            <a:r>
              <a:rPr lang="en-US" sz="1400">
                <a:latin typeface="Arial Narrow" panose="020B0606020202030204" pitchFamily="34" charset="0"/>
              </a:rPr>
              <a:t>to Audrey (and anyone else).</a:t>
            </a:r>
          </a:p>
          <a:p>
            <a:pPr marL="342900" indent="-342900">
              <a:buFont typeface="Arial" panose="020B0604020202020204" pitchFamily="34" charset="0"/>
              <a:buChar char="•"/>
            </a:pPr>
            <a:endParaRPr lang="en-US" sz="1400">
              <a:latin typeface="Arial Narrow" panose="020B0606020202030204" pitchFamily="34" charset="0"/>
            </a:endParaRPr>
          </a:p>
          <a:p>
            <a:r>
              <a:rPr lang="en-US" sz="1400" b="1">
                <a:latin typeface="Arial Narrow" panose="020B0606020202030204" pitchFamily="34" charset="0"/>
              </a:rPr>
              <a:t>2. Signing Process</a:t>
            </a:r>
            <a:r>
              <a:rPr lang="en-US" sz="1400">
                <a:latin typeface="Arial Narrow" panose="020B0606020202030204" pitchFamily="34" charset="0"/>
              </a:rPr>
              <a:t> (Done by Alvin)</a:t>
            </a:r>
          </a:p>
          <a:p>
            <a:pPr marL="285750" indent="-285750">
              <a:buFont typeface="Arial" panose="020B0604020202020204" pitchFamily="34" charset="0"/>
              <a:buChar char="•"/>
            </a:pPr>
            <a:r>
              <a:rPr lang="en-US" sz="1400">
                <a:latin typeface="Arial Narrow" panose="020B0606020202030204" pitchFamily="34" charset="0"/>
              </a:rPr>
              <a:t>Alvin has original message ("I miss Audrey").</a:t>
            </a:r>
          </a:p>
          <a:p>
            <a:pPr marL="285750" indent="-285750">
              <a:buFont typeface="Arial" panose="020B0604020202020204" pitchFamily="34" charset="0"/>
              <a:buChar char="•"/>
            </a:pPr>
            <a:r>
              <a:rPr lang="en-US" sz="1400">
                <a:latin typeface="Arial Narrow" panose="020B0606020202030204" pitchFamily="34" charset="0"/>
              </a:rPr>
              <a:t>He uses his </a:t>
            </a:r>
            <a:r>
              <a:rPr lang="en-US" sz="1400" b="1">
                <a:latin typeface="Arial Narrow" panose="020B0606020202030204" pitchFamily="34" charset="0"/>
              </a:rPr>
              <a:t>Private Key </a:t>
            </a:r>
            <a:r>
              <a:rPr lang="en-US" sz="1400">
                <a:latin typeface="Arial Narrow" panose="020B0606020202030204" pitchFamily="34" charset="0"/>
              </a:rPr>
              <a:t>and a "</a:t>
            </a:r>
            <a:r>
              <a:rPr lang="en-US" sz="1400" b="1">
                <a:latin typeface="Arial Narrow" panose="020B0606020202030204" pitchFamily="34" charset="0"/>
              </a:rPr>
              <a:t>Signature Algorithm</a:t>
            </a:r>
            <a:r>
              <a:rPr lang="en-US" sz="1400">
                <a:latin typeface="Arial Narrow" panose="020B0606020202030204" pitchFamily="34" charset="0"/>
              </a:rPr>
              <a:t>" to create a Digital signature (the shield icon).</a:t>
            </a:r>
          </a:p>
          <a:p>
            <a:pPr marL="285750" indent="-285750">
              <a:buFont typeface="Arial" panose="020B0604020202020204" pitchFamily="34" charset="0"/>
              <a:buChar char="•"/>
            </a:pPr>
            <a:r>
              <a:rPr lang="en-US" sz="1400">
                <a:latin typeface="Arial Narrow" panose="020B0606020202030204" pitchFamily="34" charset="0"/>
              </a:rPr>
              <a:t>Alvin sends the original message (plaintext) &amp; Digital signature to Audrey.</a:t>
            </a:r>
          </a:p>
          <a:p>
            <a:pPr marL="285750" indent="-285750">
              <a:buFont typeface="Arial" panose="020B0604020202020204" pitchFamily="34" charset="0"/>
              <a:buChar char="•"/>
            </a:pPr>
            <a:endParaRPr lang="en-US" sz="1400">
              <a:latin typeface="Arial Narrow" panose="020B0606020202030204" pitchFamily="34" charset="0"/>
            </a:endParaRPr>
          </a:p>
          <a:p>
            <a:r>
              <a:rPr lang="en-US" sz="1400" b="1">
                <a:latin typeface="Arial Narrow" panose="020B0606020202030204" pitchFamily="34" charset="0"/>
              </a:rPr>
              <a:t>3. Verification Process </a:t>
            </a:r>
            <a:r>
              <a:rPr lang="en-US" sz="1400">
                <a:latin typeface="Arial Narrow" panose="020B0606020202030204" pitchFamily="34" charset="0"/>
              </a:rPr>
              <a:t>(Done by Audrey)</a:t>
            </a:r>
          </a:p>
          <a:p>
            <a:pPr marL="285750" indent="-285750">
              <a:buFont typeface="Arial" panose="020B0604020202020204" pitchFamily="34" charset="0"/>
              <a:buChar char="•"/>
            </a:pPr>
            <a:r>
              <a:rPr lang="en-US" sz="1400">
                <a:latin typeface="Arial Narrow" panose="020B0606020202030204" pitchFamily="34" charset="0"/>
              </a:rPr>
              <a:t>Audrey receives the Message and the Digital signature.</a:t>
            </a:r>
          </a:p>
          <a:p>
            <a:pPr marL="285750" indent="-285750">
              <a:buFont typeface="Arial" panose="020B0604020202020204" pitchFamily="34" charset="0"/>
              <a:buChar char="•"/>
            </a:pPr>
            <a:r>
              <a:rPr lang="en-US" sz="1400">
                <a:latin typeface="Arial Narrow" panose="020B0606020202030204" pitchFamily="34" charset="0"/>
              </a:rPr>
              <a:t>She uses Alvin's </a:t>
            </a:r>
            <a:r>
              <a:rPr lang="en-US" sz="1400" b="1">
                <a:latin typeface="Arial Narrow" panose="020B0606020202030204" pitchFamily="34" charset="0"/>
              </a:rPr>
              <a:t>Public Key</a:t>
            </a:r>
            <a:r>
              <a:rPr lang="en-US" sz="1400">
                <a:latin typeface="Arial Narrow" panose="020B0606020202030204" pitchFamily="34" charset="0"/>
              </a:rPr>
              <a:t> and runs the "Signature Algorithm" in verification mode.</a:t>
            </a:r>
          </a:p>
          <a:p>
            <a:pPr marL="285750" indent="-285750">
              <a:buFont typeface="Arial" panose="020B0604020202020204" pitchFamily="34" charset="0"/>
              <a:buChar char="•"/>
            </a:pPr>
            <a:r>
              <a:rPr lang="en-US" sz="1400">
                <a:latin typeface="Arial Narrow" panose="020B0606020202030204" pitchFamily="34" charset="0"/>
              </a:rPr>
              <a:t>This algorithm checks whether the signature matches the message.</a:t>
            </a:r>
          </a:p>
          <a:p>
            <a:pPr marL="285750" indent="-285750">
              <a:buFont typeface="Arial" panose="020B0604020202020204" pitchFamily="34" charset="0"/>
              <a:buChar char="•"/>
            </a:pPr>
            <a:r>
              <a:rPr lang="en-US" sz="1400">
                <a:latin typeface="Arial Narrow" panose="020B0606020202030204" pitchFamily="34" charset="0"/>
              </a:rPr>
              <a:t>If it matches: Audrey can trust that the message came from Alvin and that the content has not been altered.</a:t>
            </a:r>
          </a:p>
          <a:p>
            <a:pPr marL="285750" indent="-285750">
              <a:buFont typeface="Arial" panose="020B0604020202020204" pitchFamily="34" charset="0"/>
              <a:buChar char="•"/>
            </a:pPr>
            <a:r>
              <a:rPr lang="en-US" sz="1400">
                <a:latin typeface="Arial Narrow" panose="020B0606020202030204" pitchFamily="34" charset="0"/>
              </a:rPr>
              <a:t>If Eve (the attacker) tries to alter the message in transit, the signature will no longer be valid -&gt; Audrey's verification will fail.</a:t>
            </a:r>
          </a:p>
        </p:txBody>
      </p:sp>
    </p:spTree>
    <p:extLst>
      <p:ext uri="{BB962C8B-B14F-4D97-AF65-F5344CB8AC3E}">
        <p14:creationId xmlns:p14="http://schemas.microsoft.com/office/powerpoint/2010/main" val="29262427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X. Public Key Owner Problem</a:t>
            </a:r>
          </a:p>
        </p:txBody>
      </p:sp>
      <p:sp>
        <p:nvSpPr>
          <p:cNvPr id="3" name="Action Button: Return 2">
            <a:hlinkClick r:id="rId2"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DA4ED0D-5583-4FEE-9E35-E77FD952D5FA}"/>
              </a:ext>
            </a:extLst>
          </p:cNvPr>
          <p:cNvPicPr>
            <a:picLocks noChangeAspect="1"/>
          </p:cNvPicPr>
          <p:nvPr/>
        </p:nvPicPr>
        <p:blipFill>
          <a:blip r:embed="rId3"/>
          <a:stretch>
            <a:fillRect/>
          </a:stretch>
        </p:blipFill>
        <p:spPr>
          <a:xfrm>
            <a:off x="0" y="2122319"/>
            <a:ext cx="5030463" cy="2613362"/>
          </a:xfrm>
          <a:prstGeom prst="rect">
            <a:avLst/>
          </a:prstGeom>
        </p:spPr>
      </p:pic>
      <p:sp>
        <p:nvSpPr>
          <p:cNvPr id="9" name="TextBox 8">
            <a:extLst>
              <a:ext uri="{FF2B5EF4-FFF2-40B4-BE49-F238E27FC236}">
                <a16:creationId xmlns:a16="http://schemas.microsoft.com/office/drawing/2014/main" id="{6D5479EF-3F93-4B4C-AD8D-DB92873AEF9E}"/>
              </a:ext>
            </a:extLst>
          </p:cNvPr>
          <p:cNvSpPr txBox="1"/>
          <p:nvPr/>
        </p:nvSpPr>
        <p:spPr>
          <a:xfrm>
            <a:off x="5030463" y="1224602"/>
            <a:ext cx="4888523" cy="4708981"/>
          </a:xfrm>
          <a:prstGeom prst="rect">
            <a:avLst/>
          </a:prstGeom>
          <a:noFill/>
        </p:spPr>
        <p:txBody>
          <a:bodyPr wrap="square" rtlCol="0">
            <a:spAutoFit/>
          </a:bodyPr>
          <a:lstStyle/>
          <a:p>
            <a:r>
              <a:rPr lang="en-US" sz="1200" b="1">
                <a:latin typeface="Arial Narrow" panose="020B0606020202030204" pitchFamily="34" charset="0"/>
              </a:rPr>
              <a:t>1. Phase 1: Key Exchange </a:t>
            </a:r>
          </a:p>
          <a:p>
            <a:pPr marL="342900" indent="-342900">
              <a:buFont typeface="Arial" panose="020B0604020202020204" pitchFamily="34" charset="0"/>
              <a:buChar char="•"/>
            </a:pPr>
            <a:r>
              <a:rPr lang="en-US" sz="1200">
                <a:latin typeface="Arial Narrow" panose="020B0606020202030204" pitchFamily="34" charset="0"/>
              </a:rPr>
              <a:t>Alvin requests Audrey's Public Key.</a:t>
            </a:r>
          </a:p>
          <a:p>
            <a:pPr marL="342900" indent="-342900">
              <a:buFont typeface="Arial" panose="020B0604020202020204" pitchFamily="34" charset="0"/>
              <a:buChar char="•"/>
            </a:pPr>
            <a:r>
              <a:rPr lang="en-US" sz="1200">
                <a:latin typeface="Arial Narrow" panose="020B0606020202030204" pitchFamily="34" charset="0"/>
              </a:rPr>
              <a:t>Eve (scissors icon) intercepts the connection.</a:t>
            </a:r>
          </a:p>
          <a:p>
            <a:pPr marL="342900" indent="-342900">
              <a:buFont typeface="Arial" panose="020B0604020202020204" pitchFamily="34" charset="0"/>
              <a:buChar char="•"/>
            </a:pPr>
            <a:r>
              <a:rPr lang="en-US" sz="1200">
                <a:latin typeface="Arial Narrow" panose="020B0606020202030204" pitchFamily="34" charset="0"/>
              </a:rPr>
              <a:t>Eve sends HER Public Key to Alvin, but pretends it is Audrey's.</a:t>
            </a:r>
          </a:p>
          <a:p>
            <a:pPr marL="342900" indent="-342900">
              <a:buFont typeface="Arial" panose="020B0604020202020204" pitchFamily="34" charset="0"/>
              <a:buChar char="•"/>
            </a:pPr>
            <a:r>
              <a:rPr lang="en-US" sz="1200">
                <a:latin typeface="Arial Narrow" panose="020B0606020202030204" pitchFamily="34" charset="0"/>
              </a:rPr>
              <a:t>At the same time, Eve gets Audrey's real Public Key.</a:t>
            </a:r>
          </a:p>
          <a:p>
            <a:pPr marL="285750" indent="-285750">
              <a:buFont typeface="Wingdings" panose="05000000000000000000" pitchFamily="2" charset="2"/>
              <a:buChar char="à"/>
            </a:pPr>
            <a:r>
              <a:rPr lang="en-US" sz="1200" b="1">
                <a:latin typeface="Arial Narrow" panose="020B0606020202030204" pitchFamily="34" charset="0"/>
              </a:rPr>
              <a:t>Result</a:t>
            </a:r>
            <a:r>
              <a:rPr lang="en-US" sz="1200">
                <a:latin typeface="Arial Narrow" panose="020B0606020202030204" pitchFamily="34" charset="0"/>
              </a:rPr>
              <a:t>: Alvin now holds Eve's key (thought it was Audrey's). Eve now holds Audrey's key.</a:t>
            </a:r>
          </a:p>
          <a:p>
            <a:endParaRPr lang="en-US" sz="1200">
              <a:latin typeface="Arial Narrow" panose="020B0606020202030204" pitchFamily="34" charset="0"/>
            </a:endParaRPr>
          </a:p>
          <a:p>
            <a:r>
              <a:rPr lang="en-US" sz="1200" b="1">
                <a:latin typeface="Arial Narrow" panose="020B0606020202030204" pitchFamily="34" charset="0"/>
              </a:rPr>
              <a:t>2. Phase 2: Attack</a:t>
            </a:r>
          </a:p>
          <a:p>
            <a:pPr marL="285750" indent="-285750">
              <a:buFont typeface="Arial" panose="020B0604020202020204" pitchFamily="34" charset="0"/>
              <a:buChar char="•"/>
            </a:pPr>
            <a:r>
              <a:rPr lang="en-US" sz="1200">
                <a:latin typeface="Arial Narrow" panose="020B0606020202030204" pitchFamily="34" charset="0"/>
              </a:rPr>
              <a:t>Alvin -&gt; Eve: Alvin writes "I miss Audrey". He uses the public key (which he thought was Audrey's) to encrypt. Since this is actually Eve's key, the ciphertext (&amp;$*DHHDJIIA~) is sent.</a:t>
            </a:r>
          </a:p>
          <a:p>
            <a:pPr marL="285750" indent="-285750">
              <a:buFont typeface="Arial" panose="020B0604020202020204" pitchFamily="34" charset="0"/>
              <a:buChar char="•"/>
            </a:pPr>
            <a:r>
              <a:rPr lang="en-US" sz="1200">
                <a:latin typeface="Arial Narrow" panose="020B0606020202030204" pitchFamily="34" charset="0"/>
              </a:rPr>
              <a:t>Eve (Decryption): Eve intercepts the ciphertext. She uses her Private Key to decrypt -&gt; Eve reads the message "I miss Audrey". (Confidentiality is broken).</a:t>
            </a:r>
          </a:p>
          <a:p>
            <a:pPr marL="285750" indent="-285750">
              <a:buFont typeface="Arial" panose="020B0604020202020204" pitchFamily="34" charset="0"/>
              <a:buChar char="•"/>
            </a:pPr>
            <a:r>
              <a:rPr lang="en-US" sz="1200">
                <a:latin typeface="Arial Narrow" panose="020B0606020202030204" pitchFamily="34" charset="0"/>
              </a:rPr>
              <a:t>Eve (Re-encryption): Eve changes the content to "I miss Eve". Then, she uses Audrey's real Public Key (which she has) to re-encrypt this message.</a:t>
            </a:r>
          </a:p>
          <a:p>
            <a:pPr marL="285750" indent="-285750">
              <a:buFont typeface="Arial" panose="020B0604020202020204" pitchFamily="34" charset="0"/>
              <a:buChar char="•"/>
            </a:pPr>
            <a:r>
              <a:rPr lang="en-US" sz="1200">
                <a:latin typeface="Arial Narrow" panose="020B0606020202030204" pitchFamily="34" charset="0"/>
              </a:rPr>
              <a:t>Eve -&gt; Audrey: Eve sends the new ciphertext (++_)DFkkfd$$) to Audrey.</a:t>
            </a:r>
          </a:p>
          <a:p>
            <a:pPr marL="285750" indent="-285750">
              <a:buFont typeface="Arial" panose="020B0604020202020204" pitchFamily="34" charset="0"/>
              <a:buChar char="•"/>
            </a:pPr>
            <a:r>
              <a:rPr lang="en-US" sz="1200">
                <a:latin typeface="Arial Narrow" panose="020B0606020202030204" pitchFamily="34" charset="0"/>
              </a:rPr>
              <a:t>Audrey (Decryption): Audrey receives the ciphertext and uses her real Private Key to decrypt it. She receives the message "I miss Eve" and believes it came from Alvin. (Integrity and Authentication are broken).</a:t>
            </a:r>
          </a:p>
          <a:p>
            <a:pPr marL="285750" indent="-285750">
              <a:buFont typeface="Arial" panose="020B0604020202020204" pitchFamily="34" charset="0"/>
              <a:buChar char="•"/>
            </a:pPr>
            <a:endParaRPr lang="en-US" sz="1200">
              <a:latin typeface="Arial Narrow" panose="020B0606020202030204" pitchFamily="34" charset="0"/>
            </a:endParaRPr>
          </a:p>
          <a:p>
            <a:r>
              <a:rPr lang="en-US" sz="1200">
                <a:latin typeface="Arial Narrow" panose="020B0606020202030204" pitchFamily="34" charset="0"/>
                <a:sym typeface="Wingdings" panose="05000000000000000000" pitchFamily="2" charset="2"/>
              </a:rPr>
              <a:t> Conclusion: A "Public Key" is simply a string of data. It contains no information to prove who it belongs to. Alvin has no way to verify that the key he receives actually belongs to Audrey.</a:t>
            </a:r>
            <a:endParaRPr lang="en-US" sz="1200">
              <a:latin typeface="Arial Narrow" panose="020B0606020202030204" pitchFamily="34" charset="0"/>
            </a:endParaRPr>
          </a:p>
          <a:p>
            <a:endParaRPr lang="en-US" sz="1200">
              <a:latin typeface="Arial Narrow" panose="020B0606020202030204" pitchFamily="34" charset="0"/>
            </a:endParaRPr>
          </a:p>
        </p:txBody>
      </p:sp>
    </p:spTree>
    <p:extLst>
      <p:ext uri="{BB962C8B-B14F-4D97-AF65-F5344CB8AC3E}">
        <p14:creationId xmlns:p14="http://schemas.microsoft.com/office/powerpoint/2010/main" val="17094451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88BFB5-B883-47AF-A449-FEA3B68BDEA2}"/>
              </a:ext>
            </a:extLst>
          </p:cNvPr>
          <p:cNvSpPr>
            <a:spLocks noGrp="1"/>
          </p:cNvSpPr>
          <p:nvPr>
            <p:ph type="body" sz="quarter" idx="11"/>
          </p:nvPr>
        </p:nvSpPr>
        <p:spPr/>
        <p:txBody>
          <a:bodyPr/>
          <a:lstStyle/>
          <a:p>
            <a:r>
              <a:rPr lang="en-US"/>
              <a:t>XI. PKI</a:t>
            </a:r>
          </a:p>
        </p:txBody>
      </p:sp>
      <p:sp>
        <p:nvSpPr>
          <p:cNvPr id="3" name="Action Button: Return 2">
            <a:hlinkClick r:id="rId2" action="ppaction://hlinksldjump" highlightClick="1"/>
            <a:extLst>
              <a:ext uri="{FF2B5EF4-FFF2-40B4-BE49-F238E27FC236}">
                <a16:creationId xmlns:a16="http://schemas.microsoft.com/office/drawing/2014/main" id="{7681F757-1847-4003-86B2-9B650109A43F}"/>
              </a:ext>
            </a:extLst>
          </p:cNvPr>
          <p:cNvSpPr/>
          <p:nvPr/>
        </p:nvSpPr>
        <p:spPr>
          <a:xfrm>
            <a:off x="8851998" y="6521450"/>
            <a:ext cx="311150" cy="336550"/>
          </a:xfrm>
          <a:prstGeom prst="actionButtonRetur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F8075BF-3399-481B-AFAA-6B9E9718C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978" y="1589514"/>
            <a:ext cx="5026412" cy="3678971"/>
          </a:xfrm>
          <a:prstGeom prst="rect">
            <a:avLst/>
          </a:prstGeom>
        </p:spPr>
      </p:pic>
      <p:sp>
        <p:nvSpPr>
          <p:cNvPr id="7" name="TextBox 6">
            <a:extLst>
              <a:ext uri="{FF2B5EF4-FFF2-40B4-BE49-F238E27FC236}">
                <a16:creationId xmlns:a16="http://schemas.microsoft.com/office/drawing/2014/main" id="{943615E1-C99B-4FC2-A122-3A4910C2F6C1}"/>
              </a:ext>
            </a:extLst>
          </p:cNvPr>
          <p:cNvSpPr txBox="1"/>
          <p:nvPr/>
        </p:nvSpPr>
        <p:spPr>
          <a:xfrm>
            <a:off x="5183390" y="1365769"/>
            <a:ext cx="4675718" cy="2492990"/>
          </a:xfrm>
          <a:prstGeom prst="rect">
            <a:avLst/>
          </a:prstGeom>
          <a:noFill/>
        </p:spPr>
        <p:txBody>
          <a:bodyPr wrap="square" rtlCol="0">
            <a:spAutoFit/>
          </a:bodyPr>
          <a:lstStyle/>
          <a:p>
            <a:endParaRPr lang="en-US" sz="1200" b="1">
              <a:latin typeface="Arial Narrow" panose="020B0606020202030204" pitchFamily="34" charset="0"/>
            </a:endParaRPr>
          </a:p>
          <a:p>
            <a:r>
              <a:rPr lang="en-US" sz="1200">
                <a:latin typeface="Arial Narrow" panose="020B0606020202030204" pitchFamily="34" charset="0"/>
              </a:rPr>
              <a:t>1. When Alvin wants to communicate, Audrey sends him her Certificate (instead of just sending the bare Public Key).</a:t>
            </a:r>
          </a:p>
          <a:p>
            <a:pPr marL="228600" indent="-228600">
              <a:buAutoNum type="arabicPeriod"/>
            </a:pPr>
            <a:endParaRPr lang="en-US" sz="1200">
              <a:latin typeface="Arial Narrow" panose="020B0606020202030204" pitchFamily="34" charset="0"/>
            </a:endParaRPr>
          </a:p>
          <a:p>
            <a:r>
              <a:rPr lang="en-US" sz="1200">
                <a:latin typeface="Arial Narrow" panose="020B0606020202030204" pitchFamily="34" charset="0"/>
              </a:rPr>
              <a:t>2. Alvin receives the Certificate. Alvin's system must have the CA's Public Key installed (called the Root Certificate and is trusted by default).</a:t>
            </a:r>
          </a:p>
          <a:p>
            <a:endParaRPr lang="en-US" sz="1200">
              <a:latin typeface="Arial Narrow" panose="020B0606020202030204" pitchFamily="34" charset="0"/>
            </a:endParaRPr>
          </a:p>
          <a:p>
            <a:r>
              <a:rPr lang="en-US" sz="1200">
                <a:latin typeface="Arial Narrow" panose="020B0606020202030204" pitchFamily="34" charset="0"/>
              </a:rPr>
              <a:t>3. Alvin uses the CA's Public Key to verify the signature on Audrey's Certificate.</a:t>
            </a:r>
          </a:p>
          <a:p>
            <a:endParaRPr lang="en-US" sz="1200">
              <a:latin typeface="Arial Narrow" panose="020B0606020202030204" pitchFamily="34" charset="0"/>
            </a:endParaRPr>
          </a:p>
          <a:p>
            <a:r>
              <a:rPr lang="en-US" sz="1200">
                <a:latin typeface="Arial Narrow" panose="020B0606020202030204" pitchFamily="34" charset="0"/>
              </a:rPr>
              <a:t>4. If the signature is valid, Alvin can be 100% confident that the Public Key inside the Certificate really belongs to Audrey. He has authenticated the owner, thereby stopping the attack.</a:t>
            </a:r>
          </a:p>
          <a:p>
            <a:endParaRPr lang="en-US" sz="1200" b="1">
              <a:latin typeface="Arial Narrow" panose="020B0606020202030204" pitchFamily="34" charset="0"/>
            </a:endParaRPr>
          </a:p>
        </p:txBody>
      </p:sp>
    </p:spTree>
    <p:extLst>
      <p:ext uri="{BB962C8B-B14F-4D97-AF65-F5344CB8AC3E}">
        <p14:creationId xmlns:p14="http://schemas.microsoft.com/office/powerpoint/2010/main" val="1148994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3831</TotalTime>
  <Words>2931</Words>
  <Application>Microsoft Office PowerPoint</Application>
  <PresentationFormat>A4 Paper (210x297 mm)</PresentationFormat>
  <Paragraphs>312</Paragraphs>
  <Slides>27</Slides>
  <Notes>3</Notes>
  <HiddenSlides>8</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LG스마트체 Bold</vt:lpstr>
      <vt:lpstr>LG스마트체 Regular</vt:lpstr>
      <vt:lpstr>LG스마트체 SemiBold</vt:lpstr>
      <vt:lpstr>LG스마트체2.0 Bold</vt:lpstr>
      <vt:lpstr>맑은 고딕</vt:lpstr>
      <vt:lpstr>Arial</vt:lpstr>
      <vt:lpstr>Arial Narrow</vt:lpstr>
      <vt:lpstr>Calibri</vt:lpstr>
      <vt:lpstr>Calibri Light</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DUC VIET BUI/LGEVH IVI LD Cyber Security Part</dc:creator>
  <cp:lastModifiedBy>DUC VIET BUI/LGEVH IVI LD Cyber Security Part</cp:lastModifiedBy>
  <cp:revision>197</cp:revision>
  <dcterms:created xsi:type="dcterms:W3CDTF">2025-10-23T01:38:49Z</dcterms:created>
  <dcterms:modified xsi:type="dcterms:W3CDTF">2025-11-15T08:15:44Z</dcterms:modified>
</cp:coreProperties>
</file>